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77" r:id="rId3"/>
    <p:sldId id="275" r:id="rId4"/>
    <p:sldId id="293" r:id="rId5"/>
    <p:sldId id="296" r:id="rId6"/>
    <p:sldId id="297" r:id="rId7"/>
    <p:sldId id="292" r:id="rId8"/>
    <p:sldId id="299" r:id="rId9"/>
    <p:sldId id="300" r:id="rId10"/>
    <p:sldId id="301" r:id="rId11"/>
    <p:sldId id="302" r:id="rId12"/>
    <p:sldId id="273" r:id="rId13"/>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3041"/>
    <a:srgbClr val="07425D"/>
    <a:srgbClr val="161E24"/>
    <a:srgbClr val="3FE7FB"/>
    <a:srgbClr val="8996FE"/>
    <a:srgbClr val="F833FE"/>
    <a:srgbClr val="10161A"/>
    <a:srgbClr val="131A1F"/>
    <a:srgbClr val="0B0D11"/>
    <a:srgbClr val="0D11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C89EF96-8CEA-46FF-86C4-4CE0E7609802}" styleName="Ljust format 3 - Dekorfärg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444" autoAdjust="0"/>
  </p:normalViewPr>
  <p:slideViewPr>
    <p:cSldViewPr snapToGrid="0">
      <p:cViewPr varScale="1">
        <p:scale>
          <a:sx n="115" d="100"/>
          <a:sy n="115" d="100"/>
        </p:scale>
        <p:origin x="2010" y="10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BE9729-3BF4-429A-9051-BF557729B2C9}" type="datetimeFigureOut">
              <a:rPr lang="en-SE" smtClean="0"/>
              <a:t>2026-04-20</a:t>
            </a:fld>
            <a:endParaRPr lang="en-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F15893-0DF5-4007-BFB5-41D74726C9CD}" type="slidenum">
              <a:rPr lang="en-SE" smtClean="0"/>
              <a:t>‹#›</a:t>
            </a:fld>
            <a:endParaRPr lang="en-SE"/>
          </a:p>
        </p:txBody>
      </p:sp>
    </p:spTree>
    <p:extLst>
      <p:ext uri="{BB962C8B-B14F-4D97-AF65-F5344CB8AC3E}">
        <p14:creationId xmlns:p14="http://schemas.microsoft.com/office/powerpoint/2010/main" val="4042555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4526B-5B16-5102-F266-491796998C5A}"/>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60326879-3DC9-E673-4A3F-F5B3FB76242B}"/>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22460A83-BAB9-21BA-EAA4-080FF66212D2}"/>
              </a:ext>
            </a:extLst>
          </p:cNvPr>
          <p:cNvSpPr>
            <a:spLocks noGrp="1"/>
          </p:cNvSpPr>
          <p:nvPr>
            <p:ph type="body" idx="1"/>
          </p:nvPr>
        </p:nvSpPr>
        <p:spPr/>
        <p:txBody>
          <a:bodyPr/>
          <a:lstStyle/>
          <a:p>
            <a:r>
              <a:rPr lang="sv-SE" dirty="0"/>
              <a:t>I den här videon ska vi ta nästa steg i förståelsen av neurala nätverk.</a:t>
            </a:r>
          </a:p>
          <a:p>
            <a:r>
              <a:rPr lang="sv-SE" dirty="0"/>
              <a:t>Nu vet vi vad ett nätverk är på grundnivå. Vi vet att det består av lager, att neuroner väger ihop input med hjälp av vikter och bias, och att aktiveringsfunktioner behövs för att modellen inte bara ska bli en enkel linjär beräkning.</a:t>
            </a:r>
          </a:p>
          <a:p>
            <a:r>
              <a:rPr lang="sv-SE" dirty="0"/>
              <a:t>Men det räcker inte riktigt än för att bygga en modell på ett bra sätt. Vi behöver också förstå hur man väljer vissa av de viktigaste delarna i nätverket. Till exempel vilken aktiveringsfunktion man använder, hur output-lagret bör se ut beroende på problemtyp, vad loss egentligen betyder, och vad en </a:t>
            </a:r>
            <a:r>
              <a:rPr lang="sv-SE" dirty="0" err="1"/>
              <a:t>optimizer</a:t>
            </a:r>
            <a:r>
              <a:rPr lang="sv-SE" dirty="0"/>
              <a:t> gör.</a:t>
            </a:r>
          </a:p>
          <a:p>
            <a:r>
              <a:rPr lang="sv-SE" dirty="0"/>
              <a:t>Det här är en väldigt viktig bryggvideo. Målet här är att göra de första designvalen i ett neuralt nätverk begripliga, så att nästa steg i kod känns motiverat i stället för mekaniskt.</a:t>
            </a:r>
          </a:p>
          <a:p>
            <a:endParaRPr lang="en-SE" dirty="0"/>
          </a:p>
        </p:txBody>
      </p:sp>
      <p:sp>
        <p:nvSpPr>
          <p:cNvPr id="4" name="Platshållare för bildnummer 3">
            <a:extLst>
              <a:ext uri="{FF2B5EF4-FFF2-40B4-BE49-F238E27FC236}">
                <a16:creationId xmlns:a16="http://schemas.microsoft.com/office/drawing/2014/main" id="{D1FE3D16-D2CA-42FB-9050-34B5431DFE8B}"/>
              </a:ext>
            </a:extLst>
          </p:cNvPr>
          <p:cNvSpPr>
            <a:spLocks noGrp="1"/>
          </p:cNvSpPr>
          <p:nvPr>
            <p:ph type="sldNum" sz="quarter" idx="5"/>
          </p:nvPr>
        </p:nvSpPr>
        <p:spPr/>
        <p:txBody>
          <a:bodyPr/>
          <a:lstStyle/>
          <a:p>
            <a:fld id="{DFF15893-0DF5-4007-BFB5-41D74726C9CD}" type="slidenum">
              <a:rPr lang="en-SE" smtClean="0"/>
              <a:t>1</a:t>
            </a:fld>
            <a:endParaRPr lang="en-SE"/>
          </a:p>
        </p:txBody>
      </p:sp>
    </p:spTree>
    <p:extLst>
      <p:ext uri="{BB962C8B-B14F-4D97-AF65-F5344CB8AC3E}">
        <p14:creationId xmlns:p14="http://schemas.microsoft.com/office/powerpoint/2010/main" val="2257201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DC182-F43C-6214-9550-0A51D4E465E2}"/>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9C8D2BBC-FC93-E877-869C-7DF16F82DA22}"/>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2400F132-7E0D-CE2D-754A-18271F9A1863}"/>
              </a:ext>
            </a:extLst>
          </p:cNvPr>
          <p:cNvSpPr>
            <a:spLocks noGrp="1"/>
          </p:cNvSpPr>
          <p:nvPr>
            <p:ph type="body" idx="1"/>
          </p:nvPr>
        </p:nvSpPr>
        <p:spPr/>
        <p:txBody>
          <a:bodyPr/>
          <a:lstStyle/>
          <a:p>
            <a:r>
              <a:rPr lang="sv-SE" dirty="0"/>
              <a:t>När man bygger sitt första neurala nätverk är det lätt att tro att det viktigaste bara är hur många lager modellen ska ha och hur många neuroner man ska lägga in. Men ganska snabbt märker man att det finns några andra val som är minst lika viktiga.</a:t>
            </a:r>
          </a:p>
          <a:p>
            <a:r>
              <a:rPr lang="sv-SE" dirty="0"/>
              <a:t>Fyra sådana val är särskilt centrala i början.</a:t>
            </a:r>
          </a:p>
          <a:p>
            <a:r>
              <a:rPr lang="sv-SE" dirty="0"/>
              <a:t>Det första är vilken aktiveringsfunktion vi använder i de dolda lagren.</a:t>
            </a:r>
            <a:br>
              <a:rPr lang="sv-SE" dirty="0"/>
            </a:br>
            <a:r>
              <a:rPr lang="sv-SE" dirty="0"/>
              <a:t>Det andra är hur output-lagret ska se ut.</a:t>
            </a:r>
            <a:br>
              <a:rPr lang="sv-SE" dirty="0"/>
            </a:br>
            <a:r>
              <a:rPr lang="sv-SE" dirty="0"/>
              <a:t>Det tredje är vilken loss-funktion vi väljer.</a:t>
            </a:r>
            <a:br>
              <a:rPr lang="sv-SE" dirty="0"/>
            </a:br>
            <a:r>
              <a:rPr lang="sv-SE" dirty="0"/>
              <a:t>Och det fjärde är vilken </a:t>
            </a:r>
            <a:r>
              <a:rPr lang="sv-SE" dirty="0" err="1"/>
              <a:t>optimizer</a:t>
            </a:r>
            <a:r>
              <a:rPr lang="sv-SE" dirty="0"/>
              <a:t> som ska användas under träningen.</a:t>
            </a:r>
          </a:p>
          <a:p>
            <a:r>
              <a:rPr lang="sv-SE" dirty="0"/>
              <a:t>De här fyra sakerna hänger ihop. De måste passa både modellen och problemet. Och det är därför den här videon behövs innan vi går vidare till </a:t>
            </a:r>
            <a:r>
              <a:rPr lang="sv-SE" dirty="0" err="1"/>
              <a:t>Keras</a:t>
            </a:r>
            <a:r>
              <a:rPr lang="sv-SE" dirty="0"/>
              <a:t>-koden på riktigt.</a:t>
            </a:r>
          </a:p>
        </p:txBody>
      </p:sp>
      <p:sp>
        <p:nvSpPr>
          <p:cNvPr id="4" name="Platshållare för bildnummer 3">
            <a:extLst>
              <a:ext uri="{FF2B5EF4-FFF2-40B4-BE49-F238E27FC236}">
                <a16:creationId xmlns:a16="http://schemas.microsoft.com/office/drawing/2014/main" id="{FC251D97-A609-02E6-F08C-2096585C4645}"/>
              </a:ext>
            </a:extLst>
          </p:cNvPr>
          <p:cNvSpPr>
            <a:spLocks noGrp="1"/>
          </p:cNvSpPr>
          <p:nvPr>
            <p:ph type="sldNum" sz="quarter" idx="5"/>
          </p:nvPr>
        </p:nvSpPr>
        <p:spPr/>
        <p:txBody>
          <a:bodyPr/>
          <a:lstStyle/>
          <a:p>
            <a:fld id="{DFF15893-0DF5-4007-BFB5-41D74726C9CD}" type="slidenum">
              <a:rPr lang="en-SE" smtClean="0"/>
              <a:t>2</a:t>
            </a:fld>
            <a:endParaRPr lang="en-SE"/>
          </a:p>
        </p:txBody>
      </p:sp>
    </p:spTree>
    <p:extLst>
      <p:ext uri="{BB962C8B-B14F-4D97-AF65-F5344CB8AC3E}">
        <p14:creationId xmlns:p14="http://schemas.microsoft.com/office/powerpoint/2010/main" val="950840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B21EF-D491-CBE9-ED8F-2660FD7938AF}"/>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E80CB9A1-A970-8AEE-5964-4E59A138F7BA}"/>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A17BE0AB-AA73-31AA-4F8C-8AA87F0A3E91}"/>
              </a:ext>
            </a:extLst>
          </p:cNvPr>
          <p:cNvSpPr>
            <a:spLocks noGrp="1"/>
          </p:cNvSpPr>
          <p:nvPr>
            <p:ph type="body" idx="1"/>
          </p:nvPr>
        </p:nvSpPr>
        <p:spPr/>
        <p:txBody>
          <a:bodyPr/>
          <a:lstStyle/>
          <a:p>
            <a:r>
              <a:rPr lang="sv-SE" dirty="0"/>
              <a:t>Det första som är viktigt att reda ut är att aktiveringsfunktioner spelar två lite olika roller beroende på var i nätverket de används.</a:t>
            </a:r>
          </a:p>
          <a:p>
            <a:r>
              <a:rPr lang="sv-SE" dirty="0"/>
              <a:t>I de dolda lagren hjälper de modellen att bli mer flexibel. De gör att nätverket kan lära sig mer komplexa samband än om allt bara vore en kedja av linjära beräkningar.</a:t>
            </a:r>
          </a:p>
          <a:p>
            <a:r>
              <a:rPr lang="sv-SE" dirty="0"/>
              <a:t>Men i output-lagret har aktiveringsfunktionen också en annan roll. Där hjälper den oss att forma modellens svar så att det passar uppgiften. Om vi till exempel vill få en sannolikhet mellan noll och ett, då behöver vi en outputfunktion som faktiskt kan ge ett sådant värde. Om vi vill ha flera sannolikheter för flera klasser, då behöver vi något annat.</a:t>
            </a:r>
          </a:p>
          <a:p>
            <a:r>
              <a:rPr lang="sv-SE" dirty="0"/>
              <a:t>Så redan här är det bra att skilja på två frågor:</a:t>
            </a:r>
            <a:br>
              <a:rPr lang="sv-SE" dirty="0"/>
            </a:br>
            <a:r>
              <a:rPr lang="sv-SE" dirty="0"/>
              <a:t>vad aktiveringsfunktioner gör inne i nätverket,</a:t>
            </a:r>
            <a:br>
              <a:rPr lang="sv-SE" dirty="0"/>
            </a:br>
            <a:r>
              <a:rPr lang="sv-SE" dirty="0"/>
              <a:t>och vad de gör längst ut i nätverket.</a:t>
            </a:r>
          </a:p>
          <a:p>
            <a:r>
              <a:rPr lang="sv-SE" dirty="0"/>
              <a:t>Det här låter kanske subtilt, men det är en viktig skillnad.</a:t>
            </a:r>
          </a:p>
        </p:txBody>
      </p:sp>
      <p:sp>
        <p:nvSpPr>
          <p:cNvPr id="4" name="Platshållare för bildnummer 3">
            <a:extLst>
              <a:ext uri="{FF2B5EF4-FFF2-40B4-BE49-F238E27FC236}">
                <a16:creationId xmlns:a16="http://schemas.microsoft.com/office/drawing/2014/main" id="{61890E40-9066-58A4-BA2C-A2CDA4711383}"/>
              </a:ext>
            </a:extLst>
          </p:cNvPr>
          <p:cNvSpPr>
            <a:spLocks noGrp="1"/>
          </p:cNvSpPr>
          <p:nvPr>
            <p:ph type="sldNum" sz="quarter" idx="5"/>
          </p:nvPr>
        </p:nvSpPr>
        <p:spPr/>
        <p:txBody>
          <a:bodyPr/>
          <a:lstStyle/>
          <a:p>
            <a:fld id="{DFF15893-0DF5-4007-BFB5-41D74726C9CD}" type="slidenum">
              <a:rPr lang="en-SE" smtClean="0"/>
              <a:t>3</a:t>
            </a:fld>
            <a:endParaRPr lang="en-SE"/>
          </a:p>
        </p:txBody>
      </p:sp>
    </p:spTree>
    <p:extLst>
      <p:ext uri="{BB962C8B-B14F-4D97-AF65-F5344CB8AC3E}">
        <p14:creationId xmlns:p14="http://schemas.microsoft.com/office/powerpoint/2010/main" val="2107342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5BFE5-AF22-5C70-21BD-C7060F6BF85A}"/>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198B5B6B-7E42-20B3-A8A6-C6964CDA7BC4}"/>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Platshållare för anteckningar 2">
                <a:extLst>
                  <a:ext uri="{FF2B5EF4-FFF2-40B4-BE49-F238E27FC236}">
                    <a16:creationId xmlns:a16="http://schemas.microsoft.com/office/drawing/2014/main" id="{7926216F-5364-9594-3237-755BCD7DFACF}"/>
                  </a:ext>
                </a:extLst>
              </p:cNvPr>
              <p:cNvSpPr>
                <a:spLocks noGrp="1"/>
              </p:cNvSpPr>
              <p:nvPr>
                <p:ph type="body" idx="1"/>
              </p:nvPr>
            </p:nvSpPr>
            <p:spPr/>
            <p:txBody>
              <a:bodyPr/>
              <a:lstStyle/>
              <a:p>
                <a:r>
                  <a:rPr lang="sv-SE" dirty="0"/>
                  <a:t>En av de vanligaste aktiveringsfunktionerna i dolda lager är </a:t>
                </a:r>
                <a:r>
                  <a:rPr lang="sv-SE" dirty="0" err="1"/>
                  <a:t>ReLU</a:t>
                </a:r>
                <a:r>
                  <a:rPr lang="sv-SE" dirty="0"/>
                  <a:t>.</a:t>
                </a:r>
              </a:p>
              <a:p>
                <a:r>
                  <a:rPr lang="sv-SE" dirty="0" err="1"/>
                  <a:t>ReLU</a:t>
                </a:r>
                <a:r>
                  <a:rPr lang="sv-SE" dirty="0"/>
                  <a:t> står för </a:t>
                </a:r>
                <a:r>
                  <a:rPr lang="sv-SE" dirty="0" err="1"/>
                  <a:t>Rectified</a:t>
                </a:r>
                <a:r>
                  <a:rPr lang="sv-SE" dirty="0"/>
                  <a:t> </a:t>
                </a:r>
                <a:r>
                  <a:rPr lang="sv-SE" dirty="0" err="1"/>
                  <a:t>Linear</a:t>
                </a:r>
                <a:r>
                  <a:rPr lang="sv-SE" dirty="0"/>
                  <a:t> </a:t>
                </a:r>
                <a:r>
                  <a:rPr lang="sv-SE" dirty="0" err="1"/>
                  <a:t>Unit</a:t>
                </a:r>
                <a:r>
                  <a:rPr lang="sv-SE" dirty="0"/>
                  <a:t>, och idén är väldigt enkel. Om värdet som kommer in är negativt så blir output noll. Om värdet är positivt så får det gå vidare.</a:t>
                </a:r>
              </a:p>
              <a:p>
                <a:r>
                  <a:rPr lang="sv-SE" dirty="0"/>
                  <a:t>Det gör </a:t>
                </a:r>
                <a:r>
                  <a:rPr lang="sv-SE" dirty="0" err="1"/>
                  <a:t>ReLU</a:t>
                </a:r>
                <a:r>
                  <a:rPr lang="sv-SE" dirty="0"/>
                  <a:t> lätt att förstå och också väldigt användbar i praktiken. Den är enkel att beräkna, fungerar ofta bra, och har därför blivit ett vanligt standardval i många typer av neurala nätverk.</a:t>
                </a:r>
              </a:p>
              <a:p>
                <a:r>
                  <a:rPr lang="sv-SE" dirty="0"/>
                  <a:t>Det betyder inte att </a:t>
                </a:r>
                <a:r>
                  <a:rPr lang="sv-SE" dirty="0" err="1"/>
                  <a:t>ReLU</a:t>
                </a:r>
                <a:r>
                  <a:rPr lang="sv-SE" dirty="0"/>
                  <a:t> alltid är bäst i alla sammanhang, men det är ett mycket rimligt förstaval i många vanliga modeller. Så när vi senare bygger vårt första nätverk i </a:t>
                </a:r>
                <a:r>
                  <a:rPr lang="sv-SE" dirty="0" err="1"/>
                  <a:t>Keras</a:t>
                </a:r>
                <a:r>
                  <a:rPr lang="sv-SE" dirty="0"/>
                  <a:t> kommer du se att vi använder </a:t>
                </a:r>
                <a:r>
                  <a:rPr lang="sv-SE" dirty="0" err="1"/>
                  <a:t>ReLU</a:t>
                </a:r>
                <a:r>
                  <a:rPr lang="sv-SE" dirty="0"/>
                  <a:t> i de dolda lagren.</a:t>
                </a:r>
              </a:p>
              <a:p>
                <a:r>
                  <a:rPr lang="sv-SE" dirty="0"/>
                  <a:t>Det är alltså ett praktiskt val, men det är också ett pedagogiskt bra val eftersom det är lätt att förstå vad funktionen gör.</a:t>
                </a:r>
              </a:p>
            </p:txBody>
          </p:sp>
        </mc:Choice>
        <mc:Fallback xmlns="">
          <p:sp>
            <p:nvSpPr>
              <p:cNvPr id="3" name="Platshållare för anteckningar 2">
                <a:extLst>
                  <a:ext uri="{FF2B5EF4-FFF2-40B4-BE49-F238E27FC236}">
                    <a16:creationId xmlns:a16="http://schemas.microsoft.com/office/drawing/2014/main" id="{7926216F-5364-9594-3237-755BCD7DFACF}"/>
                  </a:ext>
                </a:extLst>
              </p:cNvPr>
              <p:cNvSpPr>
                <a:spLocks noGrp="1"/>
              </p:cNvSpPr>
              <p:nvPr>
                <p:ph type="body" idx="1"/>
              </p:nvPr>
            </p:nvSpPr>
            <p:spPr/>
            <p:txBody>
              <a:bodyPr/>
              <a:lstStyle/>
              <a:p>
                <a:r>
                  <a:rPr lang="en-US" dirty="0" err="1"/>
                  <a:t>Hittills</a:t>
                </a:r>
                <a:r>
                  <a:rPr lang="en-US" dirty="0"/>
                  <a:t> </a:t>
                </a:r>
                <a:r>
                  <a:rPr lang="en-US" dirty="0" err="1"/>
                  <a:t>har</a:t>
                </a:r>
                <a:r>
                  <a:rPr lang="en-US" dirty="0"/>
                  <a:t> vi </a:t>
                </a:r>
                <a:r>
                  <a:rPr lang="en-US" dirty="0" err="1"/>
                  <a:t>sagt</a:t>
                </a:r>
                <a:r>
                  <a:rPr lang="en-US" dirty="0"/>
                  <a:t> </a:t>
                </a:r>
                <a:r>
                  <a:rPr lang="en-US" dirty="0" err="1"/>
                  <a:t>att</a:t>
                </a:r>
                <a:r>
                  <a:rPr lang="en-US" dirty="0"/>
                  <a:t> </a:t>
                </a:r>
                <a:r>
                  <a:rPr lang="en-US" dirty="0" err="1"/>
                  <a:t>neuronen</a:t>
                </a:r>
                <a:r>
                  <a:rPr lang="en-US" dirty="0"/>
                  <a:t> tar </a:t>
                </a:r>
                <a:r>
                  <a:rPr lang="en-US" dirty="0" err="1"/>
                  <a:t>emot</a:t>
                </a:r>
                <a:r>
                  <a:rPr lang="en-US" dirty="0"/>
                  <a:t> input, </a:t>
                </a:r>
                <a:r>
                  <a:rPr lang="en-US" dirty="0" err="1"/>
                  <a:t>väger</a:t>
                </a:r>
                <a:r>
                  <a:rPr lang="en-US" dirty="0"/>
                  <a:t> </a:t>
                </a:r>
                <a:r>
                  <a:rPr lang="en-US" dirty="0" err="1"/>
                  <a:t>ihop</a:t>
                </a:r>
                <a:r>
                  <a:rPr lang="en-US" dirty="0"/>
                  <a:t> </a:t>
                </a:r>
                <a:r>
                  <a:rPr lang="en-US" dirty="0" err="1"/>
                  <a:t>värdena</a:t>
                </a:r>
                <a:r>
                  <a:rPr lang="en-US" dirty="0"/>
                  <a:t> med </a:t>
                </a:r>
                <a:r>
                  <a:rPr lang="en-US" dirty="0" err="1"/>
                  <a:t>hjälp</a:t>
                </a:r>
                <a:r>
                  <a:rPr lang="en-US" dirty="0"/>
                  <a:t> av </a:t>
                </a:r>
                <a:r>
                  <a:rPr lang="en-US" dirty="0" err="1"/>
                  <a:t>vikter</a:t>
                </a:r>
                <a:r>
                  <a:rPr lang="en-US" dirty="0"/>
                  <a:t>, </a:t>
                </a:r>
                <a:r>
                  <a:rPr lang="en-US" dirty="0" err="1"/>
                  <a:t>lägger</a:t>
                </a:r>
                <a:r>
                  <a:rPr lang="en-US" dirty="0"/>
                  <a:t> till bias och </a:t>
                </a:r>
                <a:r>
                  <a:rPr lang="en-US" dirty="0" err="1"/>
                  <a:t>får</a:t>
                </a:r>
                <a:r>
                  <a:rPr lang="en-US" dirty="0"/>
                  <a:t> </a:t>
                </a:r>
                <a:r>
                  <a:rPr lang="en-US" dirty="0" err="1"/>
                  <a:t>fram</a:t>
                </a:r>
                <a:r>
                  <a:rPr lang="en-US" dirty="0"/>
                  <a:t> </a:t>
                </a:r>
                <a:r>
                  <a:rPr lang="en-US" dirty="0" err="1"/>
                  <a:t>ett</a:t>
                </a:r>
                <a:r>
                  <a:rPr lang="en-US" dirty="0"/>
                  <a:t> </a:t>
                </a:r>
                <a:r>
                  <a:rPr lang="en-US" dirty="0" err="1"/>
                  <a:t>nytt</a:t>
                </a:r>
                <a:r>
                  <a:rPr lang="en-US" dirty="0"/>
                  <a:t> </a:t>
                </a:r>
                <a:r>
                  <a:rPr lang="en-US" dirty="0" err="1"/>
                  <a:t>värde</a:t>
                </a:r>
                <a:r>
                  <a:rPr lang="en-US" dirty="0"/>
                  <a:t>. Det </a:t>
                </a:r>
                <a:r>
                  <a:rPr lang="en-US" dirty="0" err="1"/>
                  <a:t>värdet</a:t>
                </a:r>
                <a:r>
                  <a:rPr lang="en-US" dirty="0"/>
                  <a:t> </a:t>
                </a:r>
                <a:r>
                  <a:rPr lang="en-US" dirty="0" err="1"/>
                  <a:t>brukar</a:t>
                </a:r>
                <a:r>
                  <a:rPr lang="en-US" dirty="0"/>
                  <a:t> </a:t>
                </a:r>
                <a:r>
                  <a:rPr lang="en-US" dirty="0" err="1"/>
                  <a:t>ofta</a:t>
                </a:r>
                <a:r>
                  <a:rPr lang="en-US" dirty="0"/>
                  <a:t> </a:t>
                </a:r>
                <a:r>
                  <a:rPr lang="en-US" dirty="0" err="1"/>
                  <a:t>kallas</a:t>
                </a:r>
                <a:r>
                  <a:rPr lang="en-US" dirty="0"/>
                  <a:t> </a:t>
                </a:r>
                <a:r>
                  <a:rPr lang="en-US" sz="1200" i="0" kern="1200">
                    <a:solidFill>
                      <a:schemeClr val="tx1"/>
                    </a:solidFill>
                    <a:latin typeface="+mn-lt"/>
                    <a:ea typeface="+mn-ea"/>
                    <a:cs typeface="+mn-cs"/>
                  </a:rPr>
                  <a:t>𝑧</a:t>
                </a:r>
                <a:r>
                  <a:rPr lang="en-US" dirty="0"/>
                  <a:t>.</a:t>
                </a:r>
              </a:p>
              <a:p>
                <a:r>
                  <a:rPr lang="en-US" dirty="0"/>
                  <a:t>Men om vi </a:t>
                </a:r>
                <a:r>
                  <a:rPr lang="en-US" dirty="0" err="1"/>
                  <a:t>stannar</a:t>
                </a:r>
                <a:r>
                  <a:rPr lang="en-US" dirty="0"/>
                  <a:t> </a:t>
                </a:r>
                <a:r>
                  <a:rPr lang="en-US" dirty="0" err="1"/>
                  <a:t>där</a:t>
                </a:r>
                <a:r>
                  <a:rPr lang="en-US" dirty="0"/>
                  <a:t> </a:t>
                </a:r>
                <a:r>
                  <a:rPr lang="en-US" dirty="0" err="1"/>
                  <a:t>blir</a:t>
                </a:r>
                <a:r>
                  <a:rPr lang="en-US" dirty="0"/>
                  <a:t> </a:t>
                </a:r>
                <a:r>
                  <a:rPr lang="en-US" dirty="0" err="1"/>
                  <a:t>modellen</a:t>
                </a:r>
                <a:r>
                  <a:rPr lang="en-US" dirty="0"/>
                  <a:t> för </a:t>
                </a:r>
                <a:r>
                  <a:rPr lang="en-US" dirty="0" err="1"/>
                  <a:t>begränsad</a:t>
                </a:r>
                <a:r>
                  <a:rPr lang="en-US" dirty="0"/>
                  <a:t>. </a:t>
                </a:r>
                <a:r>
                  <a:rPr lang="en-US" dirty="0" err="1"/>
                  <a:t>Även</a:t>
                </a:r>
                <a:r>
                  <a:rPr lang="en-US" dirty="0"/>
                  <a:t> om vi </a:t>
                </a:r>
                <a:r>
                  <a:rPr lang="en-US" dirty="0" err="1"/>
                  <a:t>staplar</a:t>
                </a:r>
                <a:r>
                  <a:rPr lang="en-US" dirty="0"/>
                  <a:t> </a:t>
                </a:r>
                <a:r>
                  <a:rPr lang="en-US" dirty="0" err="1"/>
                  <a:t>flera</a:t>
                </a:r>
                <a:r>
                  <a:rPr lang="en-US" dirty="0"/>
                  <a:t> lager </a:t>
                </a:r>
                <a:r>
                  <a:rPr lang="en-US" dirty="0" err="1"/>
                  <a:t>ovanpå</a:t>
                </a:r>
                <a:r>
                  <a:rPr lang="en-US" dirty="0"/>
                  <a:t> </a:t>
                </a:r>
                <a:r>
                  <a:rPr lang="en-US" dirty="0" err="1"/>
                  <a:t>varandra</a:t>
                </a:r>
                <a:r>
                  <a:rPr lang="en-US" dirty="0"/>
                  <a:t> </a:t>
                </a:r>
                <a:r>
                  <a:rPr lang="en-US" dirty="0" err="1"/>
                  <a:t>blir</a:t>
                </a:r>
                <a:r>
                  <a:rPr lang="en-US" dirty="0"/>
                  <a:t> </a:t>
                </a:r>
                <a:r>
                  <a:rPr lang="en-US" dirty="0" err="1"/>
                  <a:t>nätverket</a:t>
                </a:r>
                <a:r>
                  <a:rPr lang="en-US" dirty="0"/>
                  <a:t> </a:t>
                </a:r>
                <a:r>
                  <a:rPr lang="en-US" dirty="0" err="1"/>
                  <a:t>då</a:t>
                </a:r>
                <a:r>
                  <a:rPr lang="en-US" dirty="0"/>
                  <a:t> </a:t>
                </a:r>
                <a:r>
                  <a:rPr lang="en-US" dirty="0" err="1"/>
                  <a:t>i</a:t>
                </a:r>
                <a:r>
                  <a:rPr lang="en-US" dirty="0"/>
                  <a:t> </a:t>
                </a:r>
                <a:r>
                  <a:rPr lang="en-US" dirty="0" err="1"/>
                  <a:t>praktiken</a:t>
                </a:r>
                <a:r>
                  <a:rPr lang="en-US" dirty="0"/>
                  <a:t> </a:t>
                </a:r>
                <a:r>
                  <a:rPr lang="en-US" dirty="0" err="1"/>
                  <a:t>fortfarande</a:t>
                </a:r>
                <a:r>
                  <a:rPr lang="en-US" dirty="0"/>
                  <a:t> för </a:t>
                </a:r>
                <a:r>
                  <a:rPr lang="en-US" dirty="0" err="1"/>
                  <a:t>linjärt</a:t>
                </a:r>
                <a:r>
                  <a:rPr lang="en-US" dirty="0"/>
                  <a:t>, och det </a:t>
                </a:r>
                <a:r>
                  <a:rPr lang="en-US" dirty="0" err="1"/>
                  <a:t>gör</a:t>
                </a:r>
                <a:r>
                  <a:rPr lang="en-US" dirty="0"/>
                  <a:t> </a:t>
                </a:r>
                <a:r>
                  <a:rPr lang="en-US" dirty="0" err="1"/>
                  <a:t>att</a:t>
                </a:r>
                <a:r>
                  <a:rPr lang="en-US" dirty="0"/>
                  <a:t> </a:t>
                </a:r>
                <a:r>
                  <a:rPr lang="en-US" dirty="0" err="1"/>
                  <a:t>modellen</a:t>
                </a:r>
                <a:r>
                  <a:rPr lang="en-US" dirty="0"/>
                  <a:t> </a:t>
                </a:r>
                <a:r>
                  <a:rPr lang="en-US" dirty="0" err="1"/>
                  <a:t>får</a:t>
                </a:r>
                <a:r>
                  <a:rPr lang="en-US" dirty="0"/>
                  <a:t> </a:t>
                </a:r>
                <a:r>
                  <a:rPr lang="en-US" dirty="0" err="1"/>
                  <a:t>svårt</a:t>
                </a:r>
                <a:r>
                  <a:rPr lang="en-US" dirty="0"/>
                  <a:t> </a:t>
                </a:r>
                <a:r>
                  <a:rPr lang="en-US" dirty="0" err="1"/>
                  <a:t>att</a:t>
                </a:r>
                <a:r>
                  <a:rPr lang="en-US" dirty="0"/>
                  <a:t> </a:t>
                </a:r>
                <a:r>
                  <a:rPr lang="en-US" dirty="0" err="1"/>
                  <a:t>fånga</a:t>
                </a:r>
                <a:r>
                  <a:rPr lang="en-US" dirty="0"/>
                  <a:t> </a:t>
                </a:r>
                <a:r>
                  <a:rPr lang="en-US" dirty="0" err="1"/>
                  <a:t>mer</a:t>
                </a:r>
                <a:r>
                  <a:rPr lang="en-US" dirty="0"/>
                  <a:t> </a:t>
                </a:r>
                <a:r>
                  <a:rPr lang="en-US" dirty="0" err="1"/>
                  <a:t>komplexa</a:t>
                </a:r>
                <a:r>
                  <a:rPr lang="en-US" dirty="0"/>
                  <a:t> </a:t>
                </a:r>
                <a:r>
                  <a:rPr lang="en-US" dirty="0" err="1"/>
                  <a:t>samband</a:t>
                </a:r>
                <a:r>
                  <a:rPr lang="en-US" dirty="0"/>
                  <a:t>.</a:t>
                </a:r>
              </a:p>
              <a:p>
                <a:r>
                  <a:rPr lang="en-US" dirty="0"/>
                  <a:t>Det </a:t>
                </a:r>
                <a:r>
                  <a:rPr lang="en-US" dirty="0" err="1"/>
                  <a:t>är</a:t>
                </a:r>
                <a:r>
                  <a:rPr lang="en-US" dirty="0"/>
                  <a:t> </a:t>
                </a:r>
                <a:r>
                  <a:rPr lang="en-US" dirty="0" err="1"/>
                  <a:t>därför</a:t>
                </a:r>
                <a:r>
                  <a:rPr lang="en-US" dirty="0"/>
                  <a:t> vi </a:t>
                </a:r>
                <a:r>
                  <a:rPr lang="en-US" dirty="0" err="1"/>
                  <a:t>behöver</a:t>
                </a:r>
                <a:r>
                  <a:rPr lang="en-US" dirty="0"/>
                  <a:t> </a:t>
                </a:r>
                <a:r>
                  <a:rPr lang="en-US" dirty="0" err="1"/>
                  <a:t>aktiveringsfunktioner</a:t>
                </a:r>
                <a:r>
                  <a:rPr lang="en-US" dirty="0"/>
                  <a:t>.</a:t>
                </a:r>
              </a:p>
              <a:p>
                <a:r>
                  <a:rPr lang="en-US" dirty="0" err="1"/>
                  <a:t>När</a:t>
                </a:r>
                <a:r>
                  <a:rPr lang="en-US" dirty="0"/>
                  <a:t> </a:t>
                </a:r>
                <a:r>
                  <a:rPr lang="en-US" dirty="0" err="1"/>
                  <a:t>neuronen</a:t>
                </a:r>
                <a:r>
                  <a:rPr lang="en-US" dirty="0"/>
                  <a:t> </a:t>
                </a:r>
                <a:r>
                  <a:rPr lang="en-US" dirty="0" err="1"/>
                  <a:t>har</a:t>
                </a:r>
                <a:r>
                  <a:rPr lang="en-US" dirty="0"/>
                  <a:t> </a:t>
                </a:r>
                <a:r>
                  <a:rPr lang="en-US" dirty="0" err="1"/>
                  <a:t>räknat</a:t>
                </a:r>
                <a:r>
                  <a:rPr lang="en-US" dirty="0"/>
                  <a:t> </a:t>
                </a:r>
                <a:r>
                  <a:rPr lang="en-US" dirty="0" err="1"/>
                  <a:t>fram</a:t>
                </a:r>
                <a:r>
                  <a:rPr lang="en-US" dirty="0"/>
                  <a:t> </a:t>
                </a:r>
                <a:r>
                  <a:rPr lang="en-US" dirty="0" err="1"/>
                  <a:t>sitt</a:t>
                </a:r>
                <a:r>
                  <a:rPr lang="en-US" dirty="0"/>
                  <a:t> </a:t>
                </a:r>
                <a:r>
                  <a:rPr lang="en-US" dirty="0" err="1"/>
                  <a:t>värde</a:t>
                </a:r>
                <a:r>
                  <a:rPr lang="en-US" dirty="0"/>
                  <a:t> </a:t>
                </a:r>
                <a:r>
                  <a:rPr lang="en-US" dirty="0" err="1"/>
                  <a:t>skickas</a:t>
                </a:r>
                <a:r>
                  <a:rPr lang="en-US" dirty="0"/>
                  <a:t> det </a:t>
                </a:r>
                <a:r>
                  <a:rPr lang="en-US" dirty="0" err="1"/>
                  <a:t>vidare</a:t>
                </a:r>
                <a:r>
                  <a:rPr lang="en-US" dirty="0"/>
                  <a:t> </a:t>
                </a:r>
                <a:r>
                  <a:rPr lang="en-US" dirty="0" err="1"/>
                  <a:t>genom</a:t>
                </a:r>
                <a:r>
                  <a:rPr lang="en-US" dirty="0"/>
                  <a:t> </a:t>
                </a:r>
                <a:r>
                  <a:rPr lang="en-US" dirty="0" err="1"/>
                  <a:t>en</a:t>
                </a:r>
                <a:r>
                  <a:rPr lang="en-US" dirty="0"/>
                  <a:t> </a:t>
                </a:r>
                <a:r>
                  <a:rPr lang="en-US" dirty="0" err="1"/>
                  <a:t>funktion</a:t>
                </a:r>
                <a:r>
                  <a:rPr lang="en-US" dirty="0"/>
                  <a:t>. Det </a:t>
                </a:r>
                <a:r>
                  <a:rPr lang="en-US" dirty="0" err="1"/>
                  <a:t>skrivs</a:t>
                </a:r>
                <a:r>
                  <a:rPr lang="en-US" dirty="0"/>
                  <a:t> </a:t>
                </a:r>
                <a:r>
                  <a:rPr lang="en-US" dirty="0" err="1"/>
                  <a:t>ofta</a:t>
                </a:r>
                <a:r>
                  <a:rPr lang="en-US" dirty="0"/>
                  <a:t> </a:t>
                </a:r>
                <a:r>
                  <a:rPr lang="en-US" dirty="0" err="1"/>
                  <a:t>som</a:t>
                </a:r>
                <a:r>
                  <a:rPr lang="en-US" dirty="0"/>
                  <a:t> </a:t>
                </a:r>
                <a:r>
                  <a:rPr lang="en-US" sz="1200" i="0" kern="1200">
                    <a:solidFill>
                      <a:schemeClr val="tx1"/>
                    </a:solidFill>
                    <a:latin typeface="+mn-lt"/>
                    <a:ea typeface="+mn-ea"/>
                    <a:cs typeface="+mn-cs"/>
                  </a:rPr>
                  <a:t>𝑎=𝑓</a:t>
                </a:r>
                <a:r>
                  <a:rPr lang="ar-AE" sz="1200" i="0" kern="1200">
                    <a:solidFill>
                      <a:schemeClr val="tx1"/>
                    </a:solidFill>
                    <a:latin typeface="+mn-lt"/>
                    <a:ea typeface="+mn-ea"/>
                    <a:cs typeface="+mn-cs"/>
                  </a:rPr>
                  <a:t>(𝑧)</a:t>
                </a:r>
                <a:r>
                  <a:rPr lang="ar-AE" dirty="0"/>
                  <a:t>. </a:t>
                </a:r>
                <a:r>
                  <a:rPr lang="en-US" dirty="0"/>
                  <a:t>Det </a:t>
                </a:r>
                <a:r>
                  <a:rPr lang="en-US" dirty="0" err="1"/>
                  <a:t>betyder</a:t>
                </a:r>
                <a:r>
                  <a:rPr lang="en-US" dirty="0"/>
                  <a:t> </a:t>
                </a:r>
                <a:r>
                  <a:rPr lang="en-US" dirty="0" err="1"/>
                  <a:t>helt</a:t>
                </a:r>
                <a:r>
                  <a:rPr lang="en-US" dirty="0"/>
                  <a:t> </a:t>
                </a:r>
                <a:r>
                  <a:rPr lang="en-US" dirty="0" err="1"/>
                  <a:t>enkelt</a:t>
                </a:r>
                <a:r>
                  <a:rPr lang="en-US" dirty="0"/>
                  <a:t> </a:t>
                </a:r>
                <a:r>
                  <a:rPr lang="en-US" dirty="0" err="1"/>
                  <a:t>att</a:t>
                </a:r>
                <a:r>
                  <a:rPr lang="en-US" dirty="0"/>
                  <a:t> vi tar det </a:t>
                </a:r>
                <a:r>
                  <a:rPr lang="en-US" dirty="0" err="1"/>
                  <a:t>beräknade</a:t>
                </a:r>
                <a:r>
                  <a:rPr lang="en-US" dirty="0"/>
                  <a:t> </a:t>
                </a:r>
                <a:r>
                  <a:rPr lang="en-US" dirty="0" err="1"/>
                  <a:t>värdet</a:t>
                </a:r>
                <a:r>
                  <a:rPr lang="en-US" dirty="0"/>
                  <a:t> och </a:t>
                </a:r>
                <a:r>
                  <a:rPr lang="en-US" dirty="0" err="1"/>
                  <a:t>låter</a:t>
                </a:r>
                <a:r>
                  <a:rPr lang="en-US" dirty="0"/>
                  <a:t> </a:t>
                </a:r>
                <a:r>
                  <a:rPr lang="en-US" dirty="0" err="1"/>
                  <a:t>en</a:t>
                </a:r>
                <a:r>
                  <a:rPr lang="en-US" dirty="0"/>
                  <a:t> </a:t>
                </a:r>
                <a:r>
                  <a:rPr lang="en-US" dirty="0" err="1"/>
                  <a:t>aktiveringsfunktion</a:t>
                </a:r>
                <a:r>
                  <a:rPr lang="en-US" dirty="0"/>
                  <a:t> </a:t>
                </a:r>
                <a:r>
                  <a:rPr lang="en-US" dirty="0" err="1"/>
                  <a:t>omvandla</a:t>
                </a:r>
                <a:r>
                  <a:rPr lang="en-US" dirty="0"/>
                  <a:t> det </a:t>
                </a:r>
                <a:r>
                  <a:rPr lang="en-US" dirty="0" err="1"/>
                  <a:t>innan</a:t>
                </a:r>
                <a:r>
                  <a:rPr lang="en-US" dirty="0"/>
                  <a:t> det </a:t>
                </a:r>
                <a:r>
                  <a:rPr lang="en-US" dirty="0" err="1"/>
                  <a:t>skickas</a:t>
                </a:r>
                <a:r>
                  <a:rPr lang="en-US" dirty="0"/>
                  <a:t> </a:t>
                </a:r>
                <a:r>
                  <a:rPr lang="en-US" dirty="0" err="1"/>
                  <a:t>vidare</a:t>
                </a:r>
                <a:r>
                  <a:rPr lang="en-US" dirty="0"/>
                  <a:t> till </a:t>
                </a:r>
                <a:r>
                  <a:rPr lang="en-US" dirty="0" err="1"/>
                  <a:t>nästa</a:t>
                </a:r>
                <a:r>
                  <a:rPr lang="en-US" dirty="0"/>
                  <a:t> lager.</a:t>
                </a:r>
              </a:p>
              <a:p>
                <a:r>
                  <a:rPr lang="en-US" dirty="0" err="1"/>
                  <a:t>Två</a:t>
                </a:r>
                <a:r>
                  <a:rPr lang="en-US" dirty="0"/>
                  <a:t> </a:t>
                </a:r>
                <a:r>
                  <a:rPr lang="en-US" dirty="0" err="1"/>
                  <a:t>vanliga</a:t>
                </a:r>
                <a:r>
                  <a:rPr lang="en-US" dirty="0"/>
                  <a:t> </a:t>
                </a:r>
                <a:r>
                  <a:rPr lang="en-US" dirty="0" err="1"/>
                  <a:t>exempel</a:t>
                </a:r>
                <a:r>
                  <a:rPr lang="en-US" dirty="0"/>
                  <a:t> </a:t>
                </a:r>
                <a:r>
                  <a:rPr lang="en-US" dirty="0" err="1"/>
                  <a:t>är</a:t>
                </a:r>
                <a:r>
                  <a:rPr lang="en-US" dirty="0"/>
                  <a:t> sigmoid och </a:t>
                </a:r>
                <a:r>
                  <a:rPr lang="en-US" dirty="0" err="1"/>
                  <a:t>ReLU</a:t>
                </a:r>
                <a:r>
                  <a:rPr lang="en-US" dirty="0"/>
                  <a:t>. Du </a:t>
                </a:r>
                <a:r>
                  <a:rPr lang="en-US" dirty="0" err="1"/>
                  <a:t>behöver</a:t>
                </a:r>
                <a:r>
                  <a:rPr lang="en-US" dirty="0"/>
                  <a:t> </a:t>
                </a:r>
                <a:r>
                  <a:rPr lang="en-US" dirty="0" err="1"/>
                  <a:t>inte</a:t>
                </a:r>
                <a:r>
                  <a:rPr lang="en-US" dirty="0"/>
                  <a:t> </a:t>
                </a:r>
                <a:r>
                  <a:rPr lang="en-US" dirty="0" err="1"/>
                  <a:t>kunna</a:t>
                </a:r>
                <a:r>
                  <a:rPr lang="en-US" dirty="0"/>
                  <a:t> </a:t>
                </a:r>
                <a:r>
                  <a:rPr lang="en-US" dirty="0" err="1"/>
                  <a:t>memorera</a:t>
                </a:r>
                <a:r>
                  <a:rPr lang="en-US" dirty="0"/>
                  <a:t> dem </a:t>
                </a:r>
                <a:r>
                  <a:rPr lang="en-US" dirty="0" err="1"/>
                  <a:t>perfekt</a:t>
                </a:r>
                <a:r>
                  <a:rPr lang="en-US" dirty="0"/>
                  <a:t> just nu. Det </a:t>
                </a:r>
                <a:r>
                  <a:rPr lang="en-US" dirty="0" err="1"/>
                  <a:t>viktiga</a:t>
                </a:r>
                <a:r>
                  <a:rPr lang="en-US" dirty="0"/>
                  <a:t> </a:t>
                </a:r>
                <a:r>
                  <a:rPr lang="en-US" dirty="0" err="1"/>
                  <a:t>här</a:t>
                </a:r>
                <a:r>
                  <a:rPr lang="en-US" dirty="0"/>
                  <a:t> </a:t>
                </a:r>
                <a:r>
                  <a:rPr lang="en-US" dirty="0" err="1"/>
                  <a:t>är</a:t>
                </a:r>
                <a:r>
                  <a:rPr lang="en-US" dirty="0"/>
                  <a:t> </a:t>
                </a:r>
                <a:r>
                  <a:rPr lang="en-US" dirty="0" err="1"/>
                  <a:t>att</a:t>
                </a:r>
                <a:r>
                  <a:rPr lang="en-US" dirty="0"/>
                  <a:t> </a:t>
                </a:r>
                <a:r>
                  <a:rPr lang="en-US" dirty="0" err="1"/>
                  <a:t>förstå</a:t>
                </a:r>
                <a:r>
                  <a:rPr lang="en-US" dirty="0"/>
                  <a:t> </a:t>
                </a:r>
                <a:r>
                  <a:rPr lang="en-US" dirty="0" err="1"/>
                  <a:t>varför</a:t>
                </a:r>
                <a:r>
                  <a:rPr lang="en-US" dirty="0"/>
                  <a:t> de </a:t>
                </a:r>
                <a:r>
                  <a:rPr lang="en-US" dirty="0" err="1"/>
                  <a:t>finns</a:t>
                </a:r>
                <a:r>
                  <a:rPr lang="en-US" dirty="0"/>
                  <a:t>: de </a:t>
                </a:r>
                <a:r>
                  <a:rPr lang="en-US" dirty="0" err="1"/>
                  <a:t>gör</a:t>
                </a:r>
                <a:r>
                  <a:rPr lang="en-US" dirty="0"/>
                  <a:t> </a:t>
                </a:r>
                <a:r>
                  <a:rPr lang="en-US" dirty="0" err="1"/>
                  <a:t>nätverket</a:t>
                </a:r>
                <a:r>
                  <a:rPr lang="en-US" dirty="0"/>
                  <a:t> </a:t>
                </a:r>
                <a:r>
                  <a:rPr lang="en-US" dirty="0" err="1"/>
                  <a:t>mer</a:t>
                </a:r>
                <a:r>
                  <a:rPr lang="en-US" dirty="0"/>
                  <a:t> </a:t>
                </a:r>
                <a:r>
                  <a:rPr lang="en-US" dirty="0" err="1"/>
                  <a:t>flexibelt</a:t>
                </a:r>
                <a:r>
                  <a:rPr lang="en-US" dirty="0"/>
                  <a:t> och </a:t>
                </a:r>
                <a:r>
                  <a:rPr lang="en-US" dirty="0" err="1"/>
                  <a:t>gör</a:t>
                </a:r>
                <a:r>
                  <a:rPr lang="en-US" dirty="0"/>
                  <a:t> det </a:t>
                </a:r>
                <a:r>
                  <a:rPr lang="en-US" dirty="0" err="1"/>
                  <a:t>möjligt</a:t>
                </a:r>
                <a:r>
                  <a:rPr lang="en-US" dirty="0"/>
                  <a:t> </a:t>
                </a:r>
                <a:r>
                  <a:rPr lang="en-US" dirty="0" err="1"/>
                  <a:t>att</a:t>
                </a:r>
                <a:r>
                  <a:rPr lang="en-US" dirty="0"/>
                  <a:t> </a:t>
                </a:r>
                <a:r>
                  <a:rPr lang="en-US" dirty="0" err="1"/>
                  <a:t>lära</a:t>
                </a:r>
                <a:r>
                  <a:rPr lang="en-US" dirty="0"/>
                  <a:t> sig </a:t>
                </a:r>
                <a:r>
                  <a:rPr lang="en-US" dirty="0" err="1"/>
                  <a:t>betydligt</a:t>
                </a:r>
                <a:r>
                  <a:rPr lang="en-US" dirty="0"/>
                  <a:t> </a:t>
                </a:r>
                <a:r>
                  <a:rPr lang="en-US" dirty="0" err="1"/>
                  <a:t>mer</a:t>
                </a:r>
                <a:r>
                  <a:rPr lang="en-US" dirty="0"/>
                  <a:t> </a:t>
                </a:r>
                <a:r>
                  <a:rPr lang="en-US" dirty="0" err="1"/>
                  <a:t>komplexa</a:t>
                </a:r>
                <a:r>
                  <a:rPr lang="en-US" dirty="0"/>
                  <a:t> </a:t>
                </a:r>
                <a:r>
                  <a:rPr lang="en-US" dirty="0" err="1"/>
                  <a:t>samband</a:t>
                </a:r>
                <a:r>
                  <a:rPr lang="en-US" dirty="0"/>
                  <a:t> </a:t>
                </a:r>
                <a:r>
                  <a:rPr lang="en-US" dirty="0" err="1"/>
                  <a:t>än</a:t>
                </a:r>
                <a:r>
                  <a:rPr lang="en-US" dirty="0"/>
                  <a:t> om </a:t>
                </a:r>
                <a:r>
                  <a:rPr lang="en-US" dirty="0" err="1"/>
                  <a:t>allt</a:t>
                </a:r>
                <a:r>
                  <a:rPr lang="en-US" dirty="0"/>
                  <a:t> bara </a:t>
                </a:r>
                <a:r>
                  <a:rPr lang="en-US" dirty="0" err="1"/>
                  <a:t>vore</a:t>
                </a:r>
                <a:r>
                  <a:rPr lang="en-US" dirty="0"/>
                  <a:t> rent </a:t>
                </a:r>
                <a:r>
                  <a:rPr lang="en-US" dirty="0" err="1"/>
                  <a:t>linjärt</a:t>
                </a:r>
                <a:r>
                  <a:rPr lang="en-US" dirty="0"/>
                  <a:t>.</a:t>
                </a:r>
              </a:p>
              <a:p>
                <a:r>
                  <a:rPr lang="en-US" dirty="0"/>
                  <a:t>Det </a:t>
                </a:r>
                <a:r>
                  <a:rPr lang="en-US" dirty="0" err="1"/>
                  <a:t>är</a:t>
                </a:r>
                <a:r>
                  <a:rPr lang="en-US" dirty="0"/>
                  <a:t> </a:t>
                </a:r>
                <a:r>
                  <a:rPr lang="en-US" dirty="0" err="1"/>
                  <a:t>alltså</a:t>
                </a:r>
                <a:r>
                  <a:rPr lang="en-US" dirty="0"/>
                  <a:t> </a:t>
                </a:r>
                <a:r>
                  <a:rPr lang="en-US" dirty="0" err="1"/>
                  <a:t>aktiveringsfunktionerna</a:t>
                </a:r>
                <a:r>
                  <a:rPr lang="en-US" dirty="0"/>
                  <a:t> </a:t>
                </a:r>
                <a:r>
                  <a:rPr lang="en-US" dirty="0" err="1"/>
                  <a:t>som</a:t>
                </a:r>
                <a:r>
                  <a:rPr lang="en-US" dirty="0"/>
                  <a:t> </a:t>
                </a:r>
                <a:r>
                  <a:rPr lang="en-US" dirty="0" err="1"/>
                  <a:t>hjälper</a:t>
                </a:r>
                <a:r>
                  <a:rPr lang="en-US" dirty="0"/>
                  <a:t> </a:t>
                </a:r>
                <a:r>
                  <a:rPr lang="en-US" dirty="0" err="1"/>
                  <a:t>nätverket</a:t>
                </a:r>
                <a:r>
                  <a:rPr lang="en-US" dirty="0"/>
                  <a:t> </a:t>
                </a:r>
                <a:r>
                  <a:rPr lang="en-US" dirty="0" err="1"/>
                  <a:t>att</a:t>
                </a:r>
                <a:r>
                  <a:rPr lang="en-US" dirty="0"/>
                  <a:t> </a:t>
                </a:r>
                <a:r>
                  <a:rPr lang="en-US" dirty="0" err="1"/>
                  <a:t>bli</a:t>
                </a:r>
                <a:r>
                  <a:rPr lang="en-US" dirty="0"/>
                  <a:t> </a:t>
                </a:r>
                <a:r>
                  <a:rPr lang="en-US" dirty="0" err="1"/>
                  <a:t>något</a:t>
                </a:r>
                <a:r>
                  <a:rPr lang="en-US" dirty="0"/>
                  <a:t> </a:t>
                </a:r>
                <a:r>
                  <a:rPr lang="en-US" dirty="0" err="1"/>
                  <a:t>mer</a:t>
                </a:r>
                <a:r>
                  <a:rPr lang="en-US" dirty="0"/>
                  <a:t> </a:t>
                </a:r>
                <a:r>
                  <a:rPr lang="en-US" dirty="0" err="1"/>
                  <a:t>än</a:t>
                </a:r>
                <a:r>
                  <a:rPr lang="en-US" dirty="0"/>
                  <a:t> bara </a:t>
                </a:r>
                <a:r>
                  <a:rPr lang="en-US" dirty="0" err="1"/>
                  <a:t>en</a:t>
                </a:r>
                <a:r>
                  <a:rPr lang="en-US" dirty="0"/>
                  <a:t> </a:t>
                </a:r>
                <a:r>
                  <a:rPr lang="en-US" dirty="0" err="1"/>
                  <a:t>stapel</a:t>
                </a:r>
                <a:r>
                  <a:rPr lang="en-US" dirty="0"/>
                  <a:t> av </a:t>
                </a:r>
                <a:r>
                  <a:rPr lang="en-US" dirty="0" err="1"/>
                  <a:t>enkla</a:t>
                </a:r>
                <a:r>
                  <a:rPr lang="en-US" dirty="0"/>
                  <a:t> </a:t>
                </a:r>
                <a:r>
                  <a:rPr lang="en-US" dirty="0" err="1"/>
                  <a:t>linjära</a:t>
                </a:r>
                <a:r>
                  <a:rPr lang="en-US" dirty="0"/>
                  <a:t> </a:t>
                </a:r>
                <a:r>
                  <a:rPr lang="en-US" dirty="0" err="1"/>
                  <a:t>beräkningar</a:t>
                </a:r>
                <a:r>
                  <a:rPr lang="en-US" dirty="0"/>
                  <a:t>.</a:t>
                </a:r>
              </a:p>
            </p:txBody>
          </p:sp>
        </mc:Fallback>
      </mc:AlternateContent>
      <p:sp>
        <p:nvSpPr>
          <p:cNvPr id="4" name="Platshållare för bildnummer 3">
            <a:extLst>
              <a:ext uri="{FF2B5EF4-FFF2-40B4-BE49-F238E27FC236}">
                <a16:creationId xmlns:a16="http://schemas.microsoft.com/office/drawing/2014/main" id="{6330953B-8603-8DDB-0A54-19C1093A6194}"/>
              </a:ext>
            </a:extLst>
          </p:cNvPr>
          <p:cNvSpPr>
            <a:spLocks noGrp="1"/>
          </p:cNvSpPr>
          <p:nvPr>
            <p:ph type="sldNum" sz="quarter" idx="5"/>
          </p:nvPr>
        </p:nvSpPr>
        <p:spPr/>
        <p:txBody>
          <a:bodyPr/>
          <a:lstStyle/>
          <a:p>
            <a:fld id="{DFF15893-0DF5-4007-BFB5-41D74726C9CD}" type="slidenum">
              <a:rPr lang="en-SE" smtClean="0"/>
              <a:t>4</a:t>
            </a:fld>
            <a:endParaRPr lang="en-SE"/>
          </a:p>
        </p:txBody>
      </p:sp>
    </p:spTree>
    <p:extLst>
      <p:ext uri="{BB962C8B-B14F-4D97-AF65-F5344CB8AC3E}">
        <p14:creationId xmlns:p14="http://schemas.microsoft.com/office/powerpoint/2010/main" val="1399338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B448B-D091-FB1C-D4C4-B658BD23517A}"/>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8E2BBF95-8831-A97B-4A74-A8DE0A2D3C44}"/>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21074663-3588-3E0F-458B-B7E97CD974A0}"/>
              </a:ext>
            </a:extLst>
          </p:cNvPr>
          <p:cNvSpPr>
            <a:spLocks noGrp="1"/>
          </p:cNvSpPr>
          <p:nvPr>
            <p:ph type="body" idx="1"/>
          </p:nvPr>
        </p:nvSpPr>
        <p:spPr/>
        <p:txBody>
          <a:bodyPr/>
          <a:lstStyle/>
          <a:p>
            <a:r>
              <a:rPr lang="sv-SE" dirty="0" err="1"/>
              <a:t>Sigmoid</a:t>
            </a:r>
            <a:r>
              <a:rPr lang="sv-SE" dirty="0"/>
              <a:t> är en annan klassisk aktiveringsfunktion, men den används ofta i ett annat sammanhang än </a:t>
            </a:r>
            <a:r>
              <a:rPr lang="sv-SE" dirty="0" err="1"/>
              <a:t>ReLU</a:t>
            </a:r>
            <a:r>
              <a:rPr lang="sv-SE" dirty="0"/>
              <a:t>.</a:t>
            </a:r>
          </a:p>
          <a:p>
            <a:r>
              <a:rPr lang="sv-SE" dirty="0" err="1"/>
              <a:t>Sigmoid</a:t>
            </a:r>
            <a:r>
              <a:rPr lang="sv-SE" dirty="0"/>
              <a:t> tar ett inmatat värde och pressar ned det till ett tal mellan noll och ett. Det gör att funktionen passar väldigt bra när vi vill tolka modellens output som en sannolikhet.</a:t>
            </a:r>
          </a:p>
          <a:p>
            <a:r>
              <a:rPr lang="sv-SE" dirty="0"/>
              <a:t>Om vi till exempel har ett binärt klassificeringsproblem, där modellen ska avgöra om något tillhör klass ett eller inte, då är det naturligt att vilja ha ett outputvärde som ligger mellan noll och ett. Då passar </a:t>
            </a:r>
            <a:r>
              <a:rPr lang="sv-SE" dirty="0" err="1"/>
              <a:t>sigmoid</a:t>
            </a:r>
            <a:r>
              <a:rPr lang="sv-SE" dirty="0"/>
              <a:t> mycket bra i output-lagret.</a:t>
            </a:r>
          </a:p>
          <a:p>
            <a:r>
              <a:rPr lang="sv-SE" dirty="0"/>
              <a:t>Det här betyder inte att </a:t>
            </a:r>
            <a:r>
              <a:rPr lang="sv-SE" dirty="0" err="1"/>
              <a:t>sigmoid</a:t>
            </a:r>
            <a:r>
              <a:rPr lang="sv-SE" dirty="0"/>
              <a:t> är det bästa valet överallt i nätverket. I många moderna nätverk används den inte så ofta i dolda lager. Men som outputfunktion i binär klassificering är den fortfarande väldigt central och väldigt viktig att förstå.</a:t>
            </a:r>
          </a:p>
          <a:p>
            <a:r>
              <a:rPr lang="sv-SE" dirty="0"/>
              <a:t>Så här börjar man se ett tydligt mönster:</a:t>
            </a:r>
            <a:br>
              <a:rPr lang="sv-SE" dirty="0"/>
            </a:br>
            <a:r>
              <a:rPr lang="sv-SE" dirty="0" err="1"/>
              <a:t>ReLU</a:t>
            </a:r>
            <a:r>
              <a:rPr lang="sv-SE" dirty="0"/>
              <a:t> ofta i </a:t>
            </a:r>
            <a:r>
              <a:rPr lang="sv-SE" dirty="0" err="1"/>
              <a:t>hidden</a:t>
            </a:r>
            <a:r>
              <a:rPr lang="sv-SE" dirty="0"/>
              <a:t> </a:t>
            </a:r>
            <a:r>
              <a:rPr lang="sv-SE" dirty="0" err="1"/>
              <a:t>layers</a:t>
            </a:r>
            <a:r>
              <a:rPr lang="sv-SE" dirty="0"/>
              <a:t>,</a:t>
            </a:r>
            <a:br>
              <a:rPr lang="sv-SE" dirty="0"/>
            </a:br>
            <a:r>
              <a:rPr lang="sv-SE" dirty="0" err="1"/>
              <a:t>sigmoid</a:t>
            </a:r>
            <a:r>
              <a:rPr lang="sv-SE" dirty="0"/>
              <a:t> ofta i output-lagret vid binär klassificering.</a:t>
            </a:r>
          </a:p>
        </p:txBody>
      </p:sp>
      <p:sp>
        <p:nvSpPr>
          <p:cNvPr id="4" name="Platshållare för bildnummer 3">
            <a:extLst>
              <a:ext uri="{FF2B5EF4-FFF2-40B4-BE49-F238E27FC236}">
                <a16:creationId xmlns:a16="http://schemas.microsoft.com/office/drawing/2014/main" id="{96D7AB99-E614-A9C9-B81F-00F855F3F2EF}"/>
              </a:ext>
            </a:extLst>
          </p:cNvPr>
          <p:cNvSpPr>
            <a:spLocks noGrp="1"/>
          </p:cNvSpPr>
          <p:nvPr>
            <p:ph type="sldNum" sz="quarter" idx="5"/>
          </p:nvPr>
        </p:nvSpPr>
        <p:spPr/>
        <p:txBody>
          <a:bodyPr/>
          <a:lstStyle/>
          <a:p>
            <a:fld id="{DFF15893-0DF5-4007-BFB5-41D74726C9CD}" type="slidenum">
              <a:rPr lang="en-SE" smtClean="0"/>
              <a:t>5</a:t>
            </a:fld>
            <a:endParaRPr lang="en-SE"/>
          </a:p>
        </p:txBody>
      </p:sp>
    </p:spTree>
    <p:extLst>
      <p:ext uri="{BB962C8B-B14F-4D97-AF65-F5344CB8AC3E}">
        <p14:creationId xmlns:p14="http://schemas.microsoft.com/office/powerpoint/2010/main" val="36386990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0B958-393A-21F4-11B1-5ED60C15A9DA}"/>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CB88BF86-A5F7-AD8C-AE34-CCA3E07A1BBE}"/>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FE4C67D2-D755-B8B9-1392-B7462399A546}"/>
              </a:ext>
            </a:extLst>
          </p:cNvPr>
          <p:cNvSpPr>
            <a:spLocks noGrp="1"/>
          </p:cNvSpPr>
          <p:nvPr>
            <p:ph type="body" idx="1"/>
          </p:nvPr>
        </p:nvSpPr>
        <p:spPr/>
        <p:txBody>
          <a:bodyPr/>
          <a:lstStyle/>
          <a:p>
            <a:r>
              <a:rPr lang="sv-SE" dirty="0"/>
              <a:t>Om vi går från två klasser till flera klasser behöver vi något annat än </a:t>
            </a:r>
            <a:r>
              <a:rPr lang="sv-SE" dirty="0" err="1"/>
              <a:t>sigmoid</a:t>
            </a:r>
            <a:r>
              <a:rPr lang="sv-SE" dirty="0"/>
              <a:t>.</a:t>
            </a:r>
          </a:p>
          <a:p>
            <a:r>
              <a:rPr lang="sv-SE" dirty="0"/>
              <a:t>Då använder man ofta </a:t>
            </a:r>
            <a:r>
              <a:rPr lang="sv-SE" dirty="0" err="1"/>
              <a:t>softmax</a:t>
            </a:r>
            <a:r>
              <a:rPr lang="sv-SE" dirty="0"/>
              <a:t> i output-lagret.</a:t>
            </a:r>
          </a:p>
          <a:p>
            <a:r>
              <a:rPr lang="sv-SE" dirty="0"/>
              <a:t>Poängen med </a:t>
            </a:r>
            <a:r>
              <a:rPr lang="sv-SE" dirty="0" err="1"/>
              <a:t>softmax</a:t>
            </a:r>
            <a:r>
              <a:rPr lang="sv-SE" dirty="0"/>
              <a:t> är att modellen kan ge flera sannolikheter samtidigt, en för varje möjlig klass. Så i stället för ett enda värde mellan noll och ett får vi till exempel något som 0,70 för katt, 0,20 för hund och 0,10 för fågel.</a:t>
            </a:r>
          </a:p>
          <a:p>
            <a:r>
              <a:rPr lang="sv-SE" dirty="0"/>
              <a:t>Det gör att modellen inte bara väljer en klass, utan också visar hur den fördelar sin tro mellan flera alternativ.</a:t>
            </a:r>
          </a:p>
          <a:p>
            <a:r>
              <a:rPr lang="sv-SE" dirty="0"/>
              <a:t>Du behöver inte kunna </a:t>
            </a:r>
            <a:r>
              <a:rPr lang="sv-SE" dirty="0" err="1"/>
              <a:t>softmax</a:t>
            </a:r>
            <a:r>
              <a:rPr lang="sv-SE" dirty="0"/>
              <a:t> matematiskt i detalj just nu. Det viktiga är att förstå när den används: när vi har multiklassklassificering och vill ha flera sannolikheter ut.</a:t>
            </a:r>
          </a:p>
          <a:p>
            <a:r>
              <a:rPr lang="sv-SE" dirty="0"/>
              <a:t>Så här får vi en väldigt enkel tumregel:</a:t>
            </a:r>
          </a:p>
          <a:p>
            <a:r>
              <a:rPr lang="sv-SE" dirty="0"/>
              <a:t>binär klassificering → ofta </a:t>
            </a:r>
            <a:r>
              <a:rPr lang="sv-SE" dirty="0" err="1"/>
              <a:t>sigmoid</a:t>
            </a:r>
            <a:r>
              <a:rPr lang="sv-SE" dirty="0"/>
              <a:t> </a:t>
            </a:r>
          </a:p>
          <a:p>
            <a:r>
              <a:rPr lang="sv-SE" dirty="0"/>
              <a:t>multiklassklassificering → ofta </a:t>
            </a:r>
            <a:r>
              <a:rPr lang="sv-SE" dirty="0" err="1"/>
              <a:t>softmax</a:t>
            </a:r>
            <a:endParaRPr lang="sv-SE" dirty="0"/>
          </a:p>
        </p:txBody>
      </p:sp>
      <p:sp>
        <p:nvSpPr>
          <p:cNvPr id="4" name="Platshållare för bildnummer 3">
            <a:extLst>
              <a:ext uri="{FF2B5EF4-FFF2-40B4-BE49-F238E27FC236}">
                <a16:creationId xmlns:a16="http://schemas.microsoft.com/office/drawing/2014/main" id="{B6F1CB47-A5C4-BC6E-FEE9-D4C784A193C0}"/>
              </a:ext>
            </a:extLst>
          </p:cNvPr>
          <p:cNvSpPr>
            <a:spLocks noGrp="1"/>
          </p:cNvSpPr>
          <p:nvPr>
            <p:ph type="sldNum" sz="quarter" idx="5"/>
          </p:nvPr>
        </p:nvSpPr>
        <p:spPr/>
        <p:txBody>
          <a:bodyPr/>
          <a:lstStyle/>
          <a:p>
            <a:fld id="{DFF15893-0DF5-4007-BFB5-41D74726C9CD}" type="slidenum">
              <a:rPr lang="en-SE" smtClean="0"/>
              <a:t>6</a:t>
            </a:fld>
            <a:endParaRPr lang="en-SE"/>
          </a:p>
        </p:txBody>
      </p:sp>
    </p:spTree>
    <p:extLst>
      <p:ext uri="{BB962C8B-B14F-4D97-AF65-F5344CB8AC3E}">
        <p14:creationId xmlns:p14="http://schemas.microsoft.com/office/powerpoint/2010/main" val="850585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C3566-3658-7C0F-8E6A-5D9A37AAAA38}"/>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CE8AD96C-604A-16FD-81FD-5896A0CCA75F}"/>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8727106D-D516-A887-6A1F-AE375A6E7AF8}"/>
              </a:ext>
            </a:extLst>
          </p:cNvPr>
          <p:cNvSpPr>
            <a:spLocks noGrp="1"/>
          </p:cNvSpPr>
          <p:nvPr>
            <p:ph type="body" idx="1"/>
          </p:nvPr>
        </p:nvSpPr>
        <p:spPr/>
        <p:txBody>
          <a:bodyPr/>
          <a:lstStyle/>
          <a:p>
            <a:r>
              <a:rPr lang="sv-SE" dirty="0"/>
              <a:t>Regression är ett lite annat fall.</a:t>
            </a:r>
          </a:p>
          <a:p>
            <a:r>
              <a:rPr lang="sv-SE" dirty="0"/>
              <a:t>Där vill vi inte ha en sannolikhet och vi vill inte ha en sannolikhetsfördelning över flera klasser. Vi vill ha ett numeriskt värde. Det kan vara ett pris, en temperatur, en försäljningsprognos eller något annat kontinuerligt tal.</a:t>
            </a:r>
          </a:p>
          <a:p>
            <a:r>
              <a:rPr lang="sv-SE" dirty="0"/>
              <a:t>Därför har regressionsmodeller ofta ett output-lager med en enda neuron, men utan en aktiveringsfunktion som pressar outputen till exempelvis intervallet mellan noll och ett.</a:t>
            </a:r>
          </a:p>
          <a:p>
            <a:r>
              <a:rPr lang="sv-SE" dirty="0"/>
              <a:t>Det här är viktigt att förstå, för annars är det lätt att tro att alla neurala nätverk alltid ska sluta med </a:t>
            </a:r>
            <a:r>
              <a:rPr lang="sv-SE" dirty="0" err="1"/>
              <a:t>sigmoid</a:t>
            </a:r>
            <a:r>
              <a:rPr lang="sv-SE" dirty="0"/>
              <a:t> eller </a:t>
            </a:r>
            <a:r>
              <a:rPr lang="sv-SE" dirty="0" err="1"/>
              <a:t>softmax</a:t>
            </a:r>
            <a:r>
              <a:rPr lang="sv-SE" dirty="0"/>
              <a:t>. Men det beror helt på problemtypen.</a:t>
            </a:r>
          </a:p>
          <a:p>
            <a:r>
              <a:rPr lang="sv-SE" dirty="0"/>
              <a:t>Så nu har vi en första tydlig uppdelning:</a:t>
            </a:r>
          </a:p>
          <a:p>
            <a:r>
              <a:rPr lang="sv-SE" dirty="0"/>
              <a:t>regression → ett tal ut </a:t>
            </a:r>
          </a:p>
          <a:p>
            <a:r>
              <a:rPr lang="sv-SE" dirty="0"/>
              <a:t>binär klassificering → sannolikhet för en klass </a:t>
            </a:r>
          </a:p>
          <a:p>
            <a:r>
              <a:rPr lang="sv-SE" dirty="0"/>
              <a:t>multiklassklassificering → flera sannolikheter </a:t>
            </a:r>
          </a:p>
          <a:p>
            <a:r>
              <a:rPr lang="sv-SE" dirty="0"/>
              <a:t>Det här är precis den typen av förståelse som gör det lättare att bygga rätt modell senare i kod.</a:t>
            </a:r>
          </a:p>
        </p:txBody>
      </p:sp>
      <p:sp>
        <p:nvSpPr>
          <p:cNvPr id="4" name="Platshållare för bildnummer 3">
            <a:extLst>
              <a:ext uri="{FF2B5EF4-FFF2-40B4-BE49-F238E27FC236}">
                <a16:creationId xmlns:a16="http://schemas.microsoft.com/office/drawing/2014/main" id="{15A4A8BA-7D35-815B-711E-DE9AC8AA2FAB}"/>
              </a:ext>
            </a:extLst>
          </p:cNvPr>
          <p:cNvSpPr>
            <a:spLocks noGrp="1"/>
          </p:cNvSpPr>
          <p:nvPr>
            <p:ph type="sldNum" sz="quarter" idx="5"/>
          </p:nvPr>
        </p:nvSpPr>
        <p:spPr/>
        <p:txBody>
          <a:bodyPr/>
          <a:lstStyle/>
          <a:p>
            <a:fld id="{DFF15893-0DF5-4007-BFB5-41D74726C9CD}" type="slidenum">
              <a:rPr lang="en-SE" smtClean="0"/>
              <a:t>7</a:t>
            </a:fld>
            <a:endParaRPr lang="en-SE"/>
          </a:p>
        </p:txBody>
      </p:sp>
    </p:spTree>
    <p:extLst>
      <p:ext uri="{BB962C8B-B14F-4D97-AF65-F5344CB8AC3E}">
        <p14:creationId xmlns:p14="http://schemas.microsoft.com/office/powerpoint/2010/main" val="2717602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09EC0-8280-960E-6A14-BBDDBA8D7745}"/>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2FE9B5B0-9A60-CD8E-CE5F-E6ACE8731024}"/>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4921B555-2007-D7BD-3694-873B254E4980}"/>
              </a:ext>
            </a:extLst>
          </p:cNvPr>
          <p:cNvSpPr>
            <a:spLocks noGrp="1"/>
          </p:cNvSpPr>
          <p:nvPr>
            <p:ph type="body" idx="1"/>
          </p:nvPr>
        </p:nvSpPr>
        <p:spPr/>
        <p:txBody>
          <a:bodyPr/>
          <a:lstStyle/>
          <a:p>
            <a:r>
              <a:rPr lang="sv-SE" dirty="0"/>
              <a:t>Det kan också vara bra att göra en kort jämförelse med något man kanske redan känner igen från klassisk </a:t>
            </a:r>
            <a:r>
              <a:rPr lang="sv-SE" dirty="0" err="1"/>
              <a:t>machine</a:t>
            </a:r>
            <a:r>
              <a:rPr lang="sv-SE" dirty="0"/>
              <a:t> </a:t>
            </a:r>
            <a:r>
              <a:rPr lang="sv-SE" dirty="0" err="1"/>
              <a:t>learning</a:t>
            </a:r>
            <a:r>
              <a:rPr lang="sv-SE" dirty="0"/>
              <a:t>.</a:t>
            </a:r>
          </a:p>
          <a:p>
            <a:r>
              <a:rPr lang="sv-SE" dirty="0"/>
              <a:t>Om vi tar logistisk regression som exempel så använder även den en </a:t>
            </a:r>
            <a:r>
              <a:rPr lang="sv-SE" dirty="0" err="1"/>
              <a:t>sigmoidfunktion</a:t>
            </a:r>
            <a:r>
              <a:rPr lang="sv-SE" dirty="0"/>
              <a:t> för att kunna ge en sannolikhet i binär klassificering. Det betyder att kopplingen mellan </a:t>
            </a:r>
            <a:r>
              <a:rPr lang="sv-SE" dirty="0" err="1"/>
              <a:t>sigmoid</a:t>
            </a:r>
            <a:r>
              <a:rPr lang="sv-SE" dirty="0"/>
              <a:t> och sannolikhet inte är unik för neurala nätverk.</a:t>
            </a:r>
          </a:p>
          <a:p>
            <a:r>
              <a:rPr lang="sv-SE" dirty="0"/>
              <a:t>Skillnaden är att logistisk regression i grunden är mycket enklare i sin struktur. Den har inte flera dolda lager som stegvis bygger upp mer komplexa representationer.</a:t>
            </a:r>
          </a:p>
          <a:p>
            <a:r>
              <a:rPr lang="sv-SE" dirty="0"/>
              <a:t>Ett neuralt nätverk däremot kan ha flera lager, använda till exempel </a:t>
            </a:r>
            <a:r>
              <a:rPr lang="sv-SE" dirty="0" err="1"/>
              <a:t>ReLU</a:t>
            </a:r>
            <a:r>
              <a:rPr lang="sv-SE" dirty="0"/>
              <a:t> i de dolda lagren och sedan använda </a:t>
            </a:r>
            <a:r>
              <a:rPr lang="sv-SE" dirty="0" err="1"/>
              <a:t>sigmoid</a:t>
            </a:r>
            <a:r>
              <a:rPr lang="sv-SE" dirty="0"/>
              <a:t> eller </a:t>
            </a:r>
            <a:r>
              <a:rPr lang="sv-SE" dirty="0" err="1"/>
              <a:t>softmax</a:t>
            </a:r>
            <a:r>
              <a:rPr lang="sv-SE" dirty="0"/>
              <a:t> längst ut beroende på problemet.</a:t>
            </a:r>
          </a:p>
          <a:p>
            <a:r>
              <a:rPr lang="sv-SE" dirty="0"/>
              <a:t>Så likheten är att båda kan ge sannolikheter. Skillnaden är att vägen till den sannolikheten kan vara mycket mer komplex i ett neuralt nätverk.</a:t>
            </a:r>
          </a:p>
          <a:p>
            <a:r>
              <a:rPr lang="sv-SE" dirty="0"/>
              <a:t>Det här är bra att ha med sig, eftersom det hjälper oss att se både kontinuiteten och skillnaden mellan klassisk </a:t>
            </a:r>
            <a:r>
              <a:rPr lang="sv-SE" dirty="0" err="1"/>
              <a:t>machine</a:t>
            </a:r>
            <a:r>
              <a:rPr lang="sv-SE" dirty="0"/>
              <a:t> </a:t>
            </a:r>
            <a:r>
              <a:rPr lang="sv-SE" dirty="0" err="1"/>
              <a:t>learning</a:t>
            </a:r>
            <a:r>
              <a:rPr lang="sv-SE" dirty="0"/>
              <a:t> och </a:t>
            </a:r>
            <a:r>
              <a:rPr lang="sv-SE" dirty="0" err="1"/>
              <a:t>deep</a:t>
            </a:r>
            <a:r>
              <a:rPr lang="sv-SE" dirty="0"/>
              <a:t> </a:t>
            </a:r>
            <a:r>
              <a:rPr lang="sv-SE" dirty="0" err="1"/>
              <a:t>learning</a:t>
            </a:r>
            <a:r>
              <a:rPr lang="sv-SE" dirty="0"/>
              <a:t>.</a:t>
            </a:r>
          </a:p>
        </p:txBody>
      </p:sp>
      <p:sp>
        <p:nvSpPr>
          <p:cNvPr id="4" name="Platshållare för bildnummer 3">
            <a:extLst>
              <a:ext uri="{FF2B5EF4-FFF2-40B4-BE49-F238E27FC236}">
                <a16:creationId xmlns:a16="http://schemas.microsoft.com/office/drawing/2014/main" id="{83E8D869-5B84-3E63-5BD1-3B25D4BAEEC1}"/>
              </a:ext>
            </a:extLst>
          </p:cNvPr>
          <p:cNvSpPr>
            <a:spLocks noGrp="1"/>
          </p:cNvSpPr>
          <p:nvPr>
            <p:ph type="sldNum" sz="quarter" idx="5"/>
          </p:nvPr>
        </p:nvSpPr>
        <p:spPr/>
        <p:txBody>
          <a:bodyPr/>
          <a:lstStyle/>
          <a:p>
            <a:fld id="{DFF15893-0DF5-4007-BFB5-41D74726C9CD}" type="slidenum">
              <a:rPr lang="en-SE" smtClean="0"/>
              <a:t>8</a:t>
            </a:fld>
            <a:endParaRPr lang="en-SE"/>
          </a:p>
        </p:txBody>
      </p:sp>
    </p:spTree>
    <p:extLst>
      <p:ext uri="{BB962C8B-B14F-4D97-AF65-F5344CB8AC3E}">
        <p14:creationId xmlns:p14="http://schemas.microsoft.com/office/powerpoint/2010/main" val="1037621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B9627-09E0-BCAC-B823-87497465122B}"/>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C2B7DB29-75D6-E04E-DF02-226CB49CD245}"/>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0788771C-A38F-60E3-EA9F-97F913115FB8}"/>
              </a:ext>
            </a:extLst>
          </p:cNvPr>
          <p:cNvSpPr>
            <a:spLocks noGrp="1"/>
          </p:cNvSpPr>
          <p:nvPr>
            <p:ph type="body" idx="1"/>
          </p:nvPr>
        </p:nvSpPr>
        <p:spPr/>
        <p:txBody>
          <a:bodyPr/>
          <a:lstStyle/>
          <a:p>
            <a:r>
              <a:rPr lang="sv-SE" dirty="0"/>
              <a:t>Nu kommer vi till nästa viktiga del: loss.</a:t>
            </a:r>
          </a:p>
          <a:p>
            <a:r>
              <a:rPr lang="sv-SE" dirty="0"/>
              <a:t>Loss är i grunden ett mått på hur fel modellen hade. Modellen gör en prediktion, vi jämför den med det sanna värdet, och utifrån det får vi ett </a:t>
            </a:r>
            <a:r>
              <a:rPr lang="sv-SE" dirty="0" err="1"/>
              <a:t>felmått</a:t>
            </a:r>
            <a:r>
              <a:rPr lang="sv-SE" dirty="0"/>
              <a:t>.</a:t>
            </a:r>
          </a:p>
          <a:p>
            <a:r>
              <a:rPr lang="sv-SE" dirty="0"/>
              <a:t>Det här är viktigt eftersom modellen under träningen behöver någon signal om hur bra eller dåligt den just nu presterar. Loss fungerar som den signalen.</a:t>
            </a:r>
          </a:p>
          <a:p>
            <a:r>
              <a:rPr lang="sv-SE" dirty="0"/>
              <a:t>Man kan alltså tänka att loss är modellens sätt att få återkoppling. Om prediktionerna ligger långt ifrån det vi vill ha, då blir loss större. Om modellen blir bättre, då vill vi att loss ska minska.</a:t>
            </a:r>
          </a:p>
          <a:p>
            <a:r>
              <a:rPr lang="sv-SE" dirty="0"/>
              <a:t>Det här är också varför valet av loss-funktion måste passa problemet. Binär klassificering och regression använder till exempel inte samma typ av loss.</a:t>
            </a:r>
          </a:p>
          <a:p>
            <a:r>
              <a:rPr lang="sv-SE" dirty="0"/>
              <a:t>Vi behöver inte gå på djupet i olika loss-funktioner riktigt ännu, men vi måste förstå själva idén: loss berättar för modellen hur fel den har.</a:t>
            </a:r>
          </a:p>
          <a:p>
            <a:r>
              <a:rPr lang="sv-SE" dirty="0"/>
              <a:t>Det här är bara en enkel intuition för fel, inte en exakt formel för alla loss-funktioner.</a:t>
            </a:r>
          </a:p>
        </p:txBody>
      </p:sp>
      <p:sp>
        <p:nvSpPr>
          <p:cNvPr id="4" name="Platshållare för bildnummer 3">
            <a:extLst>
              <a:ext uri="{FF2B5EF4-FFF2-40B4-BE49-F238E27FC236}">
                <a16:creationId xmlns:a16="http://schemas.microsoft.com/office/drawing/2014/main" id="{1FC977F4-54AE-D50F-7462-683B94702650}"/>
              </a:ext>
            </a:extLst>
          </p:cNvPr>
          <p:cNvSpPr>
            <a:spLocks noGrp="1"/>
          </p:cNvSpPr>
          <p:nvPr>
            <p:ph type="sldNum" sz="quarter" idx="5"/>
          </p:nvPr>
        </p:nvSpPr>
        <p:spPr/>
        <p:txBody>
          <a:bodyPr/>
          <a:lstStyle/>
          <a:p>
            <a:fld id="{DFF15893-0DF5-4007-BFB5-41D74726C9CD}" type="slidenum">
              <a:rPr lang="en-SE" smtClean="0"/>
              <a:t>9</a:t>
            </a:fld>
            <a:endParaRPr lang="en-SE"/>
          </a:p>
        </p:txBody>
      </p:sp>
    </p:spTree>
    <p:extLst>
      <p:ext uri="{BB962C8B-B14F-4D97-AF65-F5344CB8AC3E}">
        <p14:creationId xmlns:p14="http://schemas.microsoft.com/office/powerpoint/2010/main" val="1020895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54A15-EABB-E8ED-281C-59EE6056FB20}"/>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ACBF1DDC-AE68-7AAA-F876-708708B0082F}"/>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68DF9C9C-18D0-55EE-6791-B6311411CF3B}"/>
              </a:ext>
            </a:extLst>
          </p:cNvPr>
          <p:cNvSpPr>
            <a:spLocks noGrp="1"/>
          </p:cNvSpPr>
          <p:nvPr>
            <p:ph type="body" idx="1"/>
          </p:nvPr>
        </p:nvSpPr>
        <p:spPr/>
        <p:txBody>
          <a:bodyPr/>
          <a:lstStyle/>
          <a:p>
            <a:r>
              <a:rPr lang="sv-SE" dirty="0"/>
              <a:t>Om loss berättar hur fel modellen har, då är nästa fråga: hur blir modellen bättre?</a:t>
            </a:r>
          </a:p>
          <a:p>
            <a:r>
              <a:rPr lang="sv-SE" dirty="0"/>
              <a:t>Det är här </a:t>
            </a:r>
            <a:r>
              <a:rPr lang="sv-SE" dirty="0" err="1"/>
              <a:t>optimizer</a:t>
            </a:r>
            <a:r>
              <a:rPr lang="sv-SE" dirty="0"/>
              <a:t> kommer in.</a:t>
            </a:r>
          </a:p>
          <a:p>
            <a:r>
              <a:rPr lang="sv-SE" dirty="0"/>
              <a:t>En </a:t>
            </a:r>
            <a:r>
              <a:rPr lang="sv-SE" dirty="0" err="1"/>
              <a:t>optimizer</a:t>
            </a:r>
            <a:r>
              <a:rPr lang="sv-SE" dirty="0"/>
              <a:t> är den metod som används för att justera modellens parametrar, alltså framför allt vikter och bias, så att loss förhoppningsvis minskar över tid.</a:t>
            </a:r>
          </a:p>
          <a:p>
            <a:r>
              <a:rPr lang="sv-SE" dirty="0"/>
              <a:t>Så man kan tänka väldigt enkelt så här:</a:t>
            </a:r>
            <a:br>
              <a:rPr lang="sv-SE" dirty="0"/>
            </a:br>
            <a:r>
              <a:rPr lang="sv-SE" dirty="0"/>
              <a:t>loss berättar hur dåligt modellen presterade,</a:t>
            </a:r>
            <a:br>
              <a:rPr lang="sv-SE" dirty="0"/>
            </a:br>
            <a:r>
              <a:rPr lang="sv-SE" dirty="0" err="1"/>
              <a:t>optimizer</a:t>
            </a:r>
            <a:r>
              <a:rPr lang="sv-SE" dirty="0"/>
              <a:t> försöker använda den informationen för att flytta modellen i en bättre riktning.</a:t>
            </a:r>
          </a:p>
          <a:p>
            <a:r>
              <a:rPr lang="sv-SE" dirty="0"/>
              <a:t>Det här är alltså träningsmekanismens praktiska motor. I </a:t>
            </a:r>
            <a:r>
              <a:rPr lang="sv-SE" dirty="0" err="1"/>
              <a:t>Keras</a:t>
            </a:r>
            <a:r>
              <a:rPr lang="sv-SE" dirty="0"/>
              <a:t> kommer man ofta se något som </a:t>
            </a:r>
            <a:r>
              <a:rPr lang="sv-SE" sz="1200" kern="1200" dirty="0" err="1">
                <a:solidFill>
                  <a:schemeClr val="tx1"/>
                </a:solidFill>
                <a:latin typeface="+mn-lt"/>
                <a:ea typeface="+mn-ea"/>
                <a:cs typeface="+mn-cs"/>
              </a:rPr>
              <a:t>optimizer</a:t>
            </a:r>
            <a:r>
              <a:rPr lang="sv-SE" sz="1200" kern="1200" dirty="0">
                <a:solidFill>
                  <a:schemeClr val="tx1"/>
                </a:solidFill>
                <a:latin typeface="+mn-lt"/>
                <a:ea typeface="+mn-ea"/>
                <a:cs typeface="+mn-cs"/>
              </a:rPr>
              <a:t>="</a:t>
            </a:r>
            <a:r>
              <a:rPr lang="sv-SE" sz="1200" kern="1200" dirty="0" err="1">
                <a:solidFill>
                  <a:schemeClr val="tx1"/>
                </a:solidFill>
                <a:latin typeface="+mn-lt"/>
                <a:ea typeface="+mn-ea"/>
                <a:cs typeface="+mn-cs"/>
              </a:rPr>
              <a:t>adam</a:t>
            </a:r>
            <a:r>
              <a:rPr lang="sv-SE" sz="1200" kern="1200" dirty="0">
                <a:solidFill>
                  <a:schemeClr val="tx1"/>
                </a:solidFill>
                <a:latin typeface="+mn-lt"/>
                <a:ea typeface="+mn-ea"/>
                <a:cs typeface="+mn-cs"/>
              </a:rPr>
              <a:t>"</a:t>
            </a:r>
            <a:r>
              <a:rPr lang="sv-SE" dirty="0"/>
              <a:t>. Då betyder det att vi använder Adam som metod för att uppdatera parametrarna under träningen.</a:t>
            </a:r>
          </a:p>
          <a:p>
            <a:r>
              <a:rPr lang="sv-SE" dirty="0"/>
              <a:t>Du behöver inte kunna alla detaljer i hur Adam fungerar ännu. Men du behöver förstå rollen: </a:t>
            </a:r>
            <a:r>
              <a:rPr lang="sv-SE" dirty="0" err="1"/>
              <a:t>optimizer</a:t>
            </a:r>
            <a:r>
              <a:rPr lang="sv-SE" dirty="0"/>
              <a:t> är det som hjälper modellen att lära sig genom att justera parametrarna steg för steg.</a:t>
            </a:r>
          </a:p>
        </p:txBody>
      </p:sp>
      <p:sp>
        <p:nvSpPr>
          <p:cNvPr id="4" name="Platshållare för bildnummer 3">
            <a:extLst>
              <a:ext uri="{FF2B5EF4-FFF2-40B4-BE49-F238E27FC236}">
                <a16:creationId xmlns:a16="http://schemas.microsoft.com/office/drawing/2014/main" id="{024AA1DA-3CB2-B1AC-696B-B1CE1B539E77}"/>
              </a:ext>
            </a:extLst>
          </p:cNvPr>
          <p:cNvSpPr>
            <a:spLocks noGrp="1"/>
          </p:cNvSpPr>
          <p:nvPr>
            <p:ph type="sldNum" sz="quarter" idx="5"/>
          </p:nvPr>
        </p:nvSpPr>
        <p:spPr/>
        <p:txBody>
          <a:bodyPr/>
          <a:lstStyle/>
          <a:p>
            <a:fld id="{DFF15893-0DF5-4007-BFB5-41D74726C9CD}" type="slidenum">
              <a:rPr lang="en-SE" smtClean="0"/>
              <a:t>10</a:t>
            </a:fld>
            <a:endParaRPr lang="en-SE"/>
          </a:p>
        </p:txBody>
      </p:sp>
    </p:spTree>
    <p:extLst>
      <p:ext uri="{BB962C8B-B14F-4D97-AF65-F5344CB8AC3E}">
        <p14:creationId xmlns:p14="http://schemas.microsoft.com/office/powerpoint/2010/main" val="2841263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B7E7C-4D99-BA96-48BB-6776FF3DA113}"/>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C98ECAD5-033E-ADC7-91B4-AC378DBD24E5}"/>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3DDB37D2-A461-FE70-888C-C759777D3068}"/>
              </a:ext>
            </a:extLst>
          </p:cNvPr>
          <p:cNvSpPr>
            <a:spLocks noGrp="1"/>
          </p:cNvSpPr>
          <p:nvPr>
            <p:ph type="body" idx="1"/>
          </p:nvPr>
        </p:nvSpPr>
        <p:spPr/>
        <p:txBody>
          <a:bodyPr/>
          <a:lstStyle/>
          <a:p>
            <a:r>
              <a:rPr lang="sv-SE" dirty="0"/>
              <a:t>Det finns en sista sak som är bra att nämna redan nu, även om vi inte ska gå djupt in i den ännu, och det är regularisering.</a:t>
            </a:r>
          </a:p>
          <a:p>
            <a:r>
              <a:rPr lang="sv-SE" dirty="0"/>
              <a:t>När modeller blir mer flexibla och mer kraftfulla ökar också risken att de överanpassar, alltså att de blir väldigt bra på </a:t>
            </a:r>
            <a:r>
              <a:rPr lang="sv-SE" dirty="0" err="1"/>
              <a:t>träningsdatan</a:t>
            </a:r>
            <a:r>
              <a:rPr lang="sv-SE" dirty="0"/>
              <a:t> men sämre på ny data.</a:t>
            </a:r>
          </a:p>
          <a:p>
            <a:r>
              <a:rPr lang="sv-SE" dirty="0"/>
              <a:t>Därför finns det olika tekniker som hjälper oss att motverka det här. Exempel på sådana tekniker är </a:t>
            </a:r>
            <a:r>
              <a:rPr lang="sv-SE" dirty="0" err="1"/>
              <a:t>dropout</a:t>
            </a:r>
            <a:r>
              <a:rPr lang="sv-SE" dirty="0"/>
              <a:t>, olika former av regularisering som påverkar vikterna, och saker som </a:t>
            </a:r>
            <a:r>
              <a:rPr lang="sv-SE" dirty="0" err="1"/>
              <a:t>early</a:t>
            </a:r>
            <a:r>
              <a:rPr lang="sv-SE" dirty="0"/>
              <a:t> </a:t>
            </a:r>
            <a:r>
              <a:rPr lang="sv-SE" dirty="0" err="1"/>
              <a:t>stopping</a:t>
            </a:r>
            <a:r>
              <a:rPr lang="sv-SE" dirty="0"/>
              <a:t>.</a:t>
            </a:r>
          </a:p>
          <a:p>
            <a:r>
              <a:rPr lang="sv-SE" dirty="0"/>
              <a:t>Vi ska inte gå igenom dem ordentligt ännu. Det kommer senare när vi fokuserar på träning, </a:t>
            </a:r>
            <a:r>
              <a:rPr lang="sv-SE" dirty="0" err="1"/>
              <a:t>overfitting</a:t>
            </a:r>
            <a:r>
              <a:rPr lang="sv-SE" dirty="0"/>
              <a:t> och modellförbättring. Men det är bra att redan nu plantera idén att modellbygge inte bara handlar om att lägga till fler lager. Det handlar också om att försöka få modellen att generalisera bra.</a:t>
            </a:r>
          </a:p>
        </p:txBody>
      </p:sp>
      <p:sp>
        <p:nvSpPr>
          <p:cNvPr id="4" name="Platshållare för bildnummer 3">
            <a:extLst>
              <a:ext uri="{FF2B5EF4-FFF2-40B4-BE49-F238E27FC236}">
                <a16:creationId xmlns:a16="http://schemas.microsoft.com/office/drawing/2014/main" id="{9D9E7DAA-B7AE-E7FB-FED5-F7907E4B7868}"/>
              </a:ext>
            </a:extLst>
          </p:cNvPr>
          <p:cNvSpPr>
            <a:spLocks noGrp="1"/>
          </p:cNvSpPr>
          <p:nvPr>
            <p:ph type="sldNum" sz="quarter" idx="5"/>
          </p:nvPr>
        </p:nvSpPr>
        <p:spPr/>
        <p:txBody>
          <a:bodyPr/>
          <a:lstStyle/>
          <a:p>
            <a:fld id="{DFF15893-0DF5-4007-BFB5-41D74726C9CD}" type="slidenum">
              <a:rPr lang="en-SE" smtClean="0"/>
              <a:t>11</a:t>
            </a:fld>
            <a:endParaRPr lang="en-SE"/>
          </a:p>
        </p:txBody>
      </p:sp>
    </p:spTree>
    <p:extLst>
      <p:ext uri="{BB962C8B-B14F-4D97-AF65-F5344CB8AC3E}">
        <p14:creationId xmlns:p14="http://schemas.microsoft.com/office/powerpoint/2010/main" val="1146674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78E1B-1590-8F97-5F77-77D8DE9BAA8D}"/>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3AA9A05E-034E-2708-D777-F5713A2FC864}"/>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3A511A96-DBE1-4C1D-C47F-EADB3E36EB8F}"/>
              </a:ext>
            </a:extLst>
          </p:cNvPr>
          <p:cNvSpPr>
            <a:spLocks noGrp="1"/>
          </p:cNvSpPr>
          <p:nvPr>
            <p:ph type="body" idx="1"/>
          </p:nvPr>
        </p:nvSpPr>
        <p:spPr/>
        <p:txBody>
          <a:bodyPr/>
          <a:lstStyle/>
          <a:p>
            <a:r>
              <a:rPr lang="sv-SE" dirty="0"/>
              <a:t>Nu ska vi knyta ihop den här videon.</a:t>
            </a:r>
          </a:p>
          <a:p>
            <a:r>
              <a:rPr lang="sv-SE" dirty="0"/>
              <a:t>Det viktigaste att ta med sig är att designvalen i ett neuralt nätverk inte är slumpmässiga. De måste passa det problem vi försöker lösa.</a:t>
            </a:r>
          </a:p>
          <a:p>
            <a:r>
              <a:rPr lang="sv-SE" dirty="0" err="1"/>
              <a:t>ReLU</a:t>
            </a:r>
            <a:r>
              <a:rPr lang="sv-SE" dirty="0"/>
              <a:t> är ett vanligt val i dolda lager eftersom det är enkelt, praktiskt och ofta fungerar bra. </a:t>
            </a:r>
            <a:r>
              <a:rPr lang="sv-SE" dirty="0" err="1"/>
              <a:t>Sigmoid</a:t>
            </a:r>
            <a:r>
              <a:rPr lang="sv-SE" dirty="0"/>
              <a:t> passar ofta i binär klassificering när vi vill ha en sannolikhet mellan noll och ett. </a:t>
            </a:r>
            <a:r>
              <a:rPr lang="sv-SE" dirty="0" err="1"/>
              <a:t>Softmax</a:t>
            </a:r>
            <a:r>
              <a:rPr lang="sv-SE" dirty="0"/>
              <a:t> passar när vi har flera klasser och vill ha flera sannolikheter samtidigt. Och i regression vill vi ofta bara ha ett numeriskt värde ut.</a:t>
            </a:r>
          </a:p>
          <a:p>
            <a:r>
              <a:rPr lang="sv-SE" dirty="0"/>
              <a:t>Vi har också sett att modellen behöver en loss-funktion för att veta hur fel den har, och en </a:t>
            </a:r>
            <a:r>
              <a:rPr lang="sv-SE" dirty="0" err="1"/>
              <a:t>optimizer</a:t>
            </a:r>
            <a:r>
              <a:rPr lang="sv-SE" dirty="0"/>
              <a:t> för att kunna justera sina parametrar och gradvis bli bättre.</a:t>
            </a:r>
          </a:p>
          <a:p>
            <a:r>
              <a:rPr lang="sv-SE" dirty="0"/>
              <a:t>Och slutligen har vi planterat en viktig idé inför det som kommer senare: ju mer flexibel modellen blir, desto viktigare blir det också att tänka på generalisering och </a:t>
            </a:r>
            <a:r>
              <a:rPr lang="sv-SE" dirty="0" err="1"/>
              <a:t>overfitting</a:t>
            </a:r>
            <a:r>
              <a:rPr lang="sv-SE" dirty="0"/>
              <a:t>.</a:t>
            </a:r>
          </a:p>
          <a:p>
            <a:r>
              <a:rPr lang="sv-SE" dirty="0"/>
              <a:t>Med det här på plats är vi redo att gå vidare till nästa steg och faktiskt bygga modellen i </a:t>
            </a:r>
            <a:r>
              <a:rPr lang="sv-SE" dirty="0" err="1"/>
              <a:t>Keras</a:t>
            </a:r>
            <a:r>
              <a:rPr lang="sv-SE" dirty="0"/>
              <a:t>, där alla de här valen blir konkreta i kod.</a:t>
            </a:r>
          </a:p>
          <a:p>
            <a:endParaRPr lang="en-SE" dirty="0"/>
          </a:p>
        </p:txBody>
      </p:sp>
      <p:sp>
        <p:nvSpPr>
          <p:cNvPr id="4" name="Platshållare för bildnummer 3">
            <a:extLst>
              <a:ext uri="{FF2B5EF4-FFF2-40B4-BE49-F238E27FC236}">
                <a16:creationId xmlns:a16="http://schemas.microsoft.com/office/drawing/2014/main" id="{9947F5A6-6E10-100A-1A4A-707C654C257F}"/>
              </a:ext>
            </a:extLst>
          </p:cNvPr>
          <p:cNvSpPr>
            <a:spLocks noGrp="1"/>
          </p:cNvSpPr>
          <p:nvPr>
            <p:ph type="sldNum" sz="quarter" idx="5"/>
          </p:nvPr>
        </p:nvSpPr>
        <p:spPr/>
        <p:txBody>
          <a:bodyPr/>
          <a:lstStyle/>
          <a:p>
            <a:fld id="{DFF15893-0DF5-4007-BFB5-41D74726C9CD}" type="slidenum">
              <a:rPr lang="en-SE" smtClean="0"/>
              <a:t>12</a:t>
            </a:fld>
            <a:endParaRPr lang="en-SE"/>
          </a:p>
        </p:txBody>
      </p:sp>
    </p:spTree>
    <p:extLst>
      <p:ext uri="{BB962C8B-B14F-4D97-AF65-F5344CB8AC3E}">
        <p14:creationId xmlns:p14="http://schemas.microsoft.com/office/powerpoint/2010/main" val="2827602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3667B94-3AFB-D776-DC20-6291CA4D1D6E}"/>
              </a:ext>
            </a:extLst>
          </p:cNvPr>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endParaRPr lang="en-SE"/>
          </a:p>
        </p:txBody>
      </p:sp>
      <p:sp>
        <p:nvSpPr>
          <p:cNvPr id="3" name="Underrubrik 2">
            <a:extLst>
              <a:ext uri="{FF2B5EF4-FFF2-40B4-BE49-F238E27FC236}">
                <a16:creationId xmlns:a16="http://schemas.microsoft.com/office/drawing/2014/main" id="{581A1B2E-060E-FDA8-8E1F-BD03EA603C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endParaRPr lang="en-SE"/>
          </a:p>
        </p:txBody>
      </p:sp>
      <p:sp>
        <p:nvSpPr>
          <p:cNvPr id="4" name="Platshållare för datum 3">
            <a:extLst>
              <a:ext uri="{FF2B5EF4-FFF2-40B4-BE49-F238E27FC236}">
                <a16:creationId xmlns:a16="http://schemas.microsoft.com/office/drawing/2014/main" id="{28683EF3-55B7-B404-DFBA-488B1E383189}"/>
              </a:ext>
            </a:extLst>
          </p:cNvPr>
          <p:cNvSpPr>
            <a:spLocks noGrp="1"/>
          </p:cNvSpPr>
          <p:nvPr>
            <p:ph type="dt" sz="half" idx="10"/>
          </p:nvPr>
        </p:nvSpPr>
        <p:spPr/>
        <p:txBody>
          <a:bodyPr/>
          <a:lstStyle/>
          <a:p>
            <a:fld id="{AE3CCB1C-ACF7-4B10-AE38-944E2E7119DC}" type="datetimeFigureOut">
              <a:rPr lang="en-SE" smtClean="0"/>
              <a:t>2026-04-20</a:t>
            </a:fld>
            <a:endParaRPr lang="en-SE"/>
          </a:p>
        </p:txBody>
      </p:sp>
      <p:sp>
        <p:nvSpPr>
          <p:cNvPr id="5" name="Platshållare för sidfot 4">
            <a:extLst>
              <a:ext uri="{FF2B5EF4-FFF2-40B4-BE49-F238E27FC236}">
                <a16:creationId xmlns:a16="http://schemas.microsoft.com/office/drawing/2014/main" id="{2D046AC7-C8F9-21A5-6DA9-5AA749AE278A}"/>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2F401A44-7DFD-8864-08EF-1425F8973A51}"/>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494703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F959262-E594-32D2-AF58-5AFD68416FA9}"/>
              </a:ext>
            </a:extLst>
          </p:cNvPr>
          <p:cNvSpPr>
            <a:spLocks noGrp="1"/>
          </p:cNvSpPr>
          <p:nvPr>
            <p:ph type="title"/>
          </p:nvPr>
        </p:nvSpPr>
        <p:spPr/>
        <p:txBody>
          <a:bodyPr/>
          <a:lstStyle/>
          <a:p>
            <a:r>
              <a:rPr lang="sv-SE"/>
              <a:t>Klicka här för att ändra mall för rubrikformat</a:t>
            </a:r>
            <a:endParaRPr lang="en-SE"/>
          </a:p>
        </p:txBody>
      </p:sp>
      <p:sp>
        <p:nvSpPr>
          <p:cNvPr id="3" name="Platshållare för innehåll 2">
            <a:extLst>
              <a:ext uri="{FF2B5EF4-FFF2-40B4-BE49-F238E27FC236}">
                <a16:creationId xmlns:a16="http://schemas.microsoft.com/office/drawing/2014/main" id="{21BE6053-EB11-DB58-E8ED-9E46074A2085}"/>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datum 3">
            <a:extLst>
              <a:ext uri="{FF2B5EF4-FFF2-40B4-BE49-F238E27FC236}">
                <a16:creationId xmlns:a16="http://schemas.microsoft.com/office/drawing/2014/main" id="{C245B5BA-4EEB-B39A-7711-A1C0FF329645}"/>
              </a:ext>
            </a:extLst>
          </p:cNvPr>
          <p:cNvSpPr>
            <a:spLocks noGrp="1"/>
          </p:cNvSpPr>
          <p:nvPr>
            <p:ph type="dt" sz="half" idx="10"/>
          </p:nvPr>
        </p:nvSpPr>
        <p:spPr/>
        <p:txBody>
          <a:bodyPr/>
          <a:lstStyle/>
          <a:p>
            <a:fld id="{AE3CCB1C-ACF7-4B10-AE38-944E2E7119DC}" type="datetimeFigureOut">
              <a:rPr lang="en-SE" smtClean="0"/>
              <a:t>2026-04-20</a:t>
            </a:fld>
            <a:endParaRPr lang="en-SE"/>
          </a:p>
        </p:txBody>
      </p:sp>
      <p:sp>
        <p:nvSpPr>
          <p:cNvPr id="5" name="Platshållare för sidfot 4">
            <a:extLst>
              <a:ext uri="{FF2B5EF4-FFF2-40B4-BE49-F238E27FC236}">
                <a16:creationId xmlns:a16="http://schemas.microsoft.com/office/drawing/2014/main" id="{45E5513F-1C33-4CEF-69F7-4FF59C3B0119}"/>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6DE99110-15FA-5ABF-685C-36365B39AAA6}"/>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3097348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AA7754B-C9B5-25B6-7621-A03E66ED56BE}"/>
              </a:ext>
            </a:extLst>
          </p:cNvPr>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endParaRPr lang="en-SE"/>
          </a:p>
        </p:txBody>
      </p:sp>
      <p:sp>
        <p:nvSpPr>
          <p:cNvPr id="3" name="Platshållare för text 2">
            <a:extLst>
              <a:ext uri="{FF2B5EF4-FFF2-40B4-BE49-F238E27FC236}">
                <a16:creationId xmlns:a16="http://schemas.microsoft.com/office/drawing/2014/main" id="{8D4D7EC5-B4B9-F005-FD32-1CC4D3FAB1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9702A030-39FE-D5D5-3FD8-6FC3BC898E41}"/>
              </a:ext>
            </a:extLst>
          </p:cNvPr>
          <p:cNvSpPr>
            <a:spLocks noGrp="1"/>
          </p:cNvSpPr>
          <p:nvPr>
            <p:ph type="dt" sz="half" idx="10"/>
          </p:nvPr>
        </p:nvSpPr>
        <p:spPr/>
        <p:txBody>
          <a:bodyPr/>
          <a:lstStyle/>
          <a:p>
            <a:fld id="{AE3CCB1C-ACF7-4B10-AE38-944E2E7119DC}" type="datetimeFigureOut">
              <a:rPr lang="en-SE" smtClean="0"/>
              <a:t>2026-04-20</a:t>
            </a:fld>
            <a:endParaRPr lang="en-SE"/>
          </a:p>
        </p:txBody>
      </p:sp>
      <p:sp>
        <p:nvSpPr>
          <p:cNvPr id="5" name="Platshållare för sidfot 4">
            <a:extLst>
              <a:ext uri="{FF2B5EF4-FFF2-40B4-BE49-F238E27FC236}">
                <a16:creationId xmlns:a16="http://schemas.microsoft.com/office/drawing/2014/main" id="{10FDAF0E-45B4-FB3A-957F-DFDD359C7917}"/>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F0939320-A746-AAF9-7F71-2F79F8259C34}"/>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372291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43AC08-E0D1-5157-0045-F8A695817A5D}"/>
              </a:ext>
            </a:extLst>
          </p:cNvPr>
          <p:cNvSpPr>
            <a:spLocks noGrp="1"/>
          </p:cNvSpPr>
          <p:nvPr>
            <p:ph type="title"/>
          </p:nvPr>
        </p:nvSpPr>
        <p:spPr/>
        <p:txBody>
          <a:bodyPr/>
          <a:lstStyle/>
          <a:p>
            <a:r>
              <a:rPr lang="sv-SE"/>
              <a:t>Klicka här för att ändra mall för rubrikformat</a:t>
            </a:r>
            <a:endParaRPr lang="en-SE"/>
          </a:p>
        </p:txBody>
      </p:sp>
      <p:sp>
        <p:nvSpPr>
          <p:cNvPr id="3" name="Platshållare för innehåll 2">
            <a:extLst>
              <a:ext uri="{FF2B5EF4-FFF2-40B4-BE49-F238E27FC236}">
                <a16:creationId xmlns:a16="http://schemas.microsoft.com/office/drawing/2014/main" id="{97BA3DAE-EF9F-CEF9-9477-4C2A0553FF66}"/>
              </a:ext>
            </a:extLst>
          </p:cNvPr>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innehåll 3">
            <a:extLst>
              <a:ext uri="{FF2B5EF4-FFF2-40B4-BE49-F238E27FC236}">
                <a16:creationId xmlns:a16="http://schemas.microsoft.com/office/drawing/2014/main" id="{00BA72A3-A2B3-F3D5-00F6-031BC506B0C7}"/>
              </a:ext>
            </a:extLst>
          </p:cNvPr>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5" name="Platshållare för datum 4">
            <a:extLst>
              <a:ext uri="{FF2B5EF4-FFF2-40B4-BE49-F238E27FC236}">
                <a16:creationId xmlns:a16="http://schemas.microsoft.com/office/drawing/2014/main" id="{1A0030DF-DB66-5A83-C2B3-905E2E2E7AD0}"/>
              </a:ext>
            </a:extLst>
          </p:cNvPr>
          <p:cNvSpPr>
            <a:spLocks noGrp="1"/>
          </p:cNvSpPr>
          <p:nvPr>
            <p:ph type="dt" sz="half" idx="10"/>
          </p:nvPr>
        </p:nvSpPr>
        <p:spPr/>
        <p:txBody>
          <a:bodyPr/>
          <a:lstStyle/>
          <a:p>
            <a:fld id="{AE3CCB1C-ACF7-4B10-AE38-944E2E7119DC}" type="datetimeFigureOut">
              <a:rPr lang="en-SE" smtClean="0"/>
              <a:t>2026-04-20</a:t>
            </a:fld>
            <a:endParaRPr lang="en-SE"/>
          </a:p>
        </p:txBody>
      </p:sp>
      <p:sp>
        <p:nvSpPr>
          <p:cNvPr id="6" name="Platshållare för sidfot 5">
            <a:extLst>
              <a:ext uri="{FF2B5EF4-FFF2-40B4-BE49-F238E27FC236}">
                <a16:creationId xmlns:a16="http://schemas.microsoft.com/office/drawing/2014/main" id="{06B48B02-6CCE-D713-E84C-C131BE00AE6C}"/>
              </a:ext>
            </a:extLst>
          </p:cNvPr>
          <p:cNvSpPr>
            <a:spLocks noGrp="1"/>
          </p:cNvSpPr>
          <p:nvPr>
            <p:ph type="ftr" sz="quarter" idx="11"/>
          </p:nvPr>
        </p:nvSpPr>
        <p:spPr/>
        <p:txBody>
          <a:bodyPr/>
          <a:lstStyle/>
          <a:p>
            <a:endParaRPr lang="en-SE"/>
          </a:p>
        </p:txBody>
      </p:sp>
      <p:sp>
        <p:nvSpPr>
          <p:cNvPr id="7" name="Platshållare för bildnummer 6">
            <a:extLst>
              <a:ext uri="{FF2B5EF4-FFF2-40B4-BE49-F238E27FC236}">
                <a16:creationId xmlns:a16="http://schemas.microsoft.com/office/drawing/2014/main" id="{FFF00A9A-B98B-B87A-65A9-1982AFF71841}"/>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312915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B0ADCFD-4490-2826-42A6-E8E407B7D423}"/>
              </a:ext>
            </a:extLst>
          </p:cNvPr>
          <p:cNvSpPr>
            <a:spLocks noGrp="1"/>
          </p:cNvSpPr>
          <p:nvPr>
            <p:ph type="title"/>
          </p:nvPr>
        </p:nvSpPr>
        <p:spPr>
          <a:xfrm>
            <a:off x="839788" y="365125"/>
            <a:ext cx="10515600" cy="1325563"/>
          </a:xfrm>
        </p:spPr>
        <p:txBody>
          <a:bodyPr/>
          <a:lstStyle/>
          <a:p>
            <a:r>
              <a:rPr lang="sv-SE"/>
              <a:t>Klicka här för att ändra mall för rubrikformat</a:t>
            </a:r>
            <a:endParaRPr lang="en-SE"/>
          </a:p>
        </p:txBody>
      </p:sp>
      <p:sp>
        <p:nvSpPr>
          <p:cNvPr id="3" name="Platshållare för text 2">
            <a:extLst>
              <a:ext uri="{FF2B5EF4-FFF2-40B4-BE49-F238E27FC236}">
                <a16:creationId xmlns:a16="http://schemas.microsoft.com/office/drawing/2014/main" id="{E5C0FF99-34E1-DEDE-8C2E-2B59122C22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E618FC1D-CA33-1473-402F-0F22BEB8831A}"/>
              </a:ext>
            </a:extLst>
          </p:cNvPr>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5" name="Platshållare för text 4">
            <a:extLst>
              <a:ext uri="{FF2B5EF4-FFF2-40B4-BE49-F238E27FC236}">
                <a16:creationId xmlns:a16="http://schemas.microsoft.com/office/drawing/2014/main" id="{D5C837AC-2710-330A-4CCD-3484A8C026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4D24077D-8B7E-8E2B-44D9-39DDEBEAC782}"/>
              </a:ext>
            </a:extLst>
          </p:cNvPr>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7" name="Platshållare för datum 6">
            <a:extLst>
              <a:ext uri="{FF2B5EF4-FFF2-40B4-BE49-F238E27FC236}">
                <a16:creationId xmlns:a16="http://schemas.microsoft.com/office/drawing/2014/main" id="{EF41FEBE-B6D0-E6F2-D790-5996307CA242}"/>
              </a:ext>
            </a:extLst>
          </p:cNvPr>
          <p:cNvSpPr>
            <a:spLocks noGrp="1"/>
          </p:cNvSpPr>
          <p:nvPr>
            <p:ph type="dt" sz="half" idx="10"/>
          </p:nvPr>
        </p:nvSpPr>
        <p:spPr/>
        <p:txBody>
          <a:bodyPr/>
          <a:lstStyle/>
          <a:p>
            <a:fld id="{AE3CCB1C-ACF7-4B10-AE38-944E2E7119DC}" type="datetimeFigureOut">
              <a:rPr lang="en-SE" smtClean="0"/>
              <a:t>2026-04-20</a:t>
            </a:fld>
            <a:endParaRPr lang="en-SE"/>
          </a:p>
        </p:txBody>
      </p:sp>
      <p:sp>
        <p:nvSpPr>
          <p:cNvPr id="8" name="Platshållare för sidfot 7">
            <a:extLst>
              <a:ext uri="{FF2B5EF4-FFF2-40B4-BE49-F238E27FC236}">
                <a16:creationId xmlns:a16="http://schemas.microsoft.com/office/drawing/2014/main" id="{EA06F675-1122-99B8-107D-4E18F4AB3D8E}"/>
              </a:ext>
            </a:extLst>
          </p:cNvPr>
          <p:cNvSpPr>
            <a:spLocks noGrp="1"/>
          </p:cNvSpPr>
          <p:nvPr>
            <p:ph type="ftr" sz="quarter" idx="11"/>
          </p:nvPr>
        </p:nvSpPr>
        <p:spPr/>
        <p:txBody>
          <a:bodyPr/>
          <a:lstStyle/>
          <a:p>
            <a:endParaRPr lang="en-SE"/>
          </a:p>
        </p:txBody>
      </p:sp>
      <p:sp>
        <p:nvSpPr>
          <p:cNvPr id="9" name="Platshållare för bildnummer 8">
            <a:extLst>
              <a:ext uri="{FF2B5EF4-FFF2-40B4-BE49-F238E27FC236}">
                <a16:creationId xmlns:a16="http://schemas.microsoft.com/office/drawing/2014/main" id="{26D159F7-12B0-EB2B-A980-9D76F8ACE3D7}"/>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137649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874A398-3C71-F958-495B-44E53F71BA90}"/>
              </a:ext>
            </a:extLst>
          </p:cNvPr>
          <p:cNvSpPr>
            <a:spLocks noGrp="1"/>
          </p:cNvSpPr>
          <p:nvPr>
            <p:ph type="title"/>
          </p:nvPr>
        </p:nvSpPr>
        <p:spPr/>
        <p:txBody>
          <a:bodyPr/>
          <a:lstStyle/>
          <a:p>
            <a:r>
              <a:rPr lang="sv-SE"/>
              <a:t>Klicka här för att ändra mall för rubrikformat</a:t>
            </a:r>
            <a:endParaRPr lang="en-SE"/>
          </a:p>
        </p:txBody>
      </p:sp>
      <p:sp>
        <p:nvSpPr>
          <p:cNvPr id="3" name="Platshållare för datum 2">
            <a:extLst>
              <a:ext uri="{FF2B5EF4-FFF2-40B4-BE49-F238E27FC236}">
                <a16:creationId xmlns:a16="http://schemas.microsoft.com/office/drawing/2014/main" id="{829F754F-B5CC-CE25-E506-9EC0D9DF716E}"/>
              </a:ext>
            </a:extLst>
          </p:cNvPr>
          <p:cNvSpPr>
            <a:spLocks noGrp="1"/>
          </p:cNvSpPr>
          <p:nvPr>
            <p:ph type="dt" sz="half" idx="10"/>
          </p:nvPr>
        </p:nvSpPr>
        <p:spPr/>
        <p:txBody>
          <a:bodyPr/>
          <a:lstStyle/>
          <a:p>
            <a:fld id="{AE3CCB1C-ACF7-4B10-AE38-944E2E7119DC}" type="datetimeFigureOut">
              <a:rPr lang="en-SE" smtClean="0"/>
              <a:t>2026-04-20</a:t>
            </a:fld>
            <a:endParaRPr lang="en-SE"/>
          </a:p>
        </p:txBody>
      </p:sp>
      <p:sp>
        <p:nvSpPr>
          <p:cNvPr id="4" name="Platshållare för sidfot 3">
            <a:extLst>
              <a:ext uri="{FF2B5EF4-FFF2-40B4-BE49-F238E27FC236}">
                <a16:creationId xmlns:a16="http://schemas.microsoft.com/office/drawing/2014/main" id="{75F8C3A9-0D21-E990-D048-9C63A57FA511}"/>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85417EAD-E63E-393D-709E-105B794F2B16}"/>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789575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3D7BBE8A-3C8A-FBC4-EE47-B75FE7E3BD9D}"/>
              </a:ext>
            </a:extLst>
          </p:cNvPr>
          <p:cNvSpPr>
            <a:spLocks noGrp="1"/>
          </p:cNvSpPr>
          <p:nvPr>
            <p:ph type="dt" sz="half" idx="10"/>
          </p:nvPr>
        </p:nvSpPr>
        <p:spPr/>
        <p:txBody>
          <a:bodyPr/>
          <a:lstStyle/>
          <a:p>
            <a:fld id="{AE3CCB1C-ACF7-4B10-AE38-944E2E7119DC}" type="datetimeFigureOut">
              <a:rPr lang="en-SE" smtClean="0"/>
              <a:t>2026-04-20</a:t>
            </a:fld>
            <a:endParaRPr lang="en-SE"/>
          </a:p>
        </p:txBody>
      </p:sp>
      <p:sp>
        <p:nvSpPr>
          <p:cNvPr id="3" name="Platshållare för sidfot 2">
            <a:extLst>
              <a:ext uri="{FF2B5EF4-FFF2-40B4-BE49-F238E27FC236}">
                <a16:creationId xmlns:a16="http://schemas.microsoft.com/office/drawing/2014/main" id="{31791F6A-008E-9097-A4AD-42884CC8DB23}"/>
              </a:ext>
            </a:extLst>
          </p:cNvPr>
          <p:cNvSpPr>
            <a:spLocks noGrp="1"/>
          </p:cNvSpPr>
          <p:nvPr>
            <p:ph type="ftr" sz="quarter" idx="11"/>
          </p:nvPr>
        </p:nvSpPr>
        <p:spPr/>
        <p:txBody>
          <a:bodyPr/>
          <a:lstStyle/>
          <a:p>
            <a:endParaRPr lang="en-SE"/>
          </a:p>
        </p:txBody>
      </p:sp>
      <p:sp>
        <p:nvSpPr>
          <p:cNvPr id="4" name="Platshållare för bildnummer 3">
            <a:extLst>
              <a:ext uri="{FF2B5EF4-FFF2-40B4-BE49-F238E27FC236}">
                <a16:creationId xmlns:a16="http://schemas.microsoft.com/office/drawing/2014/main" id="{F133B5E3-2768-1D18-D226-CD086FAD4528}"/>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2346534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B8BB4C43-1030-2F20-3D43-1A4ADFBF9318}"/>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endParaRPr lang="en-SE"/>
          </a:p>
        </p:txBody>
      </p:sp>
      <p:sp>
        <p:nvSpPr>
          <p:cNvPr id="3" name="Platshållare för innehåll 2">
            <a:extLst>
              <a:ext uri="{FF2B5EF4-FFF2-40B4-BE49-F238E27FC236}">
                <a16:creationId xmlns:a16="http://schemas.microsoft.com/office/drawing/2014/main" id="{52BA8060-2595-74F6-93C7-1C428B220F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text 3">
            <a:extLst>
              <a:ext uri="{FF2B5EF4-FFF2-40B4-BE49-F238E27FC236}">
                <a16:creationId xmlns:a16="http://schemas.microsoft.com/office/drawing/2014/main" id="{31AADD68-1935-25CF-CC38-F82A5B4769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CD407978-06C4-3ED6-D679-14DB2F9F29E0}"/>
              </a:ext>
            </a:extLst>
          </p:cNvPr>
          <p:cNvSpPr>
            <a:spLocks noGrp="1"/>
          </p:cNvSpPr>
          <p:nvPr>
            <p:ph type="dt" sz="half" idx="10"/>
          </p:nvPr>
        </p:nvSpPr>
        <p:spPr/>
        <p:txBody>
          <a:bodyPr/>
          <a:lstStyle/>
          <a:p>
            <a:fld id="{AE3CCB1C-ACF7-4B10-AE38-944E2E7119DC}" type="datetimeFigureOut">
              <a:rPr lang="en-SE" smtClean="0"/>
              <a:t>2026-04-20</a:t>
            </a:fld>
            <a:endParaRPr lang="en-SE"/>
          </a:p>
        </p:txBody>
      </p:sp>
      <p:sp>
        <p:nvSpPr>
          <p:cNvPr id="6" name="Platshållare för sidfot 5">
            <a:extLst>
              <a:ext uri="{FF2B5EF4-FFF2-40B4-BE49-F238E27FC236}">
                <a16:creationId xmlns:a16="http://schemas.microsoft.com/office/drawing/2014/main" id="{D6718859-A242-0281-9062-5ABCA84CB4BA}"/>
              </a:ext>
            </a:extLst>
          </p:cNvPr>
          <p:cNvSpPr>
            <a:spLocks noGrp="1"/>
          </p:cNvSpPr>
          <p:nvPr>
            <p:ph type="ftr" sz="quarter" idx="11"/>
          </p:nvPr>
        </p:nvSpPr>
        <p:spPr/>
        <p:txBody>
          <a:bodyPr/>
          <a:lstStyle/>
          <a:p>
            <a:endParaRPr lang="en-SE"/>
          </a:p>
        </p:txBody>
      </p:sp>
      <p:sp>
        <p:nvSpPr>
          <p:cNvPr id="7" name="Platshållare för bildnummer 6">
            <a:extLst>
              <a:ext uri="{FF2B5EF4-FFF2-40B4-BE49-F238E27FC236}">
                <a16:creationId xmlns:a16="http://schemas.microsoft.com/office/drawing/2014/main" id="{F700C2CB-0CE0-6D8A-6961-79279270C0D6}"/>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255444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D1FD29C-EC73-5503-CEA0-62F1EB596514}"/>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endParaRPr lang="en-SE"/>
          </a:p>
        </p:txBody>
      </p:sp>
      <p:sp>
        <p:nvSpPr>
          <p:cNvPr id="3" name="Platshållare för bild 2">
            <a:extLst>
              <a:ext uri="{FF2B5EF4-FFF2-40B4-BE49-F238E27FC236}">
                <a16:creationId xmlns:a16="http://schemas.microsoft.com/office/drawing/2014/main" id="{36BB2FA3-BB8E-D2DD-48E9-84DD826787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Platshållare för text 3">
            <a:extLst>
              <a:ext uri="{FF2B5EF4-FFF2-40B4-BE49-F238E27FC236}">
                <a16:creationId xmlns:a16="http://schemas.microsoft.com/office/drawing/2014/main" id="{F328D2A5-A052-ED24-848C-CB2D8F50DD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36C185E2-5F75-B1E6-6F6F-3C37BA46524A}"/>
              </a:ext>
            </a:extLst>
          </p:cNvPr>
          <p:cNvSpPr>
            <a:spLocks noGrp="1"/>
          </p:cNvSpPr>
          <p:nvPr>
            <p:ph type="dt" sz="half" idx="10"/>
          </p:nvPr>
        </p:nvSpPr>
        <p:spPr/>
        <p:txBody>
          <a:bodyPr/>
          <a:lstStyle/>
          <a:p>
            <a:fld id="{AE3CCB1C-ACF7-4B10-AE38-944E2E7119DC}" type="datetimeFigureOut">
              <a:rPr lang="en-SE" smtClean="0"/>
              <a:t>2026-04-20</a:t>
            </a:fld>
            <a:endParaRPr lang="en-SE"/>
          </a:p>
        </p:txBody>
      </p:sp>
      <p:sp>
        <p:nvSpPr>
          <p:cNvPr id="6" name="Platshållare för sidfot 5">
            <a:extLst>
              <a:ext uri="{FF2B5EF4-FFF2-40B4-BE49-F238E27FC236}">
                <a16:creationId xmlns:a16="http://schemas.microsoft.com/office/drawing/2014/main" id="{1DAE074B-1891-60FA-67E1-2EA2C1BD5E02}"/>
              </a:ext>
            </a:extLst>
          </p:cNvPr>
          <p:cNvSpPr>
            <a:spLocks noGrp="1"/>
          </p:cNvSpPr>
          <p:nvPr>
            <p:ph type="ftr" sz="quarter" idx="11"/>
          </p:nvPr>
        </p:nvSpPr>
        <p:spPr/>
        <p:txBody>
          <a:bodyPr/>
          <a:lstStyle/>
          <a:p>
            <a:endParaRPr lang="en-SE"/>
          </a:p>
        </p:txBody>
      </p:sp>
      <p:sp>
        <p:nvSpPr>
          <p:cNvPr id="7" name="Platshållare för bildnummer 6">
            <a:extLst>
              <a:ext uri="{FF2B5EF4-FFF2-40B4-BE49-F238E27FC236}">
                <a16:creationId xmlns:a16="http://schemas.microsoft.com/office/drawing/2014/main" id="{C18E0313-8104-13D6-D845-30A9B5BFAEFC}"/>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2133734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D34598C-14CA-1853-2832-EE9487A28D71}"/>
              </a:ext>
            </a:extLst>
          </p:cNvPr>
          <p:cNvSpPr>
            <a:spLocks noGrp="1"/>
          </p:cNvSpPr>
          <p:nvPr>
            <p:ph type="title"/>
          </p:nvPr>
        </p:nvSpPr>
        <p:spPr/>
        <p:txBody>
          <a:bodyPr/>
          <a:lstStyle/>
          <a:p>
            <a:r>
              <a:rPr lang="sv-SE"/>
              <a:t>Klicka här för att ändra mall för rubrikformat</a:t>
            </a:r>
            <a:endParaRPr lang="en-SE"/>
          </a:p>
        </p:txBody>
      </p:sp>
      <p:sp>
        <p:nvSpPr>
          <p:cNvPr id="3" name="Platshållare för lodrät text 2">
            <a:extLst>
              <a:ext uri="{FF2B5EF4-FFF2-40B4-BE49-F238E27FC236}">
                <a16:creationId xmlns:a16="http://schemas.microsoft.com/office/drawing/2014/main" id="{FD442323-0E45-417C-BF92-EC5051853731}"/>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datum 3">
            <a:extLst>
              <a:ext uri="{FF2B5EF4-FFF2-40B4-BE49-F238E27FC236}">
                <a16:creationId xmlns:a16="http://schemas.microsoft.com/office/drawing/2014/main" id="{04234107-B3D0-0A89-8125-AD7350270111}"/>
              </a:ext>
            </a:extLst>
          </p:cNvPr>
          <p:cNvSpPr>
            <a:spLocks noGrp="1"/>
          </p:cNvSpPr>
          <p:nvPr>
            <p:ph type="dt" sz="half" idx="10"/>
          </p:nvPr>
        </p:nvSpPr>
        <p:spPr/>
        <p:txBody>
          <a:bodyPr/>
          <a:lstStyle/>
          <a:p>
            <a:fld id="{AE3CCB1C-ACF7-4B10-AE38-944E2E7119DC}" type="datetimeFigureOut">
              <a:rPr lang="en-SE" smtClean="0"/>
              <a:t>2026-04-20</a:t>
            </a:fld>
            <a:endParaRPr lang="en-SE"/>
          </a:p>
        </p:txBody>
      </p:sp>
      <p:sp>
        <p:nvSpPr>
          <p:cNvPr id="5" name="Platshållare för sidfot 4">
            <a:extLst>
              <a:ext uri="{FF2B5EF4-FFF2-40B4-BE49-F238E27FC236}">
                <a16:creationId xmlns:a16="http://schemas.microsoft.com/office/drawing/2014/main" id="{3AF2CDCB-772F-6986-C403-D96EE8C6977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559958A1-0F8B-8A99-3382-D4DFC2A54F8E}"/>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928570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84644361-CF77-33E3-1FD3-BAE7896066C1}"/>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endParaRPr lang="en-SE"/>
          </a:p>
        </p:txBody>
      </p:sp>
      <p:sp>
        <p:nvSpPr>
          <p:cNvPr id="3" name="Platshållare för lodrät text 2">
            <a:extLst>
              <a:ext uri="{FF2B5EF4-FFF2-40B4-BE49-F238E27FC236}">
                <a16:creationId xmlns:a16="http://schemas.microsoft.com/office/drawing/2014/main" id="{3E3B8ED8-1444-0B1A-8A01-C97E49BC5544}"/>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datum 3">
            <a:extLst>
              <a:ext uri="{FF2B5EF4-FFF2-40B4-BE49-F238E27FC236}">
                <a16:creationId xmlns:a16="http://schemas.microsoft.com/office/drawing/2014/main" id="{44D0F6E6-88C3-1237-5779-49D167C16903}"/>
              </a:ext>
            </a:extLst>
          </p:cNvPr>
          <p:cNvSpPr>
            <a:spLocks noGrp="1"/>
          </p:cNvSpPr>
          <p:nvPr>
            <p:ph type="dt" sz="half" idx="10"/>
          </p:nvPr>
        </p:nvSpPr>
        <p:spPr/>
        <p:txBody>
          <a:bodyPr/>
          <a:lstStyle/>
          <a:p>
            <a:fld id="{AE3CCB1C-ACF7-4B10-AE38-944E2E7119DC}" type="datetimeFigureOut">
              <a:rPr lang="en-SE" smtClean="0"/>
              <a:t>2026-04-20</a:t>
            </a:fld>
            <a:endParaRPr lang="en-SE"/>
          </a:p>
        </p:txBody>
      </p:sp>
      <p:sp>
        <p:nvSpPr>
          <p:cNvPr id="5" name="Platshållare för sidfot 4">
            <a:extLst>
              <a:ext uri="{FF2B5EF4-FFF2-40B4-BE49-F238E27FC236}">
                <a16:creationId xmlns:a16="http://schemas.microsoft.com/office/drawing/2014/main" id="{2EA1105D-2343-E1A8-9C69-762F150A6B85}"/>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FBAC944C-4547-0A8D-B1F6-DC8426A0E428}"/>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787029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rgbClr val="10161A"/>
            </a:gs>
            <a:gs pos="78000">
              <a:srgbClr val="0B0D11"/>
            </a:gs>
            <a:gs pos="15000">
              <a:srgbClr val="0B0D11"/>
            </a:gs>
            <a:gs pos="0">
              <a:srgbClr val="10161A"/>
            </a:gs>
          </a:gsLst>
          <a:lin ang="2400000" scaled="0"/>
          <a:tileRect/>
        </a:gra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4A2B0F9E-71F5-79E2-3CCC-2DDF025D90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endParaRPr lang="en-SE"/>
          </a:p>
        </p:txBody>
      </p:sp>
      <p:sp>
        <p:nvSpPr>
          <p:cNvPr id="3" name="Platshållare för text 2">
            <a:extLst>
              <a:ext uri="{FF2B5EF4-FFF2-40B4-BE49-F238E27FC236}">
                <a16:creationId xmlns:a16="http://schemas.microsoft.com/office/drawing/2014/main" id="{8E5E52FA-23A5-2264-460F-6513F4BD03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datum 3">
            <a:extLst>
              <a:ext uri="{FF2B5EF4-FFF2-40B4-BE49-F238E27FC236}">
                <a16:creationId xmlns:a16="http://schemas.microsoft.com/office/drawing/2014/main" id="{775E916C-3C14-0EE7-112B-CC811AD37B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3CCB1C-ACF7-4B10-AE38-944E2E7119DC}" type="datetimeFigureOut">
              <a:rPr lang="en-SE" smtClean="0"/>
              <a:t>2026-04-20</a:t>
            </a:fld>
            <a:endParaRPr lang="en-SE"/>
          </a:p>
        </p:txBody>
      </p:sp>
      <p:sp>
        <p:nvSpPr>
          <p:cNvPr id="5" name="Platshållare för sidfot 4">
            <a:extLst>
              <a:ext uri="{FF2B5EF4-FFF2-40B4-BE49-F238E27FC236}">
                <a16:creationId xmlns:a16="http://schemas.microsoft.com/office/drawing/2014/main" id="{C3899B10-6755-5370-E9D8-85CAE89FA5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Platshållare för bildnummer 5">
            <a:extLst>
              <a:ext uri="{FF2B5EF4-FFF2-40B4-BE49-F238E27FC236}">
                <a16:creationId xmlns:a16="http://schemas.microsoft.com/office/drawing/2014/main" id="{BBAAE183-FF98-DCC8-A6FD-29BA1E7CA9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FE534B-6975-4B42-BA33-447C452210DD}" type="slidenum">
              <a:rPr lang="en-SE" smtClean="0"/>
              <a:t>‹#›</a:t>
            </a:fld>
            <a:endParaRPr lang="en-SE"/>
          </a:p>
        </p:txBody>
      </p:sp>
    </p:spTree>
    <p:extLst>
      <p:ext uri="{BB962C8B-B14F-4D97-AF65-F5344CB8AC3E}">
        <p14:creationId xmlns:p14="http://schemas.microsoft.com/office/powerpoint/2010/main" val="2793656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AC612-3F91-98C8-1C26-529FB85DC3A7}"/>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87FBBA46-74E9-560A-E13A-0A412AA685C4}"/>
              </a:ext>
            </a:extLst>
          </p:cNvPr>
          <p:cNvSpPr txBox="1"/>
          <p:nvPr/>
        </p:nvSpPr>
        <p:spPr>
          <a:xfrm>
            <a:off x="947154" y="2367171"/>
            <a:ext cx="7900111" cy="2123658"/>
          </a:xfrm>
          <a:prstGeom prst="rect">
            <a:avLst/>
          </a:prstGeom>
          <a:noFill/>
        </p:spPr>
        <p:txBody>
          <a:bodyPr wrap="none" rtlCol="0">
            <a:spAutoFit/>
          </a:bodyPr>
          <a:lstStyle/>
          <a:p>
            <a:r>
              <a:rPr lang="en-US" sz="6600" dirty="0" err="1">
                <a:solidFill>
                  <a:schemeClr val="bg1"/>
                </a:solidFill>
              </a:rPr>
              <a:t>Aktiveringsfunktioner</a:t>
            </a:r>
            <a:endParaRPr lang="en-US" sz="6600" dirty="0">
              <a:solidFill>
                <a:schemeClr val="bg1"/>
              </a:solidFill>
            </a:endParaRPr>
          </a:p>
          <a:p>
            <a:r>
              <a:rPr lang="en-US" sz="6600" dirty="0">
                <a:solidFill>
                  <a:schemeClr val="bg1"/>
                </a:solidFill>
              </a:rPr>
              <a:t>och output-lager</a:t>
            </a:r>
            <a:endParaRPr lang="en-SE" sz="6600" dirty="0">
              <a:solidFill>
                <a:schemeClr val="bg1"/>
              </a:solidFill>
            </a:endParaRPr>
          </a:p>
        </p:txBody>
      </p:sp>
    </p:spTree>
    <p:extLst>
      <p:ext uri="{BB962C8B-B14F-4D97-AF65-F5344CB8AC3E}">
        <p14:creationId xmlns:p14="http://schemas.microsoft.com/office/powerpoint/2010/main" val="3085460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C93E0-7CE9-2A45-C3D6-5CBF236667D2}"/>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33F7F7D7-B7EA-3523-1B59-D78AA50F5D9A}"/>
              </a:ext>
            </a:extLst>
          </p:cNvPr>
          <p:cNvSpPr txBox="1"/>
          <p:nvPr/>
        </p:nvSpPr>
        <p:spPr>
          <a:xfrm>
            <a:off x="4126288" y="122735"/>
            <a:ext cx="3939476" cy="830997"/>
          </a:xfrm>
          <a:prstGeom prst="rect">
            <a:avLst/>
          </a:prstGeom>
          <a:noFill/>
        </p:spPr>
        <p:txBody>
          <a:bodyPr wrap="none" rtlCol="0">
            <a:spAutoFit/>
          </a:bodyPr>
          <a:lstStyle/>
          <a:p>
            <a:pPr algn="ctr"/>
            <a:r>
              <a:rPr lang="sv-SE" sz="4800" noProof="0" dirty="0">
                <a:solidFill>
                  <a:schemeClr val="bg1"/>
                </a:solidFill>
              </a:rPr>
              <a:t>Fyra designval</a:t>
            </a:r>
          </a:p>
        </p:txBody>
      </p:sp>
      <p:sp>
        <p:nvSpPr>
          <p:cNvPr id="3" name="textruta 2">
            <a:extLst>
              <a:ext uri="{FF2B5EF4-FFF2-40B4-BE49-F238E27FC236}">
                <a16:creationId xmlns:a16="http://schemas.microsoft.com/office/drawing/2014/main" id="{FA89F89D-87DC-5E1D-6F72-C67EBE261878}"/>
              </a:ext>
            </a:extLst>
          </p:cNvPr>
          <p:cNvSpPr txBox="1"/>
          <p:nvPr/>
        </p:nvSpPr>
        <p:spPr>
          <a:xfrm>
            <a:off x="1686541" y="2402840"/>
            <a:ext cx="5677003" cy="2615524"/>
          </a:xfrm>
          <a:prstGeom prst="rect">
            <a:avLst/>
          </a:prstGeom>
          <a:noFill/>
        </p:spPr>
        <p:txBody>
          <a:bodyPr wrap="none" rtlCol="0">
            <a:spAutoFit/>
          </a:bodyPr>
          <a:lstStyle/>
          <a:p>
            <a:pPr marL="571500" indent="-571500">
              <a:lnSpc>
                <a:spcPct val="150000"/>
              </a:lnSpc>
              <a:buFont typeface="Arial" panose="020B0604020202020204" pitchFamily="34" charset="0"/>
              <a:buChar char="•"/>
            </a:pPr>
            <a:r>
              <a:rPr lang="en-US" sz="2800" noProof="0" dirty="0" err="1">
                <a:solidFill>
                  <a:schemeClr val="bg1"/>
                </a:solidFill>
              </a:rPr>
              <a:t>Aktiveringsfunktion</a:t>
            </a:r>
            <a:r>
              <a:rPr lang="en-US" sz="2800" noProof="0" dirty="0">
                <a:solidFill>
                  <a:schemeClr val="bg1"/>
                </a:solidFill>
              </a:rPr>
              <a:t> </a:t>
            </a:r>
            <a:r>
              <a:rPr lang="en-US" sz="2800" noProof="0" dirty="0" err="1">
                <a:solidFill>
                  <a:schemeClr val="bg1"/>
                </a:solidFill>
              </a:rPr>
              <a:t>i</a:t>
            </a:r>
            <a:r>
              <a:rPr lang="en-US" sz="2800" noProof="0" dirty="0">
                <a:solidFill>
                  <a:schemeClr val="bg1"/>
                </a:solidFill>
              </a:rPr>
              <a:t> </a:t>
            </a:r>
            <a:r>
              <a:rPr lang="en-US" sz="2800" noProof="0" dirty="0" err="1">
                <a:solidFill>
                  <a:schemeClr val="bg1"/>
                </a:solidFill>
              </a:rPr>
              <a:t>dolda</a:t>
            </a:r>
            <a:r>
              <a:rPr lang="en-US" sz="2800" noProof="0" dirty="0">
                <a:solidFill>
                  <a:schemeClr val="bg1"/>
                </a:solidFill>
              </a:rPr>
              <a:t> lager</a:t>
            </a:r>
          </a:p>
          <a:p>
            <a:pPr marL="571500" indent="-571500">
              <a:lnSpc>
                <a:spcPct val="150000"/>
              </a:lnSpc>
              <a:buFont typeface="Arial" panose="020B0604020202020204" pitchFamily="34" charset="0"/>
              <a:buChar char="•"/>
            </a:pPr>
            <a:r>
              <a:rPr lang="en-US" sz="2800" dirty="0">
                <a:solidFill>
                  <a:schemeClr val="bg1"/>
                </a:solidFill>
              </a:rPr>
              <a:t>Output-lager</a:t>
            </a:r>
          </a:p>
          <a:p>
            <a:pPr marL="571500" indent="-571500">
              <a:lnSpc>
                <a:spcPct val="150000"/>
              </a:lnSpc>
              <a:buFont typeface="Arial" panose="020B0604020202020204" pitchFamily="34" charset="0"/>
              <a:buChar char="•"/>
            </a:pPr>
            <a:r>
              <a:rPr lang="en-US" sz="2800" noProof="0" dirty="0">
                <a:solidFill>
                  <a:schemeClr val="bg1"/>
                </a:solidFill>
              </a:rPr>
              <a:t>Loss-</a:t>
            </a:r>
            <a:r>
              <a:rPr lang="en-US" sz="2800" noProof="0" dirty="0" err="1">
                <a:solidFill>
                  <a:schemeClr val="bg1"/>
                </a:solidFill>
              </a:rPr>
              <a:t>funktion</a:t>
            </a:r>
            <a:endParaRPr lang="en-US" sz="2800" noProof="0" dirty="0">
              <a:solidFill>
                <a:schemeClr val="bg1"/>
              </a:solidFill>
            </a:endParaRPr>
          </a:p>
          <a:p>
            <a:pPr marL="571500" indent="-571500">
              <a:lnSpc>
                <a:spcPct val="150000"/>
              </a:lnSpc>
              <a:buFont typeface="Arial" panose="020B0604020202020204" pitchFamily="34" charset="0"/>
              <a:buChar char="•"/>
            </a:pPr>
            <a:r>
              <a:rPr lang="en-US" sz="2800" dirty="0">
                <a:solidFill>
                  <a:schemeClr val="bg1"/>
                </a:solidFill>
              </a:rPr>
              <a:t>Optimizer</a:t>
            </a:r>
            <a:endParaRPr lang="sv-SE" sz="2800" noProof="0" dirty="0">
              <a:solidFill>
                <a:schemeClr val="bg1"/>
              </a:solidFill>
            </a:endParaRPr>
          </a:p>
        </p:txBody>
      </p:sp>
    </p:spTree>
    <p:extLst>
      <p:ext uri="{BB962C8B-B14F-4D97-AF65-F5344CB8AC3E}">
        <p14:creationId xmlns:p14="http://schemas.microsoft.com/office/powerpoint/2010/main" val="2575753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63438-CFC3-2F6A-7E88-70CFF505AB58}"/>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65DC1905-75F1-4ACB-F93F-088F2BF22EF4}"/>
              </a:ext>
            </a:extLst>
          </p:cNvPr>
          <p:cNvSpPr txBox="1"/>
          <p:nvPr/>
        </p:nvSpPr>
        <p:spPr>
          <a:xfrm>
            <a:off x="3197339" y="122735"/>
            <a:ext cx="5797357" cy="830997"/>
          </a:xfrm>
          <a:prstGeom prst="rect">
            <a:avLst/>
          </a:prstGeom>
          <a:noFill/>
        </p:spPr>
        <p:txBody>
          <a:bodyPr wrap="none" rtlCol="0">
            <a:spAutoFit/>
          </a:bodyPr>
          <a:lstStyle/>
          <a:p>
            <a:pPr algn="ctr"/>
            <a:r>
              <a:rPr lang="sv-SE" sz="4800" noProof="0" dirty="0">
                <a:solidFill>
                  <a:schemeClr val="bg1"/>
                </a:solidFill>
              </a:rPr>
              <a:t>Aktiveringsfunktioner</a:t>
            </a:r>
          </a:p>
        </p:txBody>
      </p:sp>
      <p:sp>
        <p:nvSpPr>
          <p:cNvPr id="3" name="Rektangel: rundade hörn 2">
            <a:extLst>
              <a:ext uri="{FF2B5EF4-FFF2-40B4-BE49-F238E27FC236}">
                <a16:creationId xmlns:a16="http://schemas.microsoft.com/office/drawing/2014/main" id="{C639B65C-CFEC-CE11-3BF7-DCDC8FC7CD4C}"/>
              </a:ext>
            </a:extLst>
          </p:cNvPr>
          <p:cNvSpPr/>
          <p:nvPr/>
        </p:nvSpPr>
        <p:spPr>
          <a:xfrm>
            <a:off x="1466238" y="1745672"/>
            <a:ext cx="3877106" cy="3883341"/>
          </a:xfrm>
          <a:prstGeom prst="roundRect">
            <a:avLst/>
          </a:prstGeom>
          <a:solidFill>
            <a:srgbClr val="0B3041">
              <a:alpha val="61176"/>
            </a:srgbClr>
          </a:solidFill>
          <a:ln w="38100">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4" name="Rektangel: rundade hörn 3">
            <a:extLst>
              <a:ext uri="{FF2B5EF4-FFF2-40B4-BE49-F238E27FC236}">
                <a16:creationId xmlns:a16="http://schemas.microsoft.com/office/drawing/2014/main" id="{154B0D23-9D6C-9D53-788B-F2A581DA1C6A}"/>
              </a:ext>
            </a:extLst>
          </p:cNvPr>
          <p:cNvSpPr/>
          <p:nvPr/>
        </p:nvSpPr>
        <p:spPr>
          <a:xfrm>
            <a:off x="6535024" y="1745671"/>
            <a:ext cx="3877106" cy="3883341"/>
          </a:xfrm>
          <a:prstGeom prst="roundRect">
            <a:avLst/>
          </a:prstGeom>
          <a:solidFill>
            <a:srgbClr val="0B3041">
              <a:alpha val="61176"/>
            </a:srgbClr>
          </a:solidFill>
          <a:ln w="38100">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9" name="textruta 8">
            <a:extLst>
              <a:ext uri="{FF2B5EF4-FFF2-40B4-BE49-F238E27FC236}">
                <a16:creationId xmlns:a16="http://schemas.microsoft.com/office/drawing/2014/main" id="{FE675657-0524-60C6-E51F-76A3E8D95AE3}"/>
              </a:ext>
            </a:extLst>
          </p:cNvPr>
          <p:cNvSpPr txBox="1"/>
          <p:nvPr/>
        </p:nvSpPr>
        <p:spPr>
          <a:xfrm>
            <a:off x="2366397" y="1745671"/>
            <a:ext cx="2076787" cy="676532"/>
          </a:xfrm>
          <a:prstGeom prst="rect">
            <a:avLst/>
          </a:prstGeom>
          <a:noFill/>
        </p:spPr>
        <p:txBody>
          <a:bodyPr wrap="none" rtlCol="0">
            <a:spAutoFit/>
          </a:bodyPr>
          <a:lstStyle/>
          <a:p>
            <a:pPr algn="ctr">
              <a:lnSpc>
                <a:spcPct val="150000"/>
              </a:lnSpc>
            </a:pPr>
            <a:r>
              <a:rPr lang="sv-SE" sz="2800" noProof="0" dirty="0">
                <a:solidFill>
                  <a:schemeClr val="bg1"/>
                </a:solidFill>
              </a:rPr>
              <a:t>I dolda lager</a:t>
            </a:r>
          </a:p>
        </p:txBody>
      </p:sp>
      <p:sp>
        <p:nvSpPr>
          <p:cNvPr id="10" name="textruta 9">
            <a:extLst>
              <a:ext uri="{FF2B5EF4-FFF2-40B4-BE49-F238E27FC236}">
                <a16:creationId xmlns:a16="http://schemas.microsoft.com/office/drawing/2014/main" id="{E2EF0995-BA61-4515-2977-F3E99EE59023}"/>
              </a:ext>
            </a:extLst>
          </p:cNvPr>
          <p:cNvSpPr txBox="1"/>
          <p:nvPr/>
        </p:nvSpPr>
        <p:spPr>
          <a:xfrm>
            <a:off x="1651492" y="2871446"/>
            <a:ext cx="3506598" cy="2308324"/>
          </a:xfrm>
          <a:prstGeom prst="rect">
            <a:avLst/>
          </a:prstGeom>
          <a:noFill/>
        </p:spPr>
        <p:txBody>
          <a:bodyPr wrap="square" rtlCol="0">
            <a:spAutoFit/>
          </a:bodyPr>
          <a:lstStyle/>
          <a:p>
            <a:pPr marL="457200" indent="-457200">
              <a:buFont typeface="Arial" panose="020B0604020202020204" pitchFamily="34" charset="0"/>
              <a:buChar char="•"/>
            </a:pPr>
            <a:r>
              <a:rPr lang="sv-SE" sz="2400" noProof="0" dirty="0">
                <a:solidFill>
                  <a:schemeClr val="bg1"/>
                </a:solidFill>
              </a:rPr>
              <a:t>Gör modellen mer flexibel</a:t>
            </a:r>
          </a:p>
          <a:p>
            <a:pPr marL="457200" indent="-457200">
              <a:buFont typeface="Arial" panose="020B0604020202020204" pitchFamily="34" charset="0"/>
              <a:buChar char="•"/>
            </a:pPr>
            <a:endParaRPr lang="sv-SE" sz="2400" noProof="0" dirty="0">
              <a:solidFill>
                <a:schemeClr val="bg1"/>
              </a:solidFill>
            </a:endParaRPr>
          </a:p>
          <a:p>
            <a:pPr marL="457200" indent="-457200">
              <a:buFont typeface="Arial" panose="020B0604020202020204" pitchFamily="34" charset="0"/>
              <a:buChar char="•"/>
            </a:pPr>
            <a:r>
              <a:rPr lang="sv-SE" sz="2400" noProof="0" dirty="0">
                <a:solidFill>
                  <a:schemeClr val="bg1"/>
                </a:solidFill>
              </a:rPr>
              <a:t>Hjälper den fånga mer komplexa samband</a:t>
            </a:r>
          </a:p>
        </p:txBody>
      </p:sp>
      <p:sp>
        <p:nvSpPr>
          <p:cNvPr id="11" name="textruta 10">
            <a:extLst>
              <a:ext uri="{FF2B5EF4-FFF2-40B4-BE49-F238E27FC236}">
                <a16:creationId xmlns:a16="http://schemas.microsoft.com/office/drawing/2014/main" id="{815A0095-8BD2-06BA-3290-7FBE7F54C711}"/>
              </a:ext>
            </a:extLst>
          </p:cNvPr>
          <p:cNvSpPr txBox="1"/>
          <p:nvPr/>
        </p:nvSpPr>
        <p:spPr>
          <a:xfrm>
            <a:off x="7282966" y="1745671"/>
            <a:ext cx="2381229" cy="676532"/>
          </a:xfrm>
          <a:prstGeom prst="rect">
            <a:avLst/>
          </a:prstGeom>
          <a:noFill/>
        </p:spPr>
        <p:txBody>
          <a:bodyPr wrap="none" rtlCol="0">
            <a:spAutoFit/>
          </a:bodyPr>
          <a:lstStyle/>
          <a:p>
            <a:pPr algn="ctr">
              <a:lnSpc>
                <a:spcPct val="150000"/>
              </a:lnSpc>
            </a:pPr>
            <a:r>
              <a:rPr lang="sv-SE" sz="2800" noProof="0" dirty="0">
                <a:solidFill>
                  <a:schemeClr val="bg1"/>
                </a:solidFill>
              </a:rPr>
              <a:t>I output-lagret</a:t>
            </a:r>
          </a:p>
        </p:txBody>
      </p:sp>
      <p:sp>
        <p:nvSpPr>
          <p:cNvPr id="12" name="textruta 11">
            <a:extLst>
              <a:ext uri="{FF2B5EF4-FFF2-40B4-BE49-F238E27FC236}">
                <a16:creationId xmlns:a16="http://schemas.microsoft.com/office/drawing/2014/main" id="{DAE67B7C-A311-D84B-8C12-08DA5F06DB68}"/>
              </a:ext>
            </a:extLst>
          </p:cNvPr>
          <p:cNvSpPr txBox="1"/>
          <p:nvPr/>
        </p:nvSpPr>
        <p:spPr>
          <a:xfrm>
            <a:off x="6720279" y="2871446"/>
            <a:ext cx="3506598" cy="1938992"/>
          </a:xfrm>
          <a:prstGeom prst="rect">
            <a:avLst/>
          </a:prstGeom>
          <a:noFill/>
        </p:spPr>
        <p:txBody>
          <a:bodyPr wrap="square" rtlCol="0">
            <a:spAutoFit/>
          </a:bodyPr>
          <a:lstStyle/>
          <a:p>
            <a:pPr marL="457200" indent="-457200">
              <a:buFont typeface="Arial" panose="020B0604020202020204" pitchFamily="34" charset="0"/>
              <a:buChar char="•"/>
            </a:pPr>
            <a:r>
              <a:rPr lang="sv-SE" sz="2400" noProof="0" dirty="0">
                <a:solidFill>
                  <a:schemeClr val="bg1"/>
                </a:solidFill>
              </a:rPr>
              <a:t>Formar modellens slutgiltiga svar</a:t>
            </a:r>
          </a:p>
          <a:p>
            <a:pPr marL="457200" indent="-457200">
              <a:buFont typeface="Arial" panose="020B0604020202020204" pitchFamily="34" charset="0"/>
              <a:buChar char="•"/>
            </a:pPr>
            <a:endParaRPr lang="sv-SE" sz="2400" dirty="0">
              <a:solidFill>
                <a:schemeClr val="bg1"/>
              </a:solidFill>
            </a:endParaRPr>
          </a:p>
          <a:p>
            <a:pPr marL="457200" indent="-457200">
              <a:buFont typeface="Arial" panose="020B0604020202020204" pitchFamily="34" charset="0"/>
              <a:buChar char="•"/>
            </a:pPr>
            <a:r>
              <a:rPr lang="sv-SE" sz="2400" noProof="0" dirty="0">
                <a:solidFill>
                  <a:schemeClr val="bg1"/>
                </a:solidFill>
              </a:rPr>
              <a:t>Måste passa problemtypen</a:t>
            </a:r>
          </a:p>
        </p:txBody>
      </p:sp>
    </p:spTree>
    <p:extLst>
      <p:ext uri="{BB962C8B-B14F-4D97-AF65-F5344CB8AC3E}">
        <p14:creationId xmlns:p14="http://schemas.microsoft.com/office/powerpoint/2010/main" val="1055071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00015-3F6F-45B1-8D37-3D2B3CBD0B3C}"/>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3521B8E4-DDF9-C196-670F-4564693C6AE5}"/>
              </a:ext>
            </a:extLst>
          </p:cNvPr>
          <p:cNvSpPr txBox="1"/>
          <p:nvPr/>
        </p:nvSpPr>
        <p:spPr>
          <a:xfrm>
            <a:off x="2484917" y="122735"/>
            <a:ext cx="7222234" cy="830997"/>
          </a:xfrm>
          <a:prstGeom prst="rect">
            <a:avLst/>
          </a:prstGeom>
          <a:noFill/>
        </p:spPr>
        <p:txBody>
          <a:bodyPr wrap="none" rtlCol="0">
            <a:spAutoFit/>
          </a:bodyPr>
          <a:lstStyle/>
          <a:p>
            <a:pPr algn="ctr"/>
            <a:r>
              <a:rPr lang="en-US" sz="4800" noProof="0" dirty="0" err="1">
                <a:solidFill>
                  <a:schemeClr val="bg1"/>
                </a:solidFill>
              </a:rPr>
              <a:t>ReLU</a:t>
            </a:r>
            <a:r>
              <a:rPr lang="en-US" sz="4800" noProof="0" dirty="0">
                <a:solidFill>
                  <a:schemeClr val="bg1"/>
                </a:solidFill>
              </a:rPr>
              <a:t> – </a:t>
            </a:r>
            <a:r>
              <a:rPr lang="en-US" sz="4800" noProof="0" dirty="0" err="1">
                <a:solidFill>
                  <a:schemeClr val="bg1"/>
                </a:solidFill>
              </a:rPr>
              <a:t>vanligt</a:t>
            </a:r>
            <a:r>
              <a:rPr lang="en-US" sz="4800" noProof="0" dirty="0">
                <a:solidFill>
                  <a:schemeClr val="bg1"/>
                </a:solidFill>
              </a:rPr>
              <a:t> </a:t>
            </a:r>
            <a:r>
              <a:rPr lang="en-US" sz="4800" noProof="0" dirty="0" err="1">
                <a:solidFill>
                  <a:schemeClr val="bg1"/>
                </a:solidFill>
              </a:rPr>
              <a:t>i</a:t>
            </a:r>
            <a:r>
              <a:rPr lang="en-US" sz="4800" noProof="0" dirty="0">
                <a:solidFill>
                  <a:schemeClr val="bg1"/>
                </a:solidFill>
              </a:rPr>
              <a:t> </a:t>
            </a:r>
            <a:r>
              <a:rPr lang="en-US" sz="4800" noProof="0" dirty="0" err="1">
                <a:solidFill>
                  <a:schemeClr val="bg1"/>
                </a:solidFill>
              </a:rPr>
              <a:t>dolda</a:t>
            </a:r>
            <a:r>
              <a:rPr lang="en-US" sz="4800" noProof="0" dirty="0">
                <a:solidFill>
                  <a:schemeClr val="bg1"/>
                </a:solidFill>
              </a:rPr>
              <a:t> lager</a:t>
            </a:r>
          </a:p>
        </p:txBody>
      </p:sp>
      <p:sp>
        <p:nvSpPr>
          <p:cNvPr id="3" name="textruta 2">
            <a:extLst>
              <a:ext uri="{FF2B5EF4-FFF2-40B4-BE49-F238E27FC236}">
                <a16:creationId xmlns:a16="http://schemas.microsoft.com/office/drawing/2014/main" id="{7491C41E-CE1A-07CC-7120-9BD11156947D}"/>
              </a:ext>
            </a:extLst>
          </p:cNvPr>
          <p:cNvSpPr txBox="1"/>
          <p:nvPr/>
        </p:nvSpPr>
        <p:spPr>
          <a:xfrm>
            <a:off x="1501686" y="2852876"/>
            <a:ext cx="5669885" cy="1969193"/>
          </a:xfrm>
          <a:prstGeom prst="rect">
            <a:avLst/>
          </a:prstGeom>
          <a:noFill/>
        </p:spPr>
        <p:txBody>
          <a:bodyPr wrap="none" rtlCol="0">
            <a:spAutoFit/>
          </a:bodyPr>
          <a:lstStyle/>
          <a:p>
            <a:pPr marL="571500" indent="-571500">
              <a:lnSpc>
                <a:spcPct val="150000"/>
              </a:lnSpc>
              <a:buFont typeface="Arial" panose="020B0604020202020204" pitchFamily="34" charset="0"/>
              <a:buChar char="•"/>
            </a:pPr>
            <a:r>
              <a:rPr lang="en-US" sz="2800" noProof="0" dirty="0" err="1">
                <a:solidFill>
                  <a:schemeClr val="bg1"/>
                </a:solidFill>
              </a:rPr>
              <a:t>Negativa</a:t>
            </a:r>
            <a:r>
              <a:rPr lang="en-US" sz="2800" noProof="0" dirty="0">
                <a:solidFill>
                  <a:schemeClr val="bg1"/>
                </a:solidFill>
              </a:rPr>
              <a:t> </a:t>
            </a:r>
            <a:r>
              <a:rPr lang="en-US" sz="2800" noProof="0" dirty="0" err="1">
                <a:solidFill>
                  <a:schemeClr val="bg1"/>
                </a:solidFill>
              </a:rPr>
              <a:t>värden</a:t>
            </a:r>
            <a:r>
              <a:rPr lang="en-US" sz="2800" noProof="0" dirty="0">
                <a:solidFill>
                  <a:schemeClr val="bg1"/>
                </a:solidFill>
              </a:rPr>
              <a:t> </a:t>
            </a:r>
            <a:r>
              <a:rPr lang="en-US" sz="2800" noProof="0" dirty="0" err="1">
                <a:solidFill>
                  <a:schemeClr val="bg1"/>
                </a:solidFill>
              </a:rPr>
              <a:t>blir</a:t>
            </a:r>
            <a:r>
              <a:rPr lang="en-US" sz="2800" noProof="0" dirty="0">
                <a:solidFill>
                  <a:schemeClr val="bg1"/>
                </a:solidFill>
              </a:rPr>
              <a:t> 0</a:t>
            </a:r>
          </a:p>
          <a:p>
            <a:pPr marL="571500" indent="-571500">
              <a:lnSpc>
                <a:spcPct val="150000"/>
              </a:lnSpc>
              <a:buFont typeface="Arial" panose="020B0604020202020204" pitchFamily="34" charset="0"/>
              <a:buChar char="•"/>
            </a:pPr>
            <a:r>
              <a:rPr lang="en-US" sz="2800" dirty="0" err="1">
                <a:solidFill>
                  <a:schemeClr val="bg1"/>
                </a:solidFill>
              </a:rPr>
              <a:t>Positiva</a:t>
            </a:r>
            <a:r>
              <a:rPr lang="en-US" sz="2800" dirty="0">
                <a:solidFill>
                  <a:schemeClr val="bg1"/>
                </a:solidFill>
              </a:rPr>
              <a:t> </a:t>
            </a:r>
            <a:r>
              <a:rPr lang="en-US" sz="2800" dirty="0" err="1">
                <a:solidFill>
                  <a:schemeClr val="bg1"/>
                </a:solidFill>
              </a:rPr>
              <a:t>värden</a:t>
            </a:r>
            <a:r>
              <a:rPr lang="en-US" sz="2800" dirty="0">
                <a:solidFill>
                  <a:schemeClr val="bg1"/>
                </a:solidFill>
              </a:rPr>
              <a:t> </a:t>
            </a:r>
            <a:r>
              <a:rPr lang="en-US" sz="2800" dirty="0" err="1">
                <a:solidFill>
                  <a:schemeClr val="bg1"/>
                </a:solidFill>
              </a:rPr>
              <a:t>går</a:t>
            </a:r>
            <a:r>
              <a:rPr lang="en-US" sz="2800" dirty="0">
                <a:solidFill>
                  <a:schemeClr val="bg1"/>
                </a:solidFill>
              </a:rPr>
              <a:t> </a:t>
            </a:r>
            <a:r>
              <a:rPr lang="en-US" sz="2800" dirty="0" err="1">
                <a:solidFill>
                  <a:schemeClr val="bg1"/>
                </a:solidFill>
              </a:rPr>
              <a:t>vidare</a:t>
            </a:r>
            <a:endParaRPr lang="en-US" sz="2800" dirty="0">
              <a:solidFill>
                <a:schemeClr val="bg1"/>
              </a:solidFill>
            </a:endParaRPr>
          </a:p>
          <a:p>
            <a:pPr marL="571500" indent="-571500">
              <a:lnSpc>
                <a:spcPct val="150000"/>
              </a:lnSpc>
              <a:buFont typeface="Arial" panose="020B0604020202020204" pitchFamily="34" charset="0"/>
              <a:buChar char="•"/>
            </a:pPr>
            <a:r>
              <a:rPr lang="en-US" sz="2800" noProof="0" dirty="0" err="1">
                <a:solidFill>
                  <a:schemeClr val="bg1"/>
                </a:solidFill>
              </a:rPr>
              <a:t>Vanligt</a:t>
            </a:r>
            <a:r>
              <a:rPr lang="en-US" sz="2800" noProof="0" dirty="0">
                <a:solidFill>
                  <a:schemeClr val="bg1"/>
                </a:solidFill>
              </a:rPr>
              <a:t> </a:t>
            </a:r>
            <a:r>
              <a:rPr lang="en-US" sz="2800" noProof="0" dirty="0" err="1">
                <a:solidFill>
                  <a:schemeClr val="bg1"/>
                </a:solidFill>
              </a:rPr>
              <a:t>standardval</a:t>
            </a:r>
            <a:r>
              <a:rPr lang="en-US" sz="2800" noProof="0" dirty="0">
                <a:solidFill>
                  <a:schemeClr val="bg1"/>
                </a:solidFill>
              </a:rPr>
              <a:t> </a:t>
            </a:r>
            <a:r>
              <a:rPr lang="en-US" sz="2800" noProof="0" dirty="0" err="1">
                <a:solidFill>
                  <a:schemeClr val="bg1"/>
                </a:solidFill>
              </a:rPr>
              <a:t>i</a:t>
            </a:r>
            <a:r>
              <a:rPr lang="en-US" sz="2800" noProof="0" dirty="0">
                <a:solidFill>
                  <a:schemeClr val="bg1"/>
                </a:solidFill>
              </a:rPr>
              <a:t> </a:t>
            </a:r>
            <a:r>
              <a:rPr lang="en-US" sz="2800" noProof="0" dirty="0" err="1">
                <a:solidFill>
                  <a:schemeClr val="bg1"/>
                </a:solidFill>
              </a:rPr>
              <a:t>dolda</a:t>
            </a:r>
            <a:r>
              <a:rPr lang="en-US" sz="2800" noProof="0" dirty="0">
                <a:solidFill>
                  <a:schemeClr val="bg1"/>
                </a:solidFill>
              </a:rPr>
              <a:t> lager</a:t>
            </a:r>
          </a:p>
        </p:txBody>
      </p:sp>
      <p:pic>
        <p:nvPicPr>
          <p:cNvPr id="4" name="Bildobjekt 3">
            <a:extLst>
              <a:ext uri="{FF2B5EF4-FFF2-40B4-BE49-F238E27FC236}">
                <a16:creationId xmlns:a16="http://schemas.microsoft.com/office/drawing/2014/main" id="{543C6307-FCD7-C978-8AF7-9B7C54566921}"/>
              </a:ext>
            </a:extLst>
          </p:cNvPr>
          <p:cNvPicPr>
            <a:picLocks noChangeAspect="1"/>
          </p:cNvPicPr>
          <p:nvPr/>
        </p:nvPicPr>
        <p:blipFill>
          <a:blip r:embed="rId3"/>
          <a:srcRect l="53493" t="5220"/>
          <a:stretch>
            <a:fillRect/>
          </a:stretch>
        </p:blipFill>
        <p:spPr>
          <a:xfrm>
            <a:off x="8657439" y="3692824"/>
            <a:ext cx="3266112" cy="2942526"/>
          </a:xfrm>
          <a:prstGeom prst="rect">
            <a:avLst/>
          </a:prstGeom>
        </p:spPr>
      </p:pic>
      <mc:AlternateContent xmlns:mc="http://schemas.openxmlformats.org/markup-compatibility/2006">
        <mc:Choice xmlns:a14="http://schemas.microsoft.com/office/drawing/2010/main" Requires="a14">
          <p:sp>
            <p:nvSpPr>
              <p:cNvPr id="5" name="textruta 4">
                <a:extLst>
                  <a:ext uri="{FF2B5EF4-FFF2-40B4-BE49-F238E27FC236}">
                    <a16:creationId xmlns:a16="http://schemas.microsoft.com/office/drawing/2014/main" id="{2A970AB9-5CBC-6130-67C3-236CE4FFEE4F}"/>
                  </a:ext>
                </a:extLst>
              </p:cNvPr>
              <p:cNvSpPr txBox="1"/>
              <p:nvPr/>
            </p:nvSpPr>
            <p:spPr>
              <a:xfrm>
                <a:off x="4973256" y="1125746"/>
                <a:ext cx="224548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sv-SE" i="1" dirty="0" smtClean="0">
                          <a:solidFill>
                            <a:schemeClr val="bg1"/>
                          </a:solidFill>
                          <a:latin typeface="Cambria Math" panose="02040503050406030204" pitchFamily="18" charset="0"/>
                        </a:rPr>
                        <m:t>𝑅𝑒𝐿𝑈</m:t>
                      </m:r>
                      <m:d>
                        <m:dPr>
                          <m:ctrlPr>
                            <a:rPr lang="sv-SE" i="1" dirty="0">
                              <a:solidFill>
                                <a:schemeClr val="bg1"/>
                              </a:solidFill>
                              <a:latin typeface="Cambria Math" panose="02040503050406030204" pitchFamily="18" charset="0"/>
                            </a:rPr>
                          </m:ctrlPr>
                        </m:dPr>
                        <m:e>
                          <m:r>
                            <a:rPr lang="sv-SE" i="1" dirty="0">
                              <a:solidFill>
                                <a:schemeClr val="bg1"/>
                              </a:solidFill>
                              <a:latin typeface="Cambria Math" panose="02040503050406030204" pitchFamily="18" charset="0"/>
                            </a:rPr>
                            <m:t>𝑧</m:t>
                          </m:r>
                        </m:e>
                      </m:d>
                      <m:r>
                        <m:rPr>
                          <m:nor/>
                        </m:rPr>
                        <a:rPr lang="sv-SE" i="1" dirty="0">
                          <a:solidFill>
                            <a:schemeClr val="bg1"/>
                          </a:solidFill>
                          <a:latin typeface="Cambria Math" panose="02040503050406030204" pitchFamily="18" charset="0"/>
                        </a:rPr>
                        <m:t> </m:t>
                      </m:r>
                      <m:r>
                        <a:rPr lang="sv-SE" i="1" dirty="0">
                          <a:solidFill>
                            <a:schemeClr val="bg1"/>
                          </a:solidFill>
                          <a:latin typeface="Cambria Math" panose="02040503050406030204" pitchFamily="18" charset="0"/>
                        </a:rPr>
                        <m:t>=</m:t>
                      </m:r>
                      <m:func>
                        <m:funcPr>
                          <m:ctrlPr>
                            <a:rPr lang="sv-SE" i="1" dirty="0">
                              <a:solidFill>
                                <a:schemeClr val="bg1"/>
                              </a:solidFill>
                              <a:latin typeface="Cambria Math" panose="02040503050406030204" pitchFamily="18" charset="0"/>
                            </a:rPr>
                          </m:ctrlPr>
                        </m:funcPr>
                        <m:fName>
                          <m:r>
                            <m:rPr>
                              <m:sty m:val="p"/>
                            </m:rPr>
                            <a:rPr lang="sv-SE" i="1" dirty="0">
                              <a:solidFill>
                                <a:schemeClr val="bg1"/>
                              </a:solidFill>
                              <a:latin typeface="Cambria Math" panose="02040503050406030204" pitchFamily="18" charset="0"/>
                            </a:rPr>
                            <m:t>max</m:t>
                          </m:r>
                        </m:fName>
                        <m:e>
                          <m:d>
                            <m:dPr>
                              <m:ctrlPr>
                                <a:rPr lang="sv-SE" i="1" dirty="0">
                                  <a:solidFill>
                                    <a:schemeClr val="bg1"/>
                                  </a:solidFill>
                                  <a:latin typeface="Cambria Math" panose="02040503050406030204" pitchFamily="18" charset="0"/>
                                </a:rPr>
                              </m:ctrlPr>
                            </m:dPr>
                            <m:e>
                              <m:r>
                                <a:rPr lang="sv-SE" i="1" dirty="0">
                                  <a:solidFill>
                                    <a:schemeClr val="bg1"/>
                                  </a:solidFill>
                                  <a:latin typeface="Cambria Math" panose="02040503050406030204" pitchFamily="18" charset="0"/>
                                </a:rPr>
                                <m:t>0,</m:t>
                              </m:r>
                              <m:r>
                                <a:rPr lang="sv-SE" i="1" dirty="0">
                                  <a:solidFill>
                                    <a:schemeClr val="bg1"/>
                                  </a:solidFill>
                                  <a:latin typeface="Cambria Math" panose="02040503050406030204" pitchFamily="18" charset="0"/>
                                </a:rPr>
                                <m:t>𝑧</m:t>
                              </m:r>
                            </m:e>
                          </m:d>
                        </m:e>
                      </m:func>
                    </m:oMath>
                  </m:oMathPara>
                </a14:m>
                <a:endParaRPr lang="en-SE" dirty="0"/>
              </a:p>
            </p:txBody>
          </p:sp>
        </mc:Choice>
        <mc:Fallback>
          <p:sp>
            <p:nvSpPr>
              <p:cNvPr id="5" name="textruta 4">
                <a:extLst>
                  <a:ext uri="{FF2B5EF4-FFF2-40B4-BE49-F238E27FC236}">
                    <a16:creationId xmlns:a16="http://schemas.microsoft.com/office/drawing/2014/main" id="{2A970AB9-5CBC-6130-67C3-236CE4FFEE4F}"/>
                  </a:ext>
                </a:extLst>
              </p:cNvPr>
              <p:cNvSpPr txBox="1">
                <a:spLocks noRot="1" noChangeAspect="1" noMove="1" noResize="1" noEditPoints="1" noAdjustHandles="1" noChangeArrowheads="1" noChangeShapeType="1" noTextEdit="1"/>
              </p:cNvSpPr>
              <p:nvPr/>
            </p:nvSpPr>
            <p:spPr>
              <a:xfrm>
                <a:off x="4973256" y="1125746"/>
                <a:ext cx="2245487" cy="276999"/>
              </a:xfrm>
              <a:prstGeom prst="rect">
                <a:avLst/>
              </a:prstGeom>
              <a:blipFill>
                <a:blip r:embed="rId4"/>
                <a:stretch>
                  <a:fillRect l="-1087" b="-6667"/>
                </a:stretch>
              </a:blipFill>
            </p:spPr>
            <p:txBody>
              <a:bodyPr/>
              <a:lstStyle/>
              <a:p>
                <a:r>
                  <a:rPr lang="en-SE">
                    <a:noFill/>
                  </a:rPr>
                  <a:t> </a:t>
                </a:r>
              </a:p>
            </p:txBody>
          </p:sp>
        </mc:Fallback>
      </mc:AlternateContent>
    </p:spTree>
    <p:extLst>
      <p:ext uri="{BB962C8B-B14F-4D97-AF65-F5344CB8AC3E}">
        <p14:creationId xmlns:p14="http://schemas.microsoft.com/office/powerpoint/2010/main" val="307376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B258D-40BF-EDDF-6669-FBAE5A5455AD}"/>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249A2A20-E450-764D-6672-08A85873DDC3}"/>
              </a:ext>
            </a:extLst>
          </p:cNvPr>
          <p:cNvSpPr txBox="1"/>
          <p:nvPr/>
        </p:nvSpPr>
        <p:spPr>
          <a:xfrm>
            <a:off x="1005098" y="122735"/>
            <a:ext cx="10181890" cy="830997"/>
          </a:xfrm>
          <a:prstGeom prst="rect">
            <a:avLst/>
          </a:prstGeom>
          <a:noFill/>
        </p:spPr>
        <p:txBody>
          <a:bodyPr wrap="none" rtlCol="0">
            <a:spAutoFit/>
          </a:bodyPr>
          <a:lstStyle/>
          <a:p>
            <a:pPr algn="ctr"/>
            <a:r>
              <a:rPr lang="en-US" sz="4800" noProof="0" dirty="0">
                <a:solidFill>
                  <a:schemeClr val="bg1"/>
                </a:solidFill>
              </a:rPr>
              <a:t>Sigmoid – bra </a:t>
            </a:r>
            <a:r>
              <a:rPr lang="en-US" sz="4800" noProof="0" dirty="0" err="1">
                <a:solidFill>
                  <a:schemeClr val="bg1"/>
                </a:solidFill>
              </a:rPr>
              <a:t>när</a:t>
            </a:r>
            <a:r>
              <a:rPr lang="en-US" sz="4800" noProof="0" dirty="0">
                <a:solidFill>
                  <a:schemeClr val="bg1"/>
                </a:solidFill>
              </a:rPr>
              <a:t> vi </a:t>
            </a:r>
            <a:r>
              <a:rPr lang="en-US" sz="4800" noProof="0" dirty="0" err="1">
                <a:solidFill>
                  <a:schemeClr val="bg1"/>
                </a:solidFill>
              </a:rPr>
              <a:t>vill</a:t>
            </a:r>
            <a:r>
              <a:rPr lang="en-US" sz="4800" noProof="0" dirty="0">
                <a:solidFill>
                  <a:schemeClr val="bg1"/>
                </a:solidFill>
              </a:rPr>
              <a:t> ha </a:t>
            </a:r>
            <a:r>
              <a:rPr lang="en-US" sz="4800" noProof="0" dirty="0" err="1">
                <a:solidFill>
                  <a:schemeClr val="bg1"/>
                </a:solidFill>
              </a:rPr>
              <a:t>sannolikhet</a:t>
            </a:r>
            <a:endParaRPr lang="en-US" sz="4800" noProof="0" dirty="0">
              <a:solidFill>
                <a:schemeClr val="bg1"/>
              </a:solidFill>
            </a:endParaRPr>
          </a:p>
        </p:txBody>
      </p:sp>
      <p:sp>
        <p:nvSpPr>
          <p:cNvPr id="3" name="textruta 2">
            <a:extLst>
              <a:ext uri="{FF2B5EF4-FFF2-40B4-BE49-F238E27FC236}">
                <a16:creationId xmlns:a16="http://schemas.microsoft.com/office/drawing/2014/main" id="{7294E018-F1B1-4737-ABAC-27D4A38B5F12}"/>
              </a:ext>
            </a:extLst>
          </p:cNvPr>
          <p:cNvSpPr txBox="1"/>
          <p:nvPr/>
        </p:nvSpPr>
        <p:spPr>
          <a:xfrm>
            <a:off x="721510" y="2852876"/>
            <a:ext cx="7500130" cy="1969193"/>
          </a:xfrm>
          <a:prstGeom prst="rect">
            <a:avLst/>
          </a:prstGeom>
          <a:noFill/>
        </p:spPr>
        <p:txBody>
          <a:bodyPr wrap="none" rtlCol="0">
            <a:spAutoFit/>
          </a:bodyPr>
          <a:lstStyle/>
          <a:p>
            <a:pPr marL="571500" indent="-571500">
              <a:lnSpc>
                <a:spcPct val="150000"/>
              </a:lnSpc>
              <a:buFont typeface="Arial" panose="020B0604020202020204" pitchFamily="34" charset="0"/>
              <a:buChar char="•"/>
            </a:pPr>
            <a:r>
              <a:rPr lang="en-US" sz="2800" noProof="0" dirty="0">
                <a:solidFill>
                  <a:schemeClr val="bg1"/>
                </a:solidFill>
              </a:rPr>
              <a:t>Output </a:t>
            </a:r>
            <a:r>
              <a:rPr lang="en-US" sz="2800" noProof="0" dirty="0" err="1">
                <a:solidFill>
                  <a:schemeClr val="bg1"/>
                </a:solidFill>
              </a:rPr>
              <a:t>mellan</a:t>
            </a:r>
            <a:r>
              <a:rPr lang="en-US" sz="2800" noProof="0" dirty="0">
                <a:solidFill>
                  <a:schemeClr val="bg1"/>
                </a:solidFill>
              </a:rPr>
              <a:t> 0 och 1</a:t>
            </a:r>
          </a:p>
          <a:p>
            <a:pPr marL="571500" indent="-571500">
              <a:lnSpc>
                <a:spcPct val="150000"/>
              </a:lnSpc>
              <a:buFont typeface="Arial" panose="020B0604020202020204" pitchFamily="34" charset="0"/>
              <a:buChar char="•"/>
            </a:pPr>
            <a:r>
              <a:rPr lang="en-US" sz="2800" dirty="0">
                <a:solidFill>
                  <a:schemeClr val="bg1"/>
                </a:solidFill>
              </a:rPr>
              <a:t>Kan </a:t>
            </a:r>
            <a:r>
              <a:rPr lang="en-US" sz="2800" dirty="0" err="1">
                <a:solidFill>
                  <a:schemeClr val="bg1"/>
                </a:solidFill>
              </a:rPr>
              <a:t>tolkas</a:t>
            </a:r>
            <a:r>
              <a:rPr lang="en-US" sz="2800" dirty="0">
                <a:solidFill>
                  <a:schemeClr val="bg1"/>
                </a:solidFill>
              </a:rPr>
              <a:t> </a:t>
            </a:r>
            <a:r>
              <a:rPr lang="en-US" sz="2800" dirty="0" err="1">
                <a:solidFill>
                  <a:schemeClr val="bg1"/>
                </a:solidFill>
              </a:rPr>
              <a:t>som</a:t>
            </a:r>
            <a:r>
              <a:rPr lang="en-US" sz="2800" dirty="0">
                <a:solidFill>
                  <a:schemeClr val="bg1"/>
                </a:solidFill>
              </a:rPr>
              <a:t> </a:t>
            </a:r>
            <a:r>
              <a:rPr lang="en-US" sz="2800" dirty="0" err="1">
                <a:solidFill>
                  <a:schemeClr val="bg1"/>
                </a:solidFill>
              </a:rPr>
              <a:t>sannolikhet</a:t>
            </a:r>
            <a:endParaRPr lang="en-US" sz="2800" dirty="0">
              <a:solidFill>
                <a:schemeClr val="bg1"/>
              </a:solidFill>
            </a:endParaRPr>
          </a:p>
          <a:p>
            <a:pPr marL="571500" indent="-571500">
              <a:lnSpc>
                <a:spcPct val="150000"/>
              </a:lnSpc>
              <a:buFont typeface="Arial" panose="020B0604020202020204" pitchFamily="34" charset="0"/>
              <a:buChar char="•"/>
            </a:pPr>
            <a:r>
              <a:rPr lang="en-US" sz="2800" noProof="0" dirty="0" err="1">
                <a:solidFill>
                  <a:schemeClr val="bg1"/>
                </a:solidFill>
              </a:rPr>
              <a:t>Vanligt</a:t>
            </a:r>
            <a:r>
              <a:rPr lang="en-US" sz="2800" noProof="0" dirty="0">
                <a:solidFill>
                  <a:schemeClr val="bg1"/>
                </a:solidFill>
              </a:rPr>
              <a:t> </a:t>
            </a:r>
            <a:r>
              <a:rPr lang="en-US" sz="2800" noProof="0" dirty="0" err="1">
                <a:solidFill>
                  <a:schemeClr val="bg1"/>
                </a:solidFill>
              </a:rPr>
              <a:t>i</a:t>
            </a:r>
            <a:r>
              <a:rPr lang="en-US" sz="2800" noProof="0" dirty="0">
                <a:solidFill>
                  <a:schemeClr val="bg1"/>
                </a:solidFill>
              </a:rPr>
              <a:t> output-</a:t>
            </a:r>
            <a:r>
              <a:rPr lang="en-US" sz="2800" noProof="0" dirty="0" err="1">
                <a:solidFill>
                  <a:schemeClr val="bg1"/>
                </a:solidFill>
              </a:rPr>
              <a:t>lagret</a:t>
            </a:r>
            <a:r>
              <a:rPr lang="en-US" sz="2800" noProof="0" dirty="0">
                <a:solidFill>
                  <a:schemeClr val="bg1"/>
                </a:solidFill>
              </a:rPr>
              <a:t> för </a:t>
            </a:r>
            <a:r>
              <a:rPr lang="en-US" sz="2800" noProof="0" dirty="0" err="1">
                <a:solidFill>
                  <a:schemeClr val="bg1"/>
                </a:solidFill>
              </a:rPr>
              <a:t>binär</a:t>
            </a:r>
            <a:r>
              <a:rPr lang="en-US" sz="2800" noProof="0" dirty="0">
                <a:solidFill>
                  <a:schemeClr val="bg1"/>
                </a:solidFill>
              </a:rPr>
              <a:t> </a:t>
            </a:r>
            <a:r>
              <a:rPr lang="en-US" sz="2800" noProof="0" dirty="0" err="1">
                <a:solidFill>
                  <a:schemeClr val="bg1"/>
                </a:solidFill>
              </a:rPr>
              <a:t>klassificering</a:t>
            </a:r>
            <a:endParaRPr lang="en-US" sz="2800" noProof="0" dirty="0">
              <a:solidFill>
                <a:schemeClr val="bg1"/>
              </a:solidFill>
            </a:endParaRPr>
          </a:p>
        </p:txBody>
      </p:sp>
      <p:pic>
        <p:nvPicPr>
          <p:cNvPr id="4" name="Bildobjekt 3">
            <a:extLst>
              <a:ext uri="{FF2B5EF4-FFF2-40B4-BE49-F238E27FC236}">
                <a16:creationId xmlns:a16="http://schemas.microsoft.com/office/drawing/2014/main" id="{F6AA00DE-B125-A521-EF27-A90528B11B3E}"/>
              </a:ext>
            </a:extLst>
          </p:cNvPr>
          <p:cNvPicPr>
            <a:picLocks noChangeAspect="1"/>
          </p:cNvPicPr>
          <p:nvPr/>
        </p:nvPicPr>
        <p:blipFill>
          <a:blip r:embed="rId3"/>
          <a:srcRect l="3323" t="4950" r="50170" b="270"/>
          <a:stretch>
            <a:fillRect/>
          </a:stretch>
        </p:blipFill>
        <p:spPr>
          <a:xfrm>
            <a:off x="8657439" y="3692824"/>
            <a:ext cx="3266112" cy="2942526"/>
          </a:xfrm>
          <a:prstGeom prst="rect">
            <a:avLst/>
          </a:prstGeom>
        </p:spPr>
      </p:pic>
      <mc:AlternateContent xmlns:mc="http://schemas.openxmlformats.org/markup-compatibility/2006">
        <mc:Choice xmlns:a14="http://schemas.microsoft.com/office/drawing/2010/main" Requires="a14">
          <p:sp>
            <p:nvSpPr>
              <p:cNvPr id="5" name="textruta 4">
                <a:extLst>
                  <a:ext uri="{FF2B5EF4-FFF2-40B4-BE49-F238E27FC236}">
                    <a16:creationId xmlns:a16="http://schemas.microsoft.com/office/drawing/2014/main" id="{D6BF63C2-4A8E-0FBB-5365-29563A3A4C03}"/>
                  </a:ext>
                </a:extLst>
              </p:cNvPr>
              <p:cNvSpPr txBox="1"/>
              <p:nvPr/>
            </p:nvSpPr>
            <p:spPr>
              <a:xfrm>
                <a:off x="5250576" y="1098083"/>
                <a:ext cx="1690847" cy="536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i="1" dirty="0">
                          <a:solidFill>
                            <a:schemeClr val="bg1"/>
                          </a:solidFill>
                          <a:latin typeface="Cambria Math" panose="02040503050406030204" pitchFamily="18" charset="0"/>
                        </a:rPr>
                        <m:t>𝜎</m:t>
                      </m:r>
                      <m:d>
                        <m:dPr>
                          <m:ctrlPr>
                            <a:rPr lang="sv-SE" i="1" dirty="0">
                              <a:solidFill>
                                <a:schemeClr val="bg1"/>
                              </a:solidFill>
                              <a:latin typeface="Cambria Math" panose="02040503050406030204" pitchFamily="18" charset="0"/>
                            </a:rPr>
                          </m:ctrlPr>
                        </m:dPr>
                        <m:e>
                          <m:r>
                            <a:rPr lang="sv-SE" i="1" dirty="0">
                              <a:solidFill>
                                <a:schemeClr val="bg1"/>
                              </a:solidFill>
                              <a:latin typeface="Cambria Math" panose="02040503050406030204" pitchFamily="18" charset="0"/>
                            </a:rPr>
                            <m:t>𝑧</m:t>
                          </m:r>
                        </m:e>
                      </m:d>
                      <m:r>
                        <a:rPr lang="sv-SE" i="1" dirty="0">
                          <a:solidFill>
                            <a:schemeClr val="bg1"/>
                          </a:solidFill>
                          <a:latin typeface="Cambria Math" panose="02040503050406030204" pitchFamily="18" charset="0"/>
                        </a:rPr>
                        <m:t>=</m:t>
                      </m:r>
                      <m:f>
                        <m:fPr>
                          <m:ctrlPr>
                            <a:rPr lang="sv-SE" i="1" dirty="0">
                              <a:solidFill>
                                <a:schemeClr val="bg1"/>
                              </a:solidFill>
                              <a:latin typeface="Cambria Math" panose="02040503050406030204" pitchFamily="18" charset="0"/>
                            </a:rPr>
                          </m:ctrlPr>
                        </m:fPr>
                        <m:num>
                          <m:r>
                            <a:rPr lang="sv-SE" i="1" dirty="0">
                              <a:solidFill>
                                <a:schemeClr val="bg1"/>
                              </a:solidFill>
                              <a:latin typeface="Cambria Math" panose="02040503050406030204" pitchFamily="18" charset="0"/>
                            </a:rPr>
                            <m:t>1</m:t>
                          </m:r>
                        </m:num>
                        <m:den>
                          <m:r>
                            <a:rPr lang="sv-SE" i="1" dirty="0">
                              <a:solidFill>
                                <a:schemeClr val="bg1"/>
                              </a:solidFill>
                              <a:latin typeface="Cambria Math" panose="02040503050406030204" pitchFamily="18" charset="0"/>
                            </a:rPr>
                            <m:t>1+</m:t>
                          </m:r>
                          <m:sSup>
                            <m:sSupPr>
                              <m:ctrlPr>
                                <a:rPr lang="sv-SE" i="1" dirty="0">
                                  <a:solidFill>
                                    <a:schemeClr val="bg1"/>
                                  </a:solidFill>
                                  <a:latin typeface="Cambria Math" panose="02040503050406030204" pitchFamily="18" charset="0"/>
                                </a:rPr>
                              </m:ctrlPr>
                            </m:sSupPr>
                            <m:e>
                              <m:r>
                                <a:rPr lang="sv-SE" i="1" dirty="0">
                                  <a:solidFill>
                                    <a:schemeClr val="bg1"/>
                                  </a:solidFill>
                                  <a:latin typeface="Cambria Math" panose="02040503050406030204" pitchFamily="18" charset="0"/>
                                </a:rPr>
                                <m:t>ⅇ</m:t>
                              </m:r>
                            </m:e>
                            <m:sup>
                              <m:r>
                                <a:rPr lang="sv-SE" i="1" dirty="0">
                                  <a:solidFill>
                                    <a:schemeClr val="bg1"/>
                                  </a:solidFill>
                                  <a:latin typeface="Cambria Math" panose="02040503050406030204" pitchFamily="18" charset="0"/>
                                </a:rPr>
                                <m:t>−</m:t>
                              </m:r>
                              <m:d>
                                <m:dPr>
                                  <m:ctrlPr>
                                    <a:rPr lang="sv-SE" i="1" dirty="0">
                                      <a:solidFill>
                                        <a:schemeClr val="bg1"/>
                                      </a:solidFill>
                                      <a:latin typeface="Cambria Math" panose="02040503050406030204" pitchFamily="18" charset="0"/>
                                    </a:rPr>
                                  </m:ctrlPr>
                                </m:dPr>
                                <m:e>
                                  <m:r>
                                    <a:rPr lang="sv-SE" i="1" dirty="0">
                                      <a:solidFill>
                                        <a:schemeClr val="bg1"/>
                                      </a:solidFill>
                                      <a:latin typeface="Cambria Math" panose="02040503050406030204" pitchFamily="18" charset="0"/>
                                    </a:rPr>
                                    <m:t>𝑧</m:t>
                                  </m:r>
                                </m:e>
                              </m:d>
                            </m:sup>
                          </m:sSup>
                        </m:den>
                      </m:f>
                    </m:oMath>
                  </m:oMathPara>
                </a14:m>
                <a:endParaRPr lang="en-SE" dirty="0"/>
              </a:p>
            </p:txBody>
          </p:sp>
        </mc:Choice>
        <mc:Fallback>
          <p:sp>
            <p:nvSpPr>
              <p:cNvPr id="5" name="textruta 4">
                <a:extLst>
                  <a:ext uri="{FF2B5EF4-FFF2-40B4-BE49-F238E27FC236}">
                    <a16:creationId xmlns:a16="http://schemas.microsoft.com/office/drawing/2014/main" id="{D6BF63C2-4A8E-0FBB-5365-29563A3A4C03}"/>
                  </a:ext>
                </a:extLst>
              </p:cNvPr>
              <p:cNvSpPr txBox="1">
                <a:spLocks noRot="1" noChangeAspect="1" noMove="1" noResize="1" noEditPoints="1" noAdjustHandles="1" noChangeArrowheads="1" noChangeShapeType="1" noTextEdit="1"/>
              </p:cNvSpPr>
              <p:nvPr/>
            </p:nvSpPr>
            <p:spPr>
              <a:xfrm>
                <a:off x="5250576" y="1098083"/>
                <a:ext cx="1690847" cy="536814"/>
              </a:xfrm>
              <a:prstGeom prst="rect">
                <a:avLst/>
              </a:prstGeom>
              <a:blipFill>
                <a:blip r:embed="rId4"/>
                <a:stretch>
                  <a:fillRect/>
                </a:stretch>
              </a:blipFill>
            </p:spPr>
            <p:txBody>
              <a:bodyPr/>
              <a:lstStyle/>
              <a:p>
                <a:r>
                  <a:rPr lang="en-SE">
                    <a:noFill/>
                  </a:rPr>
                  <a:t> </a:t>
                </a:r>
              </a:p>
            </p:txBody>
          </p:sp>
        </mc:Fallback>
      </mc:AlternateContent>
    </p:spTree>
    <p:extLst>
      <p:ext uri="{BB962C8B-B14F-4D97-AF65-F5344CB8AC3E}">
        <p14:creationId xmlns:p14="http://schemas.microsoft.com/office/powerpoint/2010/main" val="8754754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C21CC-76C4-A4D7-8A94-C547DC478932}"/>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EFD77B5B-59A6-4565-3CF3-FE3028E27EEB}"/>
              </a:ext>
            </a:extLst>
          </p:cNvPr>
          <p:cNvSpPr txBox="1"/>
          <p:nvPr/>
        </p:nvSpPr>
        <p:spPr>
          <a:xfrm>
            <a:off x="2599803" y="122735"/>
            <a:ext cx="6992492" cy="830997"/>
          </a:xfrm>
          <a:prstGeom prst="rect">
            <a:avLst/>
          </a:prstGeom>
          <a:noFill/>
        </p:spPr>
        <p:txBody>
          <a:bodyPr wrap="none" rtlCol="0">
            <a:spAutoFit/>
          </a:bodyPr>
          <a:lstStyle/>
          <a:p>
            <a:pPr algn="ctr"/>
            <a:r>
              <a:rPr lang="en-US" sz="4800" noProof="0" dirty="0" err="1">
                <a:solidFill>
                  <a:schemeClr val="bg1"/>
                </a:solidFill>
              </a:rPr>
              <a:t>Softmax</a:t>
            </a:r>
            <a:r>
              <a:rPr lang="en-US" sz="4800" noProof="0" dirty="0">
                <a:solidFill>
                  <a:schemeClr val="bg1"/>
                </a:solidFill>
              </a:rPr>
              <a:t> – för </a:t>
            </a:r>
            <a:r>
              <a:rPr lang="en-US" sz="4800" noProof="0" dirty="0" err="1">
                <a:solidFill>
                  <a:schemeClr val="bg1"/>
                </a:solidFill>
              </a:rPr>
              <a:t>flera</a:t>
            </a:r>
            <a:r>
              <a:rPr lang="en-US" sz="4800" noProof="0" dirty="0">
                <a:solidFill>
                  <a:schemeClr val="bg1"/>
                </a:solidFill>
              </a:rPr>
              <a:t> </a:t>
            </a:r>
            <a:r>
              <a:rPr lang="en-US" sz="4800" noProof="0" dirty="0" err="1">
                <a:solidFill>
                  <a:schemeClr val="bg1"/>
                </a:solidFill>
              </a:rPr>
              <a:t>klasser</a:t>
            </a:r>
            <a:endParaRPr lang="en-US" sz="4800" noProof="0" dirty="0">
              <a:solidFill>
                <a:schemeClr val="bg1"/>
              </a:solidFill>
            </a:endParaRPr>
          </a:p>
        </p:txBody>
      </p:sp>
      <p:sp>
        <p:nvSpPr>
          <p:cNvPr id="3" name="textruta 2">
            <a:extLst>
              <a:ext uri="{FF2B5EF4-FFF2-40B4-BE49-F238E27FC236}">
                <a16:creationId xmlns:a16="http://schemas.microsoft.com/office/drawing/2014/main" id="{082344C0-335E-FEB6-AAFA-4C241D377CA1}"/>
              </a:ext>
            </a:extLst>
          </p:cNvPr>
          <p:cNvSpPr txBox="1"/>
          <p:nvPr/>
        </p:nvSpPr>
        <p:spPr>
          <a:xfrm>
            <a:off x="1731926" y="2911141"/>
            <a:ext cx="5484578" cy="2677656"/>
          </a:xfrm>
          <a:prstGeom prst="rect">
            <a:avLst/>
          </a:prstGeom>
          <a:noFill/>
        </p:spPr>
        <p:txBody>
          <a:bodyPr wrap="none" rtlCol="0">
            <a:spAutoFit/>
          </a:bodyPr>
          <a:lstStyle/>
          <a:p>
            <a:pPr>
              <a:lnSpc>
                <a:spcPct val="150000"/>
              </a:lnSpc>
            </a:pPr>
            <a:r>
              <a:rPr lang="en-US" sz="2800" noProof="0" dirty="0" err="1">
                <a:solidFill>
                  <a:schemeClr val="bg1"/>
                </a:solidFill>
              </a:rPr>
              <a:t>Sannolikheter</a:t>
            </a:r>
            <a:r>
              <a:rPr lang="en-US" sz="2800" noProof="0" dirty="0">
                <a:solidFill>
                  <a:schemeClr val="bg1"/>
                </a:solidFill>
              </a:rPr>
              <a:t> </a:t>
            </a:r>
            <a:r>
              <a:rPr lang="en-US" sz="2800" noProof="0" dirty="0" err="1">
                <a:solidFill>
                  <a:schemeClr val="bg1"/>
                </a:solidFill>
              </a:rPr>
              <a:t>som</a:t>
            </a:r>
            <a:r>
              <a:rPr lang="en-US" sz="2800" noProof="0" dirty="0">
                <a:solidFill>
                  <a:schemeClr val="bg1"/>
                </a:solidFill>
              </a:rPr>
              <a:t> </a:t>
            </a:r>
            <a:r>
              <a:rPr lang="en-US" sz="2800" noProof="0" dirty="0" err="1">
                <a:solidFill>
                  <a:schemeClr val="bg1"/>
                </a:solidFill>
              </a:rPr>
              <a:t>summerar</a:t>
            </a:r>
            <a:r>
              <a:rPr lang="en-US" sz="2800" noProof="0" dirty="0">
                <a:solidFill>
                  <a:schemeClr val="bg1"/>
                </a:solidFill>
              </a:rPr>
              <a:t> till 1</a:t>
            </a:r>
          </a:p>
          <a:p>
            <a:pPr>
              <a:lnSpc>
                <a:spcPct val="150000"/>
              </a:lnSpc>
            </a:pPr>
            <a:r>
              <a:rPr lang="en-US" sz="2800" dirty="0" err="1">
                <a:solidFill>
                  <a:schemeClr val="bg1"/>
                </a:solidFill>
              </a:rPr>
              <a:t>Exempel</a:t>
            </a:r>
            <a:r>
              <a:rPr lang="en-US" sz="2800" dirty="0">
                <a:solidFill>
                  <a:schemeClr val="bg1"/>
                </a:solidFill>
              </a:rPr>
              <a:t>:</a:t>
            </a:r>
          </a:p>
          <a:p>
            <a:pPr marL="457200" indent="-457200">
              <a:buFont typeface="Arial" panose="020B0604020202020204" pitchFamily="34" charset="0"/>
              <a:buChar char="•"/>
            </a:pPr>
            <a:r>
              <a:rPr lang="en-US" sz="2800" dirty="0">
                <a:solidFill>
                  <a:schemeClr val="bg1"/>
                </a:solidFill>
              </a:rPr>
              <a:t>Katt: 0.70</a:t>
            </a:r>
          </a:p>
          <a:p>
            <a:pPr marL="457200" indent="-457200">
              <a:buFont typeface="Arial" panose="020B0604020202020204" pitchFamily="34" charset="0"/>
              <a:buChar char="•"/>
            </a:pPr>
            <a:r>
              <a:rPr lang="en-US" sz="2800" dirty="0">
                <a:solidFill>
                  <a:schemeClr val="bg1"/>
                </a:solidFill>
              </a:rPr>
              <a:t>Hund: 0.20</a:t>
            </a:r>
          </a:p>
          <a:p>
            <a:pPr marL="457200" indent="-457200">
              <a:buFont typeface="Arial" panose="020B0604020202020204" pitchFamily="34" charset="0"/>
              <a:buChar char="•"/>
            </a:pPr>
            <a:r>
              <a:rPr lang="en-US" sz="2800" dirty="0" err="1">
                <a:solidFill>
                  <a:schemeClr val="bg1"/>
                </a:solidFill>
              </a:rPr>
              <a:t>Fågel</a:t>
            </a:r>
            <a:r>
              <a:rPr lang="en-US" sz="2800" dirty="0">
                <a:solidFill>
                  <a:schemeClr val="bg1"/>
                </a:solidFill>
              </a:rPr>
              <a:t>: 0.10</a:t>
            </a:r>
          </a:p>
        </p:txBody>
      </p:sp>
      <mc:AlternateContent xmlns:mc="http://schemas.openxmlformats.org/markup-compatibility/2006">
        <mc:Choice xmlns:a14="http://schemas.microsoft.com/office/drawing/2010/main" Requires="a14">
          <p:sp>
            <p:nvSpPr>
              <p:cNvPr id="5" name="textruta 4">
                <a:extLst>
                  <a:ext uri="{FF2B5EF4-FFF2-40B4-BE49-F238E27FC236}">
                    <a16:creationId xmlns:a16="http://schemas.microsoft.com/office/drawing/2014/main" id="{82D03706-9C94-A92A-24A2-3406183AB306}"/>
                  </a:ext>
                </a:extLst>
              </p:cNvPr>
              <p:cNvSpPr txBox="1"/>
              <p:nvPr/>
            </p:nvSpPr>
            <p:spPr>
              <a:xfrm>
                <a:off x="5259360" y="1072916"/>
                <a:ext cx="1673279" cy="6515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i="1" dirty="0" smtClean="0">
                          <a:solidFill>
                            <a:schemeClr val="bg1"/>
                          </a:solidFill>
                          <a:latin typeface="Cambria Math" panose="02040503050406030204" pitchFamily="18" charset="0"/>
                        </a:rPr>
                        <m:t>𝜎</m:t>
                      </m:r>
                      <m:d>
                        <m:dPr>
                          <m:ctrlPr>
                            <a:rPr lang="sv-SE" i="1" dirty="0">
                              <a:solidFill>
                                <a:schemeClr val="bg1"/>
                              </a:solidFill>
                              <a:latin typeface="Cambria Math" panose="02040503050406030204" pitchFamily="18" charset="0"/>
                            </a:rPr>
                          </m:ctrlPr>
                        </m:dPr>
                        <m:e>
                          <m:sSub>
                            <m:sSubPr>
                              <m:ctrlPr>
                                <a:rPr lang="en-US" b="0" i="1" dirty="0" smtClean="0">
                                  <a:solidFill>
                                    <a:schemeClr val="bg1"/>
                                  </a:solidFill>
                                  <a:latin typeface="Cambria Math" panose="02040503050406030204" pitchFamily="18" charset="0"/>
                                </a:rPr>
                              </m:ctrlPr>
                            </m:sSubPr>
                            <m:e>
                              <m:r>
                                <a:rPr lang="sv-SE" i="1" dirty="0">
                                  <a:solidFill>
                                    <a:schemeClr val="bg1"/>
                                  </a:solidFill>
                                  <a:latin typeface="Cambria Math" panose="02040503050406030204" pitchFamily="18" charset="0"/>
                                </a:rPr>
                                <m:t>𝑧</m:t>
                              </m:r>
                            </m:e>
                            <m:sub>
                              <m:r>
                                <a:rPr lang="en-US" b="0" i="1" dirty="0" smtClean="0">
                                  <a:solidFill>
                                    <a:schemeClr val="bg1"/>
                                  </a:solidFill>
                                  <a:latin typeface="Cambria Math" panose="02040503050406030204" pitchFamily="18" charset="0"/>
                                </a:rPr>
                                <m:t>𝑖</m:t>
                              </m:r>
                            </m:sub>
                          </m:sSub>
                        </m:e>
                      </m:d>
                      <m:r>
                        <a:rPr lang="sv-SE" i="1" dirty="0">
                          <a:solidFill>
                            <a:schemeClr val="bg1"/>
                          </a:solidFill>
                          <a:latin typeface="Cambria Math" panose="02040503050406030204" pitchFamily="18" charset="0"/>
                        </a:rPr>
                        <m:t>=</m:t>
                      </m:r>
                      <m:f>
                        <m:fPr>
                          <m:ctrlPr>
                            <a:rPr lang="sv-SE" i="1" dirty="0">
                              <a:solidFill>
                                <a:schemeClr val="bg1"/>
                              </a:solidFill>
                              <a:latin typeface="Cambria Math" panose="02040503050406030204" pitchFamily="18" charset="0"/>
                            </a:rPr>
                          </m:ctrlPr>
                        </m:fPr>
                        <m:num>
                          <m:sSup>
                            <m:sSupPr>
                              <m:ctrlPr>
                                <a:rPr lang="en-US" b="0" i="1" dirty="0" smtClean="0">
                                  <a:solidFill>
                                    <a:schemeClr val="bg1"/>
                                  </a:solidFill>
                                  <a:latin typeface="Cambria Math" panose="02040503050406030204" pitchFamily="18" charset="0"/>
                                </a:rPr>
                              </m:ctrlPr>
                            </m:sSupPr>
                            <m:e>
                              <m:r>
                                <a:rPr lang="en-US" b="0" i="1" dirty="0" smtClean="0">
                                  <a:solidFill>
                                    <a:schemeClr val="bg1"/>
                                  </a:solidFill>
                                  <a:latin typeface="Cambria Math" panose="02040503050406030204" pitchFamily="18" charset="0"/>
                                </a:rPr>
                                <m:t>𝑒</m:t>
                              </m:r>
                            </m:e>
                            <m:sup>
                              <m:sSub>
                                <m:sSubPr>
                                  <m:ctrlPr>
                                    <a:rPr lang="en-US" b="0" i="1" dirty="0" smtClean="0">
                                      <a:solidFill>
                                        <a:schemeClr val="bg1"/>
                                      </a:solidFill>
                                      <a:latin typeface="Cambria Math" panose="02040503050406030204" pitchFamily="18" charset="0"/>
                                    </a:rPr>
                                  </m:ctrlPr>
                                </m:sSubPr>
                                <m:e>
                                  <m:r>
                                    <a:rPr lang="en-US" b="0" i="1" dirty="0" smtClean="0">
                                      <a:solidFill>
                                        <a:schemeClr val="bg1"/>
                                      </a:solidFill>
                                      <a:latin typeface="Cambria Math" panose="02040503050406030204" pitchFamily="18" charset="0"/>
                                    </a:rPr>
                                    <m:t>2</m:t>
                                  </m:r>
                                </m:e>
                                <m:sub>
                                  <m:r>
                                    <a:rPr lang="en-US" b="0" i="1" dirty="0" smtClean="0">
                                      <a:solidFill>
                                        <a:schemeClr val="bg1"/>
                                      </a:solidFill>
                                      <a:latin typeface="Cambria Math" panose="02040503050406030204" pitchFamily="18" charset="0"/>
                                    </a:rPr>
                                    <m:t>𝑖</m:t>
                                  </m:r>
                                </m:sub>
                              </m:sSub>
                            </m:sup>
                          </m:sSup>
                        </m:num>
                        <m:den>
                          <m:nary>
                            <m:naryPr>
                              <m:chr m:val="∑"/>
                              <m:limLoc m:val="subSup"/>
                              <m:ctrlPr>
                                <a:rPr lang="sv-SE" i="1" dirty="0" smtClean="0">
                                  <a:solidFill>
                                    <a:schemeClr val="bg1"/>
                                  </a:solidFill>
                                  <a:latin typeface="Cambria Math" panose="02040503050406030204" pitchFamily="18" charset="0"/>
                                </a:rPr>
                              </m:ctrlPr>
                            </m:naryPr>
                            <m:sub>
                              <m:r>
                                <m:rPr>
                                  <m:brk m:alnAt="25"/>
                                </m:rPr>
                                <a:rPr lang="en-US" b="0" i="1" dirty="0" smtClean="0">
                                  <a:solidFill>
                                    <a:schemeClr val="bg1"/>
                                  </a:solidFill>
                                  <a:latin typeface="Cambria Math" panose="02040503050406030204" pitchFamily="18" charset="0"/>
                                </a:rPr>
                                <m:t>𝑗</m:t>
                              </m:r>
                              <m:r>
                                <a:rPr lang="en-US" b="0" i="1" dirty="0" smtClean="0">
                                  <a:solidFill>
                                    <a:schemeClr val="bg1"/>
                                  </a:solidFill>
                                  <a:latin typeface="Cambria Math" panose="02040503050406030204" pitchFamily="18" charset="0"/>
                                </a:rPr>
                                <m:t>=1</m:t>
                              </m:r>
                            </m:sub>
                            <m:sup>
                              <m:r>
                                <a:rPr lang="en-US" b="0" i="1" dirty="0" smtClean="0">
                                  <a:solidFill>
                                    <a:schemeClr val="bg1"/>
                                  </a:solidFill>
                                  <a:latin typeface="Cambria Math" panose="02040503050406030204" pitchFamily="18" charset="0"/>
                                </a:rPr>
                                <m:t>𝑛</m:t>
                              </m:r>
                            </m:sup>
                            <m:e>
                              <m:sSup>
                                <m:sSupPr>
                                  <m:ctrlPr>
                                    <a:rPr lang="en-US" b="0" i="1" dirty="0" smtClean="0">
                                      <a:solidFill>
                                        <a:schemeClr val="bg1"/>
                                      </a:solidFill>
                                      <a:latin typeface="Cambria Math" panose="02040503050406030204" pitchFamily="18" charset="0"/>
                                    </a:rPr>
                                  </m:ctrlPr>
                                </m:sSupPr>
                                <m:e>
                                  <m:r>
                                    <a:rPr lang="en-US" b="0" i="1" dirty="0" smtClean="0">
                                      <a:solidFill>
                                        <a:schemeClr val="bg1"/>
                                      </a:solidFill>
                                      <a:latin typeface="Cambria Math" panose="02040503050406030204" pitchFamily="18" charset="0"/>
                                    </a:rPr>
                                    <m:t>𝑒</m:t>
                                  </m:r>
                                </m:e>
                                <m:sup>
                                  <m:sSub>
                                    <m:sSubPr>
                                      <m:ctrlPr>
                                        <a:rPr lang="en-US" b="0" i="1" dirty="0" smtClean="0">
                                          <a:solidFill>
                                            <a:schemeClr val="bg1"/>
                                          </a:solidFill>
                                          <a:latin typeface="Cambria Math" panose="02040503050406030204" pitchFamily="18" charset="0"/>
                                        </a:rPr>
                                      </m:ctrlPr>
                                    </m:sSubPr>
                                    <m:e>
                                      <m:r>
                                        <a:rPr lang="en-US" b="0" i="1" dirty="0" smtClean="0">
                                          <a:solidFill>
                                            <a:schemeClr val="bg1"/>
                                          </a:solidFill>
                                          <a:latin typeface="Cambria Math" panose="02040503050406030204" pitchFamily="18" charset="0"/>
                                        </a:rPr>
                                        <m:t>𝑧</m:t>
                                      </m:r>
                                    </m:e>
                                    <m:sub>
                                      <m:r>
                                        <a:rPr lang="en-US" b="0" i="1" dirty="0" smtClean="0">
                                          <a:solidFill>
                                            <a:schemeClr val="bg1"/>
                                          </a:solidFill>
                                          <a:latin typeface="Cambria Math" panose="02040503050406030204" pitchFamily="18" charset="0"/>
                                        </a:rPr>
                                        <m:t>𝑗</m:t>
                                      </m:r>
                                    </m:sub>
                                  </m:sSub>
                                </m:sup>
                              </m:sSup>
                            </m:e>
                          </m:nary>
                        </m:den>
                      </m:f>
                    </m:oMath>
                  </m:oMathPara>
                </a14:m>
                <a:endParaRPr lang="en-SE" dirty="0"/>
              </a:p>
            </p:txBody>
          </p:sp>
        </mc:Choice>
        <mc:Fallback>
          <p:sp>
            <p:nvSpPr>
              <p:cNvPr id="5" name="textruta 4">
                <a:extLst>
                  <a:ext uri="{FF2B5EF4-FFF2-40B4-BE49-F238E27FC236}">
                    <a16:creationId xmlns:a16="http://schemas.microsoft.com/office/drawing/2014/main" id="{82D03706-9C94-A92A-24A2-3406183AB306}"/>
                  </a:ext>
                </a:extLst>
              </p:cNvPr>
              <p:cNvSpPr txBox="1">
                <a:spLocks noRot="1" noChangeAspect="1" noMove="1" noResize="1" noEditPoints="1" noAdjustHandles="1" noChangeArrowheads="1" noChangeShapeType="1" noTextEdit="1"/>
              </p:cNvSpPr>
              <p:nvPr/>
            </p:nvSpPr>
            <p:spPr>
              <a:xfrm>
                <a:off x="5259360" y="1072916"/>
                <a:ext cx="1673279" cy="651525"/>
              </a:xfrm>
              <a:prstGeom prst="rect">
                <a:avLst/>
              </a:prstGeom>
              <a:blipFill>
                <a:blip r:embed="rId3"/>
                <a:stretch>
                  <a:fillRect/>
                </a:stretch>
              </a:blipFill>
            </p:spPr>
            <p:txBody>
              <a:bodyPr/>
              <a:lstStyle/>
              <a:p>
                <a:r>
                  <a:rPr lang="en-SE">
                    <a:noFill/>
                  </a:rPr>
                  <a:t> </a:t>
                </a:r>
              </a:p>
            </p:txBody>
          </p:sp>
        </mc:Fallback>
      </mc:AlternateContent>
    </p:spTree>
    <p:extLst>
      <p:ext uri="{BB962C8B-B14F-4D97-AF65-F5344CB8AC3E}">
        <p14:creationId xmlns:p14="http://schemas.microsoft.com/office/powerpoint/2010/main" val="19919613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D5584-E0CD-2037-21F6-6A9FFA47D2DE}"/>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8FC84BB1-9F13-B56B-31F9-BE70486E7F77}"/>
              </a:ext>
            </a:extLst>
          </p:cNvPr>
          <p:cNvSpPr txBox="1"/>
          <p:nvPr/>
        </p:nvSpPr>
        <p:spPr>
          <a:xfrm>
            <a:off x="3979295" y="122735"/>
            <a:ext cx="4233467" cy="830997"/>
          </a:xfrm>
          <a:prstGeom prst="rect">
            <a:avLst/>
          </a:prstGeom>
          <a:noFill/>
        </p:spPr>
        <p:txBody>
          <a:bodyPr wrap="none" rtlCol="0">
            <a:spAutoFit/>
          </a:bodyPr>
          <a:lstStyle/>
          <a:p>
            <a:pPr algn="ctr"/>
            <a:r>
              <a:rPr lang="sv-SE" sz="4800" noProof="0" dirty="0">
                <a:solidFill>
                  <a:schemeClr val="bg1"/>
                </a:solidFill>
              </a:rPr>
              <a:t>Regression då?</a:t>
            </a:r>
          </a:p>
        </p:txBody>
      </p:sp>
      <p:sp>
        <p:nvSpPr>
          <p:cNvPr id="3" name="textruta 2">
            <a:extLst>
              <a:ext uri="{FF2B5EF4-FFF2-40B4-BE49-F238E27FC236}">
                <a16:creationId xmlns:a16="http://schemas.microsoft.com/office/drawing/2014/main" id="{55231898-BB77-AF70-B082-F4966540DF43}"/>
              </a:ext>
            </a:extLst>
          </p:cNvPr>
          <p:cNvSpPr txBox="1"/>
          <p:nvPr/>
        </p:nvSpPr>
        <p:spPr>
          <a:xfrm>
            <a:off x="1125670" y="4086347"/>
            <a:ext cx="6859698" cy="1322863"/>
          </a:xfrm>
          <a:prstGeom prst="rect">
            <a:avLst/>
          </a:prstGeom>
          <a:noFill/>
        </p:spPr>
        <p:txBody>
          <a:bodyPr wrap="none" rtlCol="0">
            <a:spAutoFit/>
          </a:bodyPr>
          <a:lstStyle/>
          <a:p>
            <a:pPr marL="571500" indent="-571500">
              <a:lnSpc>
                <a:spcPct val="150000"/>
              </a:lnSpc>
              <a:buFont typeface="Arial" panose="020B0604020202020204" pitchFamily="34" charset="0"/>
              <a:buChar char="•"/>
            </a:pPr>
            <a:r>
              <a:rPr lang="en-US" sz="2800" noProof="0" dirty="0">
                <a:solidFill>
                  <a:schemeClr val="bg1"/>
                </a:solidFill>
              </a:rPr>
              <a:t>Ett </a:t>
            </a:r>
            <a:r>
              <a:rPr lang="en-US" sz="2800" noProof="0" dirty="0" err="1">
                <a:solidFill>
                  <a:schemeClr val="bg1"/>
                </a:solidFill>
              </a:rPr>
              <a:t>numeriskt</a:t>
            </a:r>
            <a:r>
              <a:rPr lang="en-US" sz="2800" noProof="0" dirty="0">
                <a:solidFill>
                  <a:schemeClr val="bg1"/>
                </a:solidFill>
              </a:rPr>
              <a:t> </a:t>
            </a:r>
            <a:r>
              <a:rPr lang="en-US" sz="2800" noProof="0" dirty="0" err="1">
                <a:solidFill>
                  <a:schemeClr val="bg1"/>
                </a:solidFill>
              </a:rPr>
              <a:t>värde</a:t>
            </a:r>
            <a:endParaRPr lang="en-US" sz="2800" noProof="0" dirty="0">
              <a:solidFill>
                <a:schemeClr val="bg1"/>
              </a:solidFill>
            </a:endParaRPr>
          </a:p>
          <a:p>
            <a:pPr marL="571500" indent="-571500">
              <a:lnSpc>
                <a:spcPct val="150000"/>
              </a:lnSpc>
              <a:buFont typeface="Arial" panose="020B0604020202020204" pitchFamily="34" charset="0"/>
              <a:buChar char="•"/>
            </a:pPr>
            <a:r>
              <a:rPr lang="en-US" sz="2800" dirty="0" err="1">
                <a:solidFill>
                  <a:schemeClr val="bg1"/>
                </a:solidFill>
              </a:rPr>
              <a:t>Ofta</a:t>
            </a:r>
            <a:r>
              <a:rPr lang="en-US" sz="2800" dirty="0">
                <a:solidFill>
                  <a:schemeClr val="bg1"/>
                </a:solidFill>
              </a:rPr>
              <a:t> </a:t>
            </a:r>
            <a:r>
              <a:rPr lang="en-US" sz="2800" dirty="0" err="1">
                <a:solidFill>
                  <a:schemeClr val="bg1"/>
                </a:solidFill>
              </a:rPr>
              <a:t>ingen</a:t>
            </a:r>
            <a:r>
              <a:rPr lang="en-US" sz="2800" dirty="0">
                <a:solidFill>
                  <a:schemeClr val="bg1"/>
                </a:solidFill>
              </a:rPr>
              <a:t> </a:t>
            </a:r>
            <a:r>
              <a:rPr lang="en-US" sz="2800" dirty="0" err="1">
                <a:solidFill>
                  <a:schemeClr val="bg1"/>
                </a:solidFill>
              </a:rPr>
              <a:t>aktivering</a:t>
            </a:r>
            <a:r>
              <a:rPr lang="en-US" sz="2800" dirty="0">
                <a:solidFill>
                  <a:schemeClr val="bg1"/>
                </a:solidFill>
              </a:rPr>
              <a:t> </a:t>
            </a:r>
            <a:r>
              <a:rPr lang="en-US" sz="2800" dirty="0" err="1">
                <a:solidFill>
                  <a:schemeClr val="bg1"/>
                </a:solidFill>
              </a:rPr>
              <a:t>som</a:t>
            </a:r>
            <a:r>
              <a:rPr lang="en-US" sz="2800" dirty="0">
                <a:solidFill>
                  <a:schemeClr val="bg1"/>
                </a:solidFill>
              </a:rPr>
              <a:t> </a:t>
            </a:r>
            <a:r>
              <a:rPr lang="en-US" sz="2800" dirty="0" err="1">
                <a:solidFill>
                  <a:schemeClr val="bg1"/>
                </a:solidFill>
              </a:rPr>
              <a:t>pressar</a:t>
            </a:r>
            <a:r>
              <a:rPr lang="en-US" sz="2800" dirty="0">
                <a:solidFill>
                  <a:schemeClr val="bg1"/>
                </a:solidFill>
              </a:rPr>
              <a:t> till 0-1</a:t>
            </a:r>
            <a:endParaRPr lang="en-US" sz="2800" noProof="0" dirty="0">
              <a:solidFill>
                <a:schemeClr val="bg1"/>
              </a:solidFill>
            </a:endParaRPr>
          </a:p>
        </p:txBody>
      </p:sp>
      <p:grpSp>
        <p:nvGrpSpPr>
          <p:cNvPr id="53" name="Grupp 52">
            <a:extLst>
              <a:ext uri="{FF2B5EF4-FFF2-40B4-BE49-F238E27FC236}">
                <a16:creationId xmlns:a16="http://schemas.microsoft.com/office/drawing/2014/main" id="{059DB288-CB66-F1EF-F7F3-8B38CF50C221}"/>
              </a:ext>
            </a:extLst>
          </p:cNvPr>
          <p:cNvGrpSpPr/>
          <p:nvPr/>
        </p:nvGrpSpPr>
        <p:grpSpPr>
          <a:xfrm>
            <a:off x="4281638" y="1848553"/>
            <a:ext cx="3628724" cy="1898583"/>
            <a:chOff x="4849732" y="1848553"/>
            <a:chExt cx="3628724" cy="1898583"/>
          </a:xfrm>
        </p:grpSpPr>
        <p:grpSp>
          <p:nvGrpSpPr>
            <p:cNvPr id="4" name="Grupp 3">
              <a:extLst>
                <a:ext uri="{FF2B5EF4-FFF2-40B4-BE49-F238E27FC236}">
                  <a16:creationId xmlns:a16="http://schemas.microsoft.com/office/drawing/2014/main" id="{C2481454-FD92-87A6-8DE5-2867931613E5}"/>
                </a:ext>
              </a:extLst>
            </p:cNvPr>
            <p:cNvGrpSpPr/>
            <p:nvPr/>
          </p:nvGrpSpPr>
          <p:grpSpPr>
            <a:xfrm>
              <a:off x="4849732" y="1848553"/>
              <a:ext cx="2492535" cy="1898583"/>
              <a:chOff x="4300444" y="2236126"/>
              <a:chExt cx="3075716" cy="2342796"/>
            </a:xfrm>
          </p:grpSpPr>
          <p:sp>
            <p:nvSpPr>
              <p:cNvPr id="5" name="Ellips 4">
                <a:extLst>
                  <a:ext uri="{FF2B5EF4-FFF2-40B4-BE49-F238E27FC236}">
                    <a16:creationId xmlns:a16="http://schemas.microsoft.com/office/drawing/2014/main" id="{F63CC086-3148-7D32-D4F1-F10997838E19}"/>
                  </a:ext>
                </a:extLst>
              </p:cNvPr>
              <p:cNvSpPr/>
              <p:nvPr/>
            </p:nvSpPr>
            <p:spPr>
              <a:xfrm>
                <a:off x="4300444" y="2559975"/>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6" name="Ellips 5">
                <a:extLst>
                  <a:ext uri="{FF2B5EF4-FFF2-40B4-BE49-F238E27FC236}">
                    <a16:creationId xmlns:a16="http://schemas.microsoft.com/office/drawing/2014/main" id="{A509C6F5-5D83-5486-0AE8-017013BA5B3F}"/>
                  </a:ext>
                </a:extLst>
              </p:cNvPr>
              <p:cNvSpPr/>
              <p:nvPr/>
            </p:nvSpPr>
            <p:spPr>
              <a:xfrm>
                <a:off x="4300444" y="3221181"/>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7" name="Ellips 6">
                <a:extLst>
                  <a:ext uri="{FF2B5EF4-FFF2-40B4-BE49-F238E27FC236}">
                    <a16:creationId xmlns:a16="http://schemas.microsoft.com/office/drawing/2014/main" id="{AC78F238-5A6C-0636-C1EA-D0D99FFF5C11}"/>
                  </a:ext>
                </a:extLst>
              </p:cNvPr>
              <p:cNvSpPr/>
              <p:nvPr/>
            </p:nvSpPr>
            <p:spPr>
              <a:xfrm>
                <a:off x="4300444" y="3870613"/>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8" name="Ellips 7">
                <a:extLst>
                  <a:ext uri="{FF2B5EF4-FFF2-40B4-BE49-F238E27FC236}">
                    <a16:creationId xmlns:a16="http://schemas.microsoft.com/office/drawing/2014/main" id="{13056FE8-2A2A-E235-A093-52C9937B69CD}"/>
                  </a:ext>
                </a:extLst>
              </p:cNvPr>
              <p:cNvSpPr/>
              <p:nvPr/>
            </p:nvSpPr>
            <p:spPr>
              <a:xfrm>
                <a:off x="5198222" y="2236126"/>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Ellips 8">
                <a:extLst>
                  <a:ext uri="{FF2B5EF4-FFF2-40B4-BE49-F238E27FC236}">
                    <a16:creationId xmlns:a16="http://schemas.microsoft.com/office/drawing/2014/main" id="{16DFDAC8-77FF-8B62-A642-D54E3021D526}"/>
                  </a:ext>
                </a:extLst>
              </p:cNvPr>
              <p:cNvSpPr/>
              <p:nvPr/>
            </p:nvSpPr>
            <p:spPr>
              <a:xfrm>
                <a:off x="5198222" y="2883824"/>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 name="Ellips 9">
                <a:extLst>
                  <a:ext uri="{FF2B5EF4-FFF2-40B4-BE49-F238E27FC236}">
                    <a16:creationId xmlns:a16="http://schemas.microsoft.com/office/drawing/2014/main" id="{F830EB67-7BB4-318F-D13D-CB95F3B266D3}"/>
                  </a:ext>
                </a:extLst>
              </p:cNvPr>
              <p:cNvSpPr/>
              <p:nvPr/>
            </p:nvSpPr>
            <p:spPr>
              <a:xfrm>
                <a:off x="5198222" y="3546764"/>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1" name="Ellips 10">
                <a:extLst>
                  <a:ext uri="{FF2B5EF4-FFF2-40B4-BE49-F238E27FC236}">
                    <a16:creationId xmlns:a16="http://schemas.microsoft.com/office/drawing/2014/main" id="{C7F2E89D-72D9-A1C2-A01B-F826E5C6CCDC}"/>
                  </a:ext>
                </a:extLst>
              </p:cNvPr>
              <p:cNvSpPr/>
              <p:nvPr/>
            </p:nvSpPr>
            <p:spPr>
              <a:xfrm>
                <a:off x="5198222" y="4194462"/>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 name="Ellips 11">
                <a:extLst>
                  <a:ext uri="{FF2B5EF4-FFF2-40B4-BE49-F238E27FC236}">
                    <a16:creationId xmlns:a16="http://schemas.microsoft.com/office/drawing/2014/main" id="{3EC91812-612D-F973-91B8-043F496697D6}"/>
                  </a:ext>
                </a:extLst>
              </p:cNvPr>
              <p:cNvSpPr/>
              <p:nvPr/>
            </p:nvSpPr>
            <p:spPr>
              <a:xfrm>
                <a:off x="6096000" y="2236126"/>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3" name="Ellips 12">
                <a:extLst>
                  <a:ext uri="{FF2B5EF4-FFF2-40B4-BE49-F238E27FC236}">
                    <a16:creationId xmlns:a16="http://schemas.microsoft.com/office/drawing/2014/main" id="{8D1EBEFC-88BB-4D62-75C8-BB1FB2C09908}"/>
                  </a:ext>
                </a:extLst>
              </p:cNvPr>
              <p:cNvSpPr/>
              <p:nvPr/>
            </p:nvSpPr>
            <p:spPr>
              <a:xfrm>
                <a:off x="6096000" y="2878973"/>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4" name="Ellips 13">
                <a:extLst>
                  <a:ext uri="{FF2B5EF4-FFF2-40B4-BE49-F238E27FC236}">
                    <a16:creationId xmlns:a16="http://schemas.microsoft.com/office/drawing/2014/main" id="{B8DB4FEF-1E57-41CC-C77F-8B1409D35C2D}"/>
                  </a:ext>
                </a:extLst>
              </p:cNvPr>
              <p:cNvSpPr/>
              <p:nvPr/>
            </p:nvSpPr>
            <p:spPr>
              <a:xfrm>
                <a:off x="6096000" y="3547979"/>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5" name="Ellips 14">
                <a:extLst>
                  <a:ext uri="{FF2B5EF4-FFF2-40B4-BE49-F238E27FC236}">
                    <a16:creationId xmlns:a16="http://schemas.microsoft.com/office/drawing/2014/main" id="{7BC48977-A1B5-75BC-3AE6-BC0D8BA9A5EE}"/>
                  </a:ext>
                </a:extLst>
              </p:cNvPr>
              <p:cNvSpPr/>
              <p:nvPr/>
            </p:nvSpPr>
            <p:spPr>
              <a:xfrm>
                <a:off x="6096000" y="419654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6" name="Ellips 15">
                <a:extLst>
                  <a:ext uri="{FF2B5EF4-FFF2-40B4-BE49-F238E27FC236}">
                    <a16:creationId xmlns:a16="http://schemas.microsoft.com/office/drawing/2014/main" id="{2D051DA9-7AA3-9FCB-CDB2-484607C36394}"/>
                  </a:ext>
                </a:extLst>
              </p:cNvPr>
              <p:cNvSpPr/>
              <p:nvPr/>
            </p:nvSpPr>
            <p:spPr>
              <a:xfrm>
                <a:off x="6993778" y="3212868"/>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17" name="Rak pilkoppling 16">
                <a:extLst>
                  <a:ext uri="{FF2B5EF4-FFF2-40B4-BE49-F238E27FC236}">
                    <a16:creationId xmlns:a16="http://schemas.microsoft.com/office/drawing/2014/main" id="{0F19660B-A8C2-06BC-F1F8-FFD50E640AC4}"/>
                  </a:ext>
                </a:extLst>
              </p:cNvPr>
              <p:cNvCxnSpPr>
                <a:cxnSpLocks/>
                <a:stCxn id="5" idx="6"/>
                <a:endCxn id="8" idx="2"/>
              </p:cNvCxnSpPr>
              <p:nvPr/>
            </p:nvCxnSpPr>
            <p:spPr>
              <a:xfrm flipV="1">
                <a:off x="4682826" y="2427317"/>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Rak pilkoppling 17">
                <a:extLst>
                  <a:ext uri="{FF2B5EF4-FFF2-40B4-BE49-F238E27FC236}">
                    <a16:creationId xmlns:a16="http://schemas.microsoft.com/office/drawing/2014/main" id="{47D04481-47DA-A2C6-A991-622BEF63DEAE}"/>
                  </a:ext>
                </a:extLst>
              </p:cNvPr>
              <p:cNvCxnSpPr>
                <a:cxnSpLocks/>
                <a:stCxn id="5" idx="6"/>
                <a:endCxn id="9" idx="2"/>
              </p:cNvCxnSpPr>
              <p:nvPr/>
            </p:nvCxnSpPr>
            <p:spPr>
              <a:xfrm>
                <a:off x="4682826" y="2751166"/>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Rak pilkoppling 18">
                <a:extLst>
                  <a:ext uri="{FF2B5EF4-FFF2-40B4-BE49-F238E27FC236}">
                    <a16:creationId xmlns:a16="http://schemas.microsoft.com/office/drawing/2014/main" id="{83F0D979-A497-BC5E-7DB1-9362D9530A2B}"/>
                  </a:ext>
                </a:extLst>
              </p:cNvPr>
              <p:cNvCxnSpPr>
                <a:cxnSpLocks/>
                <a:stCxn id="5" idx="6"/>
                <a:endCxn id="10" idx="2"/>
              </p:cNvCxnSpPr>
              <p:nvPr/>
            </p:nvCxnSpPr>
            <p:spPr>
              <a:xfrm>
                <a:off x="4682826" y="2751166"/>
                <a:ext cx="515396" cy="986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Rak pilkoppling 19">
                <a:extLst>
                  <a:ext uri="{FF2B5EF4-FFF2-40B4-BE49-F238E27FC236}">
                    <a16:creationId xmlns:a16="http://schemas.microsoft.com/office/drawing/2014/main" id="{C3B33CB0-3CF8-35F4-FD78-A9C755F510E4}"/>
                  </a:ext>
                </a:extLst>
              </p:cNvPr>
              <p:cNvCxnSpPr>
                <a:cxnSpLocks/>
                <a:stCxn id="5" idx="6"/>
                <a:endCxn id="11" idx="2"/>
              </p:cNvCxnSpPr>
              <p:nvPr/>
            </p:nvCxnSpPr>
            <p:spPr>
              <a:xfrm>
                <a:off x="4682826" y="2751166"/>
                <a:ext cx="515396" cy="16344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Rak pilkoppling 20">
                <a:extLst>
                  <a:ext uri="{FF2B5EF4-FFF2-40B4-BE49-F238E27FC236}">
                    <a16:creationId xmlns:a16="http://schemas.microsoft.com/office/drawing/2014/main" id="{C87D918B-F677-C9B2-ECA3-23B80831FD6D}"/>
                  </a:ext>
                </a:extLst>
              </p:cNvPr>
              <p:cNvCxnSpPr>
                <a:cxnSpLocks/>
                <a:stCxn id="6" idx="6"/>
                <a:endCxn id="8" idx="2"/>
              </p:cNvCxnSpPr>
              <p:nvPr/>
            </p:nvCxnSpPr>
            <p:spPr>
              <a:xfrm flipV="1">
                <a:off x="4682826" y="2427317"/>
                <a:ext cx="515396" cy="985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Rak pilkoppling 21">
                <a:extLst>
                  <a:ext uri="{FF2B5EF4-FFF2-40B4-BE49-F238E27FC236}">
                    <a16:creationId xmlns:a16="http://schemas.microsoft.com/office/drawing/2014/main" id="{E0E529FE-B835-127D-5A68-84BF3B841442}"/>
                  </a:ext>
                </a:extLst>
              </p:cNvPr>
              <p:cNvCxnSpPr>
                <a:cxnSpLocks/>
                <a:stCxn id="6" idx="6"/>
                <a:endCxn id="9" idx="2"/>
              </p:cNvCxnSpPr>
              <p:nvPr/>
            </p:nvCxnSpPr>
            <p:spPr>
              <a:xfrm flipV="1">
                <a:off x="4682826" y="3075015"/>
                <a:ext cx="515396" cy="3373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Rak pilkoppling 22">
                <a:extLst>
                  <a:ext uri="{FF2B5EF4-FFF2-40B4-BE49-F238E27FC236}">
                    <a16:creationId xmlns:a16="http://schemas.microsoft.com/office/drawing/2014/main" id="{F86D0BCC-8539-C811-A0A8-9E94B09AF85D}"/>
                  </a:ext>
                </a:extLst>
              </p:cNvPr>
              <p:cNvCxnSpPr>
                <a:cxnSpLocks/>
                <a:stCxn id="6" idx="6"/>
                <a:endCxn id="10" idx="2"/>
              </p:cNvCxnSpPr>
              <p:nvPr/>
            </p:nvCxnSpPr>
            <p:spPr>
              <a:xfrm>
                <a:off x="4682826" y="3412372"/>
                <a:ext cx="515396" cy="3255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Rak pilkoppling 23">
                <a:extLst>
                  <a:ext uri="{FF2B5EF4-FFF2-40B4-BE49-F238E27FC236}">
                    <a16:creationId xmlns:a16="http://schemas.microsoft.com/office/drawing/2014/main" id="{DAA21504-EFC3-143E-4790-A72915D51D33}"/>
                  </a:ext>
                </a:extLst>
              </p:cNvPr>
              <p:cNvCxnSpPr>
                <a:cxnSpLocks/>
                <a:stCxn id="6" idx="6"/>
                <a:endCxn id="11" idx="2"/>
              </p:cNvCxnSpPr>
              <p:nvPr/>
            </p:nvCxnSpPr>
            <p:spPr>
              <a:xfrm>
                <a:off x="4682826" y="3412372"/>
                <a:ext cx="515396" cy="9732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Rak pilkoppling 24">
                <a:extLst>
                  <a:ext uri="{FF2B5EF4-FFF2-40B4-BE49-F238E27FC236}">
                    <a16:creationId xmlns:a16="http://schemas.microsoft.com/office/drawing/2014/main" id="{2AB1CA04-9342-8A37-1B7B-AE6BBCDD8B37}"/>
                  </a:ext>
                </a:extLst>
              </p:cNvPr>
              <p:cNvCxnSpPr>
                <a:cxnSpLocks/>
                <a:stCxn id="7" idx="6"/>
                <a:endCxn id="8" idx="2"/>
              </p:cNvCxnSpPr>
              <p:nvPr/>
            </p:nvCxnSpPr>
            <p:spPr>
              <a:xfrm flipV="1">
                <a:off x="4682826" y="2427317"/>
                <a:ext cx="515396" cy="16344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Rak pilkoppling 25">
                <a:extLst>
                  <a:ext uri="{FF2B5EF4-FFF2-40B4-BE49-F238E27FC236}">
                    <a16:creationId xmlns:a16="http://schemas.microsoft.com/office/drawing/2014/main" id="{0C01F444-A0CF-06E5-0127-636F35D4AE28}"/>
                  </a:ext>
                </a:extLst>
              </p:cNvPr>
              <p:cNvCxnSpPr>
                <a:cxnSpLocks/>
                <a:stCxn id="7" idx="6"/>
                <a:endCxn id="9" idx="2"/>
              </p:cNvCxnSpPr>
              <p:nvPr/>
            </p:nvCxnSpPr>
            <p:spPr>
              <a:xfrm flipV="1">
                <a:off x="4682826" y="3075015"/>
                <a:ext cx="515396" cy="986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Rak pilkoppling 26">
                <a:extLst>
                  <a:ext uri="{FF2B5EF4-FFF2-40B4-BE49-F238E27FC236}">
                    <a16:creationId xmlns:a16="http://schemas.microsoft.com/office/drawing/2014/main" id="{0C19E12E-F034-4E9D-C702-302246F7564B}"/>
                  </a:ext>
                </a:extLst>
              </p:cNvPr>
              <p:cNvCxnSpPr>
                <a:cxnSpLocks/>
                <a:stCxn id="7" idx="6"/>
                <a:endCxn id="10" idx="2"/>
              </p:cNvCxnSpPr>
              <p:nvPr/>
            </p:nvCxnSpPr>
            <p:spPr>
              <a:xfrm flipV="1">
                <a:off x="4682826" y="3737955"/>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Rak pilkoppling 27">
                <a:extLst>
                  <a:ext uri="{FF2B5EF4-FFF2-40B4-BE49-F238E27FC236}">
                    <a16:creationId xmlns:a16="http://schemas.microsoft.com/office/drawing/2014/main" id="{4DD62E45-8FB3-E432-DD90-818E1485E937}"/>
                  </a:ext>
                </a:extLst>
              </p:cNvPr>
              <p:cNvCxnSpPr>
                <a:cxnSpLocks/>
                <a:stCxn id="7" idx="6"/>
                <a:endCxn id="11" idx="2"/>
              </p:cNvCxnSpPr>
              <p:nvPr/>
            </p:nvCxnSpPr>
            <p:spPr>
              <a:xfrm>
                <a:off x="4682826" y="4061804"/>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Rak pilkoppling 28">
                <a:extLst>
                  <a:ext uri="{FF2B5EF4-FFF2-40B4-BE49-F238E27FC236}">
                    <a16:creationId xmlns:a16="http://schemas.microsoft.com/office/drawing/2014/main" id="{5FF2B64C-59F9-1C01-BF87-2B757238F436}"/>
                  </a:ext>
                </a:extLst>
              </p:cNvPr>
              <p:cNvCxnSpPr>
                <a:cxnSpLocks/>
                <a:stCxn id="8" idx="6"/>
                <a:endCxn id="12" idx="2"/>
              </p:cNvCxnSpPr>
              <p:nvPr/>
            </p:nvCxnSpPr>
            <p:spPr>
              <a:xfrm>
                <a:off x="5580604" y="2427317"/>
                <a:ext cx="5153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Rak pilkoppling 29">
                <a:extLst>
                  <a:ext uri="{FF2B5EF4-FFF2-40B4-BE49-F238E27FC236}">
                    <a16:creationId xmlns:a16="http://schemas.microsoft.com/office/drawing/2014/main" id="{F971E2AE-41C4-9A3B-BA32-C30B20AD0D8B}"/>
                  </a:ext>
                </a:extLst>
              </p:cNvPr>
              <p:cNvCxnSpPr>
                <a:cxnSpLocks/>
                <a:stCxn id="8" idx="6"/>
                <a:endCxn id="13" idx="2"/>
              </p:cNvCxnSpPr>
              <p:nvPr/>
            </p:nvCxnSpPr>
            <p:spPr>
              <a:xfrm>
                <a:off x="5580604" y="2427317"/>
                <a:ext cx="515396" cy="6428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Rak pilkoppling 30">
                <a:extLst>
                  <a:ext uri="{FF2B5EF4-FFF2-40B4-BE49-F238E27FC236}">
                    <a16:creationId xmlns:a16="http://schemas.microsoft.com/office/drawing/2014/main" id="{3BDDEF5F-567A-10D9-236E-55F1FF1CA1ED}"/>
                  </a:ext>
                </a:extLst>
              </p:cNvPr>
              <p:cNvCxnSpPr>
                <a:cxnSpLocks/>
                <a:stCxn id="8" idx="6"/>
                <a:endCxn id="14" idx="2"/>
              </p:cNvCxnSpPr>
              <p:nvPr/>
            </p:nvCxnSpPr>
            <p:spPr>
              <a:xfrm>
                <a:off x="5580604" y="2427317"/>
                <a:ext cx="515396" cy="1311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Rak pilkoppling 31">
                <a:extLst>
                  <a:ext uri="{FF2B5EF4-FFF2-40B4-BE49-F238E27FC236}">
                    <a16:creationId xmlns:a16="http://schemas.microsoft.com/office/drawing/2014/main" id="{67EDD9A0-C15E-61CA-4213-21F27BC31AEC}"/>
                  </a:ext>
                </a:extLst>
              </p:cNvPr>
              <p:cNvCxnSpPr>
                <a:cxnSpLocks/>
                <a:stCxn id="8" idx="6"/>
                <a:endCxn id="15" idx="2"/>
              </p:cNvCxnSpPr>
              <p:nvPr/>
            </p:nvCxnSpPr>
            <p:spPr>
              <a:xfrm>
                <a:off x="5580604" y="2427317"/>
                <a:ext cx="515396" cy="19604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Rak pilkoppling 32">
                <a:extLst>
                  <a:ext uri="{FF2B5EF4-FFF2-40B4-BE49-F238E27FC236}">
                    <a16:creationId xmlns:a16="http://schemas.microsoft.com/office/drawing/2014/main" id="{D42ADB00-555D-DEB4-F103-A4114FD53295}"/>
                  </a:ext>
                </a:extLst>
              </p:cNvPr>
              <p:cNvCxnSpPr>
                <a:cxnSpLocks/>
                <a:stCxn id="9" idx="6"/>
                <a:endCxn id="12" idx="2"/>
              </p:cNvCxnSpPr>
              <p:nvPr/>
            </p:nvCxnSpPr>
            <p:spPr>
              <a:xfrm flipV="1">
                <a:off x="5580604" y="2427317"/>
                <a:ext cx="515396" cy="6476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Rak pilkoppling 33">
                <a:extLst>
                  <a:ext uri="{FF2B5EF4-FFF2-40B4-BE49-F238E27FC236}">
                    <a16:creationId xmlns:a16="http://schemas.microsoft.com/office/drawing/2014/main" id="{9DCE0E29-6412-C037-CE40-289BB9025199}"/>
                  </a:ext>
                </a:extLst>
              </p:cNvPr>
              <p:cNvCxnSpPr>
                <a:cxnSpLocks/>
                <a:stCxn id="9" idx="6"/>
                <a:endCxn id="13" idx="2"/>
              </p:cNvCxnSpPr>
              <p:nvPr/>
            </p:nvCxnSpPr>
            <p:spPr>
              <a:xfrm flipV="1">
                <a:off x="5580604" y="3070164"/>
                <a:ext cx="515396" cy="48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Rak pilkoppling 34">
                <a:extLst>
                  <a:ext uri="{FF2B5EF4-FFF2-40B4-BE49-F238E27FC236}">
                    <a16:creationId xmlns:a16="http://schemas.microsoft.com/office/drawing/2014/main" id="{439EE7C5-A66F-4DFB-89A3-180A79CF5069}"/>
                  </a:ext>
                </a:extLst>
              </p:cNvPr>
              <p:cNvCxnSpPr>
                <a:cxnSpLocks/>
                <a:stCxn id="9" idx="6"/>
                <a:endCxn id="14" idx="2"/>
              </p:cNvCxnSpPr>
              <p:nvPr/>
            </p:nvCxnSpPr>
            <p:spPr>
              <a:xfrm>
                <a:off x="5580604" y="3075015"/>
                <a:ext cx="515396" cy="6641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Rak pilkoppling 35">
                <a:extLst>
                  <a:ext uri="{FF2B5EF4-FFF2-40B4-BE49-F238E27FC236}">
                    <a16:creationId xmlns:a16="http://schemas.microsoft.com/office/drawing/2014/main" id="{01302136-6845-6135-2302-B858A3926017}"/>
                  </a:ext>
                </a:extLst>
              </p:cNvPr>
              <p:cNvCxnSpPr>
                <a:cxnSpLocks/>
                <a:stCxn id="9" idx="6"/>
                <a:endCxn id="15" idx="2"/>
              </p:cNvCxnSpPr>
              <p:nvPr/>
            </p:nvCxnSpPr>
            <p:spPr>
              <a:xfrm>
                <a:off x="5580604" y="3075015"/>
                <a:ext cx="515396" cy="13127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Rak pilkoppling 36">
                <a:extLst>
                  <a:ext uri="{FF2B5EF4-FFF2-40B4-BE49-F238E27FC236}">
                    <a16:creationId xmlns:a16="http://schemas.microsoft.com/office/drawing/2014/main" id="{416E9E8F-D049-9208-09B7-D9D20F0CC4B9}"/>
                  </a:ext>
                </a:extLst>
              </p:cNvPr>
              <p:cNvCxnSpPr>
                <a:cxnSpLocks/>
                <a:stCxn id="10" idx="6"/>
                <a:endCxn id="12" idx="2"/>
              </p:cNvCxnSpPr>
              <p:nvPr/>
            </p:nvCxnSpPr>
            <p:spPr>
              <a:xfrm flipV="1">
                <a:off x="5580604" y="2427317"/>
                <a:ext cx="515396" cy="13106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Rak pilkoppling 37">
                <a:extLst>
                  <a:ext uri="{FF2B5EF4-FFF2-40B4-BE49-F238E27FC236}">
                    <a16:creationId xmlns:a16="http://schemas.microsoft.com/office/drawing/2014/main" id="{087EAC00-B538-F12A-11D1-D6C3CF672975}"/>
                  </a:ext>
                </a:extLst>
              </p:cNvPr>
              <p:cNvCxnSpPr>
                <a:cxnSpLocks/>
                <a:stCxn id="10" idx="6"/>
                <a:endCxn id="13" idx="2"/>
              </p:cNvCxnSpPr>
              <p:nvPr/>
            </p:nvCxnSpPr>
            <p:spPr>
              <a:xfrm flipV="1">
                <a:off x="5580604" y="3070164"/>
                <a:ext cx="515396" cy="6677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Rak pilkoppling 38">
                <a:extLst>
                  <a:ext uri="{FF2B5EF4-FFF2-40B4-BE49-F238E27FC236}">
                    <a16:creationId xmlns:a16="http://schemas.microsoft.com/office/drawing/2014/main" id="{861BF39C-ED15-2E48-99D0-F86B8E891BC1}"/>
                  </a:ext>
                </a:extLst>
              </p:cNvPr>
              <p:cNvCxnSpPr>
                <a:cxnSpLocks/>
                <a:stCxn id="10" idx="6"/>
                <a:endCxn id="14" idx="2"/>
              </p:cNvCxnSpPr>
              <p:nvPr/>
            </p:nvCxnSpPr>
            <p:spPr>
              <a:xfrm>
                <a:off x="5580604" y="3737955"/>
                <a:ext cx="515396" cy="12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Rak pilkoppling 39">
                <a:extLst>
                  <a:ext uri="{FF2B5EF4-FFF2-40B4-BE49-F238E27FC236}">
                    <a16:creationId xmlns:a16="http://schemas.microsoft.com/office/drawing/2014/main" id="{23CB09F1-8053-87C0-F09E-CB7A92C25945}"/>
                  </a:ext>
                </a:extLst>
              </p:cNvPr>
              <p:cNvCxnSpPr>
                <a:cxnSpLocks/>
                <a:stCxn id="10" idx="6"/>
                <a:endCxn id="15" idx="2"/>
              </p:cNvCxnSpPr>
              <p:nvPr/>
            </p:nvCxnSpPr>
            <p:spPr>
              <a:xfrm>
                <a:off x="5580604" y="3737955"/>
                <a:ext cx="515396" cy="6497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Rak pilkoppling 40">
                <a:extLst>
                  <a:ext uri="{FF2B5EF4-FFF2-40B4-BE49-F238E27FC236}">
                    <a16:creationId xmlns:a16="http://schemas.microsoft.com/office/drawing/2014/main" id="{4B894656-F935-A672-5AEB-9E0E978C84F2}"/>
                  </a:ext>
                </a:extLst>
              </p:cNvPr>
              <p:cNvCxnSpPr>
                <a:cxnSpLocks/>
                <a:stCxn id="11" idx="6"/>
                <a:endCxn id="12" idx="2"/>
              </p:cNvCxnSpPr>
              <p:nvPr/>
            </p:nvCxnSpPr>
            <p:spPr>
              <a:xfrm flipV="1">
                <a:off x="5580604" y="2427317"/>
                <a:ext cx="515396" cy="19583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Rak pilkoppling 41">
                <a:extLst>
                  <a:ext uri="{FF2B5EF4-FFF2-40B4-BE49-F238E27FC236}">
                    <a16:creationId xmlns:a16="http://schemas.microsoft.com/office/drawing/2014/main" id="{A26DF03F-5EC1-C389-9B61-2780C28917F7}"/>
                  </a:ext>
                </a:extLst>
              </p:cNvPr>
              <p:cNvCxnSpPr>
                <a:cxnSpLocks/>
                <a:stCxn id="11" idx="6"/>
                <a:endCxn id="13" idx="2"/>
              </p:cNvCxnSpPr>
              <p:nvPr/>
            </p:nvCxnSpPr>
            <p:spPr>
              <a:xfrm flipV="1">
                <a:off x="5580604" y="3070164"/>
                <a:ext cx="515396" cy="13154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Rak pilkoppling 42">
                <a:extLst>
                  <a:ext uri="{FF2B5EF4-FFF2-40B4-BE49-F238E27FC236}">
                    <a16:creationId xmlns:a16="http://schemas.microsoft.com/office/drawing/2014/main" id="{1D7128A9-ACD7-B64E-B6B8-6CC96C7E1A76}"/>
                  </a:ext>
                </a:extLst>
              </p:cNvPr>
              <p:cNvCxnSpPr>
                <a:cxnSpLocks/>
                <a:stCxn id="11" idx="6"/>
                <a:endCxn id="14" idx="2"/>
              </p:cNvCxnSpPr>
              <p:nvPr/>
            </p:nvCxnSpPr>
            <p:spPr>
              <a:xfrm flipV="1">
                <a:off x="5580604" y="3739170"/>
                <a:ext cx="515396" cy="6464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Rak pilkoppling 43">
                <a:extLst>
                  <a:ext uri="{FF2B5EF4-FFF2-40B4-BE49-F238E27FC236}">
                    <a16:creationId xmlns:a16="http://schemas.microsoft.com/office/drawing/2014/main" id="{CDACD5B8-E462-CD92-C44E-4686DF076928}"/>
                  </a:ext>
                </a:extLst>
              </p:cNvPr>
              <p:cNvCxnSpPr>
                <a:cxnSpLocks/>
                <a:stCxn id="11" idx="6"/>
                <a:endCxn id="15" idx="2"/>
              </p:cNvCxnSpPr>
              <p:nvPr/>
            </p:nvCxnSpPr>
            <p:spPr>
              <a:xfrm>
                <a:off x="5580604" y="4385653"/>
                <a:ext cx="515396" cy="20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Rak pilkoppling 44">
                <a:extLst>
                  <a:ext uri="{FF2B5EF4-FFF2-40B4-BE49-F238E27FC236}">
                    <a16:creationId xmlns:a16="http://schemas.microsoft.com/office/drawing/2014/main" id="{FA2D091D-C891-C174-5F11-349E676A60AF}"/>
                  </a:ext>
                </a:extLst>
              </p:cNvPr>
              <p:cNvCxnSpPr>
                <a:cxnSpLocks/>
                <a:stCxn id="12" idx="6"/>
                <a:endCxn id="16" idx="2"/>
              </p:cNvCxnSpPr>
              <p:nvPr/>
            </p:nvCxnSpPr>
            <p:spPr>
              <a:xfrm>
                <a:off x="6478382" y="2427317"/>
                <a:ext cx="515396" cy="9767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Rak pilkoppling 45">
                <a:extLst>
                  <a:ext uri="{FF2B5EF4-FFF2-40B4-BE49-F238E27FC236}">
                    <a16:creationId xmlns:a16="http://schemas.microsoft.com/office/drawing/2014/main" id="{81508BF7-3727-A38A-FA87-E145A7B8AF6B}"/>
                  </a:ext>
                </a:extLst>
              </p:cNvPr>
              <p:cNvCxnSpPr>
                <a:cxnSpLocks/>
                <a:stCxn id="13" idx="6"/>
                <a:endCxn id="16" idx="2"/>
              </p:cNvCxnSpPr>
              <p:nvPr/>
            </p:nvCxnSpPr>
            <p:spPr>
              <a:xfrm>
                <a:off x="6478382" y="3070164"/>
                <a:ext cx="515396" cy="3338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Rak pilkoppling 46">
                <a:extLst>
                  <a:ext uri="{FF2B5EF4-FFF2-40B4-BE49-F238E27FC236}">
                    <a16:creationId xmlns:a16="http://schemas.microsoft.com/office/drawing/2014/main" id="{06A55C34-B44C-F4BF-B6DF-635DD5951641}"/>
                  </a:ext>
                </a:extLst>
              </p:cNvPr>
              <p:cNvCxnSpPr>
                <a:cxnSpLocks/>
                <a:stCxn id="14" idx="6"/>
                <a:endCxn id="16" idx="2"/>
              </p:cNvCxnSpPr>
              <p:nvPr/>
            </p:nvCxnSpPr>
            <p:spPr>
              <a:xfrm flipV="1">
                <a:off x="6478382" y="3404059"/>
                <a:ext cx="515396" cy="3351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Rak pilkoppling 47">
                <a:extLst>
                  <a:ext uri="{FF2B5EF4-FFF2-40B4-BE49-F238E27FC236}">
                    <a16:creationId xmlns:a16="http://schemas.microsoft.com/office/drawing/2014/main" id="{366C8B35-409C-1377-DE26-CCF346CE9E28}"/>
                  </a:ext>
                </a:extLst>
              </p:cNvPr>
              <p:cNvCxnSpPr>
                <a:cxnSpLocks/>
                <a:stCxn id="15" idx="6"/>
                <a:endCxn id="16" idx="2"/>
              </p:cNvCxnSpPr>
              <p:nvPr/>
            </p:nvCxnSpPr>
            <p:spPr>
              <a:xfrm flipV="1">
                <a:off x="6478382" y="3404059"/>
                <a:ext cx="515396" cy="9836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49" name="textruta 48">
              <a:extLst>
                <a:ext uri="{FF2B5EF4-FFF2-40B4-BE49-F238E27FC236}">
                  <a16:creationId xmlns:a16="http://schemas.microsoft.com/office/drawing/2014/main" id="{22427FBA-9AE3-E4DE-6E33-FF47DAD55854}"/>
                </a:ext>
              </a:extLst>
            </p:cNvPr>
            <p:cNvSpPr txBox="1"/>
            <p:nvPr/>
          </p:nvSpPr>
          <p:spPr>
            <a:xfrm>
              <a:off x="7614117" y="2389090"/>
              <a:ext cx="864339" cy="676532"/>
            </a:xfrm>
            <a:prstGeom prst="rect">
              <a:avLst/>
            </a:prstGeom>
            <a:noFill/>
          </p:spPr>
          <p:txBody>
            <a:bodyPr wrap="none" rtlCol="0">
              <a:spAutoFit/>
            </a:bodyPr>
            <a:lstStyle/>
            <a:p>
              <a:pPr>
                <a:lnSpc>
                  <a:spcPct val="150000"/>
                </a:lnSpc>
              </a:pPr>
              <a:r>
                <a:rPr lang="en-US" sz="2800" noProof="0" dirty="0">
                  <a:solidFill>
                    <a:schemeClr val="bg1"/>
                  </a:solidFill>
                </a:rPr>
                <a:t>42.7</a:t>
              </a:r>
            </a:p>
          </p:txBody>
        </p:sp>
        <p:cxnSp>
          <p:nvCxnSpPr>
            <p:cNvPr id="51" name="Rak pilkoppling 50">
              <a:extLst>
                <a:ext uri="{FF2B5EF4-FFF2-40B4-BE49-F238E27FC236}">
                  <a16:creationId xmlns:a16="http://schemas.microsoft.com/office/drawing/2014/main" id="{204AB235-6B53-8701-F531-081D67B2E845}"/>
                </a:ext>
              </a:extLst>
            </p:cNvPr>
            <p:cNvCxnSpPr>
              <a:cxnSpLocks/>
              <a:stCxn id="16" idx="6"/>
            </p:cNvCxnSpPr>
            <p:nvPr/>
          </p:nvCxnSpPr>
          <p:spPr>
            <a:xfrm>
              <a:off x="7342267" y="2795037"/>
              <a:ext cx="2718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05142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06955-64B8-EB5A-8174-FAABF96120B7}"/>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DAB20C56-52F4-B0FD-5011-11830A0A64C7}"/>
              </a:ext>
            </a:extLst>
          </p:cNvPr>
          <p:cNvSpPr txBox="1"/>
          <p:nvPr/>
        </p:nvSpPr>
        <p:spPr>
          <a:xfrm>
            <a:off x="3444174" y="122735"/>
            <a:ext cx="5303696" cy="830997"/>
          </a:xfrm>
          <a:prstGeom prst="rect">
            <a:avLst/>
          </a:prstGeom>
          <a:noFill/>
        </p:spPr>
        <p:txBody>
          <a:bodyPr wrap="none" rtlCol="0">
            <a:spAutoFit/>
          </a:bodyPr>
          <a:lstStyle/>
          <a:p>
            <a:pPr algn="ctr"/>
            <a:r>
              <a:rPr lang="sv-SE" sz="4800" noProof="0" dirty="0">
                <a:solidFill>
                  <a:schemeClr val="bg1"/>
                </a:solidFill>
              </a:rPr>
              <a:t>Jämförelse med ML</a:t>
            </a:r>
          </a:p>
        </p:txBody>
      </p:sp>
      <p:sp>
        <p:nvSpPr>
          <p:cNvPr id="3" name="Rektangel: rundade hörn 2">
            <a:extLst>
              <a:ext uri="{FF2B5EF4-FFF2-40B4-BE49-F238E27FC236}">
                <a16:creationId xmlns:a16="http://schemas.microsoft.com/office/drawing/2014/main" id="{C9B1310D-39C5-815C-2734-0D2349FB1EC9}"/>
              </a:ext>
            </a:extLst>
          </p:cNvPr>
          <p:cNvSpPr/>
          <p:nvPr/>
        </p:nvSpPr>
        <p:spPr>
          <a:xfrm>
            <a:off x="1466238" y="1745672"/>
            <a:ext cx="3877106" cy="4176957"/>
          </a:xfrm>
          <a:prstGeom prst="roundRect">
            <a:avLst/>
          </a:prstGeom>
          <a:solidFill>
            <a:srgbClr val="0B3041">
              <a:alpha val="61176"/>
            </a:srgbClr>
          </a:solidFill>
          <a:ln w="38100">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4" name="Rektangel: rundade hörn 3">
            <a:extLst>
              <a:ext uri="{FF2B5EF4-FFF2-40B4-BE49-F238E27FC236}">
                <a16:creationId xmlns:a16="http://schemas.microsoft.com/office/drawing/2014/main" id="{C0EF3878-C451-4233-9DAB-794BE3B300A9}"/>
              </a:ext>
            </a:extLst>
          </p:cNvPr>
          <p:cNvSpPr/>
          <p:nvPr/>
        </p:nvSpPr>
        <p:spPr>
          <a:xfrm>
            <a:off x="6535024" y="1745671"/>
            <a:ext cx="3877106" cy="4176957"/>
          </a:xfrm>
          <a:prstGeom prst="roundRect">
            <a:avLst/>
          </a:prstGeom>
          <a:solidFill>
            <a:srgbClr val="0B3041">
              <a:alpha val="61176"/>
            </a:srgbClr>
          </a:solidFill>
          <a:ln w="38100">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9" name="textruta 8">
            <a:extLst>
              <a:ext uri="{FF2B5EF4-FFF2-40B4-BE49-F238E27FC236}">
                <a16:creationId xmlns:a16="http://schemas.microsoft.com/office/drawing/2014/main" id="{06BAA084-70D6-A125-107E-24348902DA03}"/>
              </a:ext>
            </a:extLst>
          </p:cNvPr>
          <p:cNvSpPr txBox="1"/>
          <p:nvPr/>
        </p:nvSpPr>
        <p:spPr>
          <a:xfrm>
            <a:off x="1787939" y="1745671"/>
            <a:ext cx="3233707" cy="676532"/>
          </a:xfrm>
          <a:prstGeom prst="rect">
            <a:avLst/>
          </a:prstGeom>
          <a:noFill/>
        </p:spPr>
        <p:txBody>
          <a:bodyPr wrap="none" rtlCol="0">
            <a:spAutoFit/>
          </a:bodyPr>
          <a:lstStyle/>
          <a:p>
            <a:pPr algn="ctr">
              <a:lnSpc>
                <a:spcPct val="150000"/>
              </a:lnSpc>
            </a:pPr>
            <a:r>
              <a:rPr lang="sv-SE" sz="2800" noProof="0" dirty="0">
                <a:solidFill>
                  <a:schemeClr val="bg1"/>
                </a:solidFill>
              </a:rPr>
              <a:t>Logistisk regression</a:t>
            </a:r>
          </a:p>
        </p:txBody>
      </p:sp>
      <p:sp>
        <p:nvSpPr>
          <p:cNvPr id="10" name="textruta 9">
            <a:extLst>
              <a:ext uri="{FF2B5EF4-FFF2-40B4-BE49-F238E27FC236}">
                <a16:creationId xmlns:a16="http://schemas.microsoft.com/office/drawing/2014/main" id="{38291F22-A698-4918-4502-05529559D5A9}"/>
              </a:ext>
            </a:extLst>
          </p:cNvPr>
          <p:cNvSpPr txBox="1"/>
          <p:nvPr/>
        </p:nvSpPr>
        <p:spPr>
          <a:xfrm>
            <a:off x="1651492" y="3089560"/>
            <a:ext cx="3506598" cy="1938992"/>
          </a:xfrm>
          <a:prstGeom prst="rect">
            <a:avLst/>
          </a:prstGeom>
          <a:noFill/>
        </p:spPr>
        <p:txBody>
          <a:bodyPr wrap="square" rtlCol="0">
            <a:spAutoFit/>
          </a:bodyPr>
          <a:lstStyle/>
          <a:p>
            <a:pPr marL="457200" indent="-457200">
              <a:buFont typeface="Arial" panose="020B0604020202020204" pitchFamily="34" charset="0"/>
              <a:buChar char="•"/>
            </a:pPr>
            <a:r>
              <a:rPr lang="sv-SE" sz="2400" noProof="0" dirty="0">
                <a:solidFill>
                  <a:schemeClr val="bg1"/>
                </a:solidFill>
              </a:rPr>
              <a:t>Linjär modell</a:t>
            </a:r>
          </a:p>
          <a:p>
            <a:pPr marL="457200" indent="-457200">
              <a:buFont typeface="Arial" panose="020B0604020202020204" pitchFamily="34" charset="0"/>
              <a:buChar char="•"/>
            </a:pPr>
            <a:endParaRPr lang="sv-SE" sz="2400" dirty="0">
              <a:solidFill>
                <a:schemeClr val="bg1"/>
              </a:solidFill>
            </a:endParaRPr>
          </a:p>
          <a:p>
            <a:pPr marL="457200" indent="-457200">
              <a:buFont typeface="Arial" panose="020B0604020202020204" pitchFamily="34" charset="0"/>
              <a:buChar char="•"/>
            </a:pPr>
            <a:r>
              <a:rPr lang="sv-SE" sz="2400" dirty="0" err="1">
                <a:solidFill>
                  <a:schemeClr val="bg1"/>
                </a:solidFill>
              </a:rPr>
              <a:t>Sigmoid</a:t>
            </a:r>
            <a:r>
              <a:rPr lang="sv-SE" sz="2400" dirty="0">
                <a:solidFill>
                  <a:schemeClr val="bg1"/>
                </a:solidFill>
              </a:rPr>
              <a:t> i slutet</a:t>
            </a:r>
          </a:p>
          <a:p>
            <a:pPr marL="457200" indent="-457200">
              <a:buFont typeface="Arial" panose="020B0604020202020204" pitchFamily="34" charset="0"/>
              <a:buChar char="•"/>
            </a:pPr>
            <a:endParaRPr lang="sv-SE" sz="2400" dirty="0">
              <a:solidFill>
                <a:schemeClr val="bg1"/>
              </a:solidFill>
            </a:endParaRPr>
          </a:p>
          <a:p>
            <a:pPr marL="457200" indent="-457200">
              <a:buFont typeface="Arial" panose="020B0604020202020204" pitchFamily="34" charset="0"/>
              <a:buChar char="•"/>
            </a:pPr>
            <a:r>
              <a:rPr lang="sv-SE" sz="2400" noProof="0" dirty="0">
                <a:solidFill>
                  <a:schemeClr val="bg1"/>
                </a:solidFill>
              </a:rPr>
              <a:t>Enklare beslutsgräns</a:t>
            </a:r>
          </a:p>
        </p:txBody>
      </p:sp>
      <p:sp>
        <p:nvSpPr>
          <p:cNvPr id="11" name="textruta 10">
            <a:extLst>
              <a:ext uri="{FF2B5EF4-FFF2-40B4-BE49-F238E27FC236}">
                <a16:creationId xmlns:a16="http://schemas.microsoft.com/office/drawing/2014/main" id="{3721C3EF-A217-30F6-A9E8-B53CEB8F3BEF}"/>
              </a:ext>
            </a:extLst>
          </p:cNvPr>
          <p:cNvSpPr txBox="1"/>
          <p:nvPr/>
        </p:nvSpPr>
        <p:spPr>
          <a:xfrm>
            <a:off x="7197306" y="1745671"/>
            <a:ext cx="2552558" cy="676532"/>
          </a:xfrm>
          <a:prstGeom prst="rect">
            <a:avLst/>
          </a:prstGeom>
          <a:noFill/>
        </p:spPr>
        <p:txBody>
          <a:bodyPr wrap="none" rtlCol="0">
            <a:spAutoFit/>
          </a:bodyPr>
          <a:lstStyle/>
          <a:p>
            <a:pPr algn="ctr">
              <a:lnSpc>
                <a:spcPct val="150000"/>
              </a:lnSpc>
            </a:pPr>
            <a:r>
              <a:rPr lang="sv-SE" sz="2800" noProof="0" dirty="0">
                <a:solidFill>
                  <a:schemeClr val="bg1"/>
                </a:solidFill>
              </a:rPr>
              <a:t>Neuralt nätverk</a:t>
            </a:r>
          </a:p>
        </p:txBody>
      </p:sp>
      <p:sp>
        <p:nvSpPr>
          <p:cNvPr id="12" name="textruta 11">
            <a:extLst>
              <a:ext uri="{FF2B5EF4-FFF2-40B4-BE49-F238E27FC236}">
                <a16:creationId xmlns:a16="http://schemas.microsoft.com/office/drawing/2014/main" id="{640BE5D4-901E-D1F3-00D4-E777F67167B9}"/>
              </a:ext>
            </a:extLst>
          </p:cNvPr>
          <p:cNvSpPr txBox="1"/>
          <p:nvPr/>
        </p:nvSpPr>
        <p:spPr>
          <a:xfrm>
            <a:off x="6720279" y="2648921"/>
            <a:ext cx="3506598" cy="3046988"/>
          </a:xfrm>
          <a:prstGeom prst="rect">
            <a:avLst/>
          </a:prstGeom>
          <a:noFill/>
        </p:spPr>
        <p:txBody>
          <a:bodyPr wrap="square" rtlCol="0">
            <a:spAutoFit/>
          </a:bodyPr>
          <a:lstStyle/>
          <a:p>
            <a:pPr marL="457200" indent="-457200">
              <a:buFont typeface="Arial" panose="020B0604020202020204" pitchFamily="34" charset="0"/>
              <a:buChar char="•"/>
            </a:pPr>
            <a:r>
              <a:rPr lang="sv-SE" sz="2400" noProof="0" dirty="0">
                <a:solidFill>
                  <a:schemeClr val="bg1"/>
                </a:solidFill>
              </a:rPr>
              <a:t>Flera lager</a:t>
            </a:r>
          </a:p>
          <a:p>
            <a:pPr marL="457200" indent="-457200">
              <a:buFont typeface="Arial" panose="020B0604020202020204" pitchFamily="34" charset="0"/>
              <a:buChar char="•"/>
            </a:pPr>
            <a:endParaRPr lang="sv-SE" sz="2400" noProof="0" dirty="0">
              <a:solidFill>
                <a:schemeClr val="bg1"/>
              </a:solidFill>
            </a:endParaRPr>
          </a:p>
          <a:p>
            <a:pPr marL="457200" indent="-457200">
              <a:buFont typeface="Arial" panose="020B0604020202020204" pitchFamily="34" charset="0"/>
              <a:buChar char="•"/>
            </a:pPr>
            <a:r>
              <a:rPr lang="sv-SE" sz="2400" dirty="0" err="1">
                <a:solidFill>
                  <a:schemeClr val="bg1"/>
                </a:solidFill>
              </a:rPr>
              <a:t>ReLU</a:t>
            </a:r>
            <a:r>
              <a:rPr lang="sv-SE" sz="2400" dirty="0">
                <a:solidFill>
                  <a:schemeClr val="bg1"/>
                </a:solidFill>
              </a:rPr>
              <a:t> i dolda lager</a:t>
            </a:r>
          </a:p>
          <a:p>
            <a:pPr marL="457200" indent="-457200">
              <a:buFont typeface="Arial" panose="020B0604020202020204" pitchFamily="34" charset="0"/>
              <a:buChar char="•"/>
            </a:pPr>
            <a:endParaRPr lang="sv-SE" sz="2400" noProof="0" dirty="0">
              <a:solidFill>
                <a:schemeClr val="bg1"/>
              </a:solidFill>
            </a:endParaRPr>
          </a:p>
          <a:p>
            <a:pPr marL="457200" indent="-457200">
              <a:buFont typeface="Arial" panose="020B0604020202020204" pitchFamily="34" charset="0"/>
              <a:buChar char="•"/>
            </a:pPr>
            <a:r>
              <a:rPr lang="sv-SE" sz="2400" noProof="0" dirty="0" err="1">
                <a:solidFill>
                  <a:schemeClr val="bg1"/>
                </a:solidFill>
              </a:rPr>
              <a:t>Sigmoid</a:t>
            </a:r>
            <a:r>
              <a:rPr lang="sv-SE" sz="2400" noProof="0" dirty="0">
                <a:solidFill>
                  <a:schemeClr val="bg1"/>
                </a:solidFill>
              </a:rPr>
              <a:t> eller </a:t>
            </a:r>
            <a:r>
              <a:rPr lang="sv-SE" sz="2400" noProof="0" dirty="0" err="1">
                <a:solidFill>
                  <a:schemeClr val="bg1"/>
                </a:solidFill>
              </a:rPr>
              <a:t>softmax</a:t>
            </a:r>
            <a:r>
              <a:rPr lang="sv-SE" sz="2400" noProof="0" dirty="0">
                <a:solidFill>
                  <a:schemeClr val="bg1"/>
                </a:solidFill>
              </a:rPr>
              <a:t> i output</a:t>
            </a:r>
          </a:p>
          <a:p>
            <a:pPr marL="457200" indent="-457200">
              <a:buFont typeface="Arial" panose="020B0604020202020204" pitchFamily="34" charset="0"/>
              <a:buChar char="•"/>
            </a:pPr>
            <a:endParaRPr lang="sv-SE" sz="2400" dirty="0">
              <a:solidFill>
                <a:schemeClr val="bg1"/>
              </a:solidFill>
            </a:endParaRPr>
          </a:p>
          <a:p>
            <a:pPr marL="457200" indent="-457200">
              <a:buFont typeface="Arial" panose="020B0604020202020204" pitchFamily="34" charset="0"/>
              <a:buChar char="•"/>
            </a:pPr>
            <a:r>
              <a:rPr lang="sv-SE" sz="2400" dirty="0">
                <a:solidFill>
                  <a:schemeClr val="bg1"/>
                </a:solidFill>
              </a:rPr>
              <a:t>Mer flexibel modell</a:t>
            </a:r>
            <a:endParaRPr lang="sv-SE" sz="2400" noProof="0" dirty="0">
              <a:solidFill>
                <a:schemeClr val="bg1"/>
              </a:solidFill>
            </a:endParaRPr>
          </a:p>
        </p:txBody>
      </p:sp>
    </p:spTree>
    <p:extLst>
      <p:ext uri="{BB962C8B-B14F-4D97-AF65-F5344CB8AC3E}">
        <p14:creationId xmlns:p14="http://schemas.microsoft.com/office/powerpoint/2010/main" val="8309171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7DC61-5118-94B5-DC00-B2A7AD53F4A1}"/>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85497186-62FE-1BFE-30E6-3CFEC4AAE71A}"/>
              </a:ext>
            </a:extLst>
          </p:cNvPr>
          <p:cNvSpPr txBox="1"/>
          <p:nvPr/>
        </p:nvSpPr>
        <p:spPr>
          <a:xfrm>
            <a:off x="5379385" y="122735"/>
            <a:ext cx="1433277" cy="830997"/>
          </a:xfrm>
          <a:prstGeom prst="rect">
            <a:avLst/>
          </a:prstGeom>
          <a:noFill/>
        </p:spPr>
        <p:txBody>
          <a:bodyPr wrap="none" rtlCol="0">
            <a:spAutoFit/>
          </a:bodyPr>
          <a:lstStyle/>
          <a:p>
            <a:pPr algn="ctr"/>
            <a:r>
              <a:rPr lang="sv-SE" sz="4800" noProof="0" dirty="0">
                <a:solidFill>
                  <a:schemeClr val="bg1"/>
                </a:solidFill>
              </a:rPr>
              <a:t>Loss</a:t>
            </a:r>
          </a:p>
        </p:txBody>
      </p:sp>
      <p:sp>
        <p:nvSpPr>
          <p:cNvPr id="5" name="textruta 4">
            <a:extLst>
              <a:ext uri="{FF2B5EF4-FFF2-40B4-BE49-F238E27FC236}">
                <a16:creationId xmlns:a16="http://schemas.microsoft.com/office/drawing/2014/main" id="{5C784A2D-7D2A-4A5C-9A44-43E35A6BA071}"/>
              </a:ext>
            </a:extLst>
          </p:cNvPr>
          <p:cNvSpPr txBox="1"/>
          <p:nvPr/>
        </p:nvSpPr>
        <p:spPr>
          <a:xfrm>
            <a:off x="7682859" y="2655262"/>
            <a:ext cx="3956148" cy="2677656"/>
          </a:xfrm>
          <a:prstGeom prst="rect">
            <a:avLst/>
          </a:prstGeom>
          <a:noFill/>
        </p:spPr>
        <p:txBody>
          <a:bodyPr wrap="none" rtlCol="0">
            <a:spAutoFit/>
          </a:bodyPr>
          <a:lstStyle/>
          <a:p>
            <a:pPr marL="457200" indent="-457200">
              <a:buFont typeface="Arial" panose="020B0604020202020204" pitchFamily="34" charset="0"/>
              <a:buChar char="•"/>
            </a:pPr>
            <a:r>
              <a:rPr lang="sv-SE" sz="2800" dirty="0">
                <a:solidFill>
                  <a:schemeClr val="bg1"/>
                </a:solidFill>
              </a:rPr>
              <a:t>Sant värde: 1</a:t>
            </a:r>
          </a:p>
          <a:p>
            <a:pPr marL="457200" indent="-457200">
              <a:buFont typeface="Arial" panose="020B0604020202020204" pitchFamily="34" charset="0"/>
              <a:buChar char="•"/>
            </a:pPr>
            <a:endParaRPr lang="sv-SE" sz="2800" dirty="0">
              <a:solidFill>
                <a:schemeClr val="bg1"/>
              </a:solidFill>
            </a:endParaRPr>
          </a:p>
          <a:p>
            <a:pPr marL="457200" indent="-457200">
              <a:buFont typeface="Arial" panose="020B0604020202020204" pitchFamily="34" charset="0"/>
              <a:buChar char="•"/>
            </a:pPr>
            <a:r>
              <a:rPr lang="cy-GB" sz="2800" noProof="0" dirty="0">
                <a:solidFill>
                  <a:schemeClr val="bg1"/>
                </a:solidFill>
              </a:rPr>
              <a:t>Prediktion: 0.62</a:t>
            </a:r>
            <a:endParaRPr lang="sv-SE" sz="2800" noProof="0" dirty="0">
              <a:solidFill>
                <a:schemeClr val="bg1"/>
              </a:solidFill>
            </a:endParaRPr>
          </a:p>
          <a:p>
            <a:pPr marL="457200" indent="-457200">
              <a:buFont typeface="Arial" panose="020B0604020202020204" pitchFamily="34" charset="0"/>
              <a:buChar char="•"/>
            </a:pPr>
            <a:endParaRPr lang="cy-GB" sz="2800" noProof="0" dirty="0">
              <a:solidFill>
                <a:schemeClr val="bg1"/>
              </a:solidFill>
            </a:endParaRPr>
          </a:p>
          <a:p>
            <a:pPr marL="457200" indent="-457200">
              <a:buFont typeface="Arial" panose="020B0604020202020204" pitchFamily="34" charset="0"/>
              <a:buChar char="•"/>
            </a:pPr>
            <a:r>
              <a:rPr lang="cy-GB" sz="2800" noProof="0" dirty="0">
                <a:solidFill>
                  <a:schemeClr val="bg1"/>
                </a:solidFill>
              </a:rPr>
              <a:t>Loss = mått på hur fel</a:t>
            </a:r>
            <a:br>
              <a:rPr lang="cy-GB" sz="2800" noProof="0" dirty="0">
                <a:solidFill>
                  <a:schemeClr val="bg1"/>
                </a:solidFill>
              </a:rPr>
            </a:br>
            <a:r>
              <a:rPr lang="cy-GB" sz="2800" noProof="0" dirty="0">
                <a:solidFill>
                  <a:schemeClr val="bg1"/>
                </a:solidFill>
              </a:rPr>
              <a:t>modellen hade</a:t>
            </a:r>
          </a:p>
        </p:txBody>
      </p:sp>
      <p:cxnSp>
        <p:nvCxnSpPr>
          <p:cNvPr id="7" name="Rak pilkoppling 6">
            <a:extLst>
              <a:ext uri="{FF2B5EF4-FFF2-40B4-BE49-F238E27FC236}">
                <a16:creationId xmlns:a16="http://schemas.microsoft.com/office/drawing/2014/main" id="{3CF08FCC-EB9E-355F-DD3E-5B1E9620BB05}"/>
              </a:ext>
            </a:extLst>
          </p:cNvPr>
          <p:cNvCxnSpPr>
            <a:cxnSpLocks/>
          </p:cNvCxnSpPr>
          <p:nvPr/>
        </p:nvCxnSpPr>
        <p:spPr>
          <a:xfrm flipV="1">
            <a:off x="1389054" y="2250622"/>
            <a:ext cx="0" cy="358491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8" name="Rak pilkoppling 7">
            <a:extLst>
              <a:ext uri="{FF2B5EF4-FFF2-40B4-BE49-F238E27FC236}">
                <a16:creationId xmlns:a16="http://schemas.microsoft.com/office/drawing/2014/main" id="{4D888F95-B9E7-99BB-5FB8-E18873116C54}"/>
              </a:ext>
            </a:extLst>
          </p:cNvPr>
          <p:cNvCxnSpPr>
            <a:cxnSpLocks/>
          </p:cNvCxnSpPr>
          <p:nvPr/>
        </p:nvCxnSpPr>
        <p:spPr>
          <a:xfrm>
            <a:off x="962827" y="5342788"/>
            <a:ext cx="5606974"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4" name="Ellips 13">
            <a:extLst>
              <a:ext uri="{FF2B5EF4-FFF2-40B4-BE49-F238E27FC236}">
                <a16:creationId xmlns:a16="http://schemas.microsoft.com/office/drawing/2014/main" id="{7E8A0291-B825-45E0-7AE2-9E91989EEA48}"/>
              </a:ext>
            </a:extLst>
          </p:cNvPr>
          <p:cNvSpPr/>
          <p:nvPr/>
        </p:nvSpPr>
        <p:spPr>
          <a:xfrm>
            <a:off x="3217673" y="3165216"/>
            <a:ext cx="236934" cy="23818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17" name="Rak koppling 16">
            <a:extLst>
              <a:ext uri="{FF2B5EF4-FFF2-40B4-BE49-F238E27FC236}">
                <a16:creationId xmlns:a16="http://schemas.microsoft.com/office/drawing/2014/main" id="{CA47FC45-46FE-59A6-EB04-53242055F0C3}"/>
              </a:ext>
            </a:extLst>
          </p:cNvPr>
          <p:cNvCxnSpPr>
            <a:cxnSpLocks/>
          </p:cNvCxnSpPr>
          <p:nvPr/>
        </p:nvCxnSpPr>
        <p:spPr>
          <a:xfrm flipH="1">
            <a:off x="962827" y="3341312"/>
            <a:ext cx="5420212" cy="2191003"/>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 name="Rak pilkoppling 17">
            <a:extLst>
              <a:ext uri="{FF2B5EF4-FFF2-40B4-BE49-F238E27FC236}">
                <a16:creationId xmlns:a16="http://schemas.microsoft.com/office/drawing/2014/main" id="{44FEBBC8-61A5-D413-F821-7AB97365D958}"/>
              </a:ext>
            </a:extLst>
          </p:cNvPr>
          <p:cNvCxnSpPr>
            <a:cxnSpLocks/>
          </p:cNvCxnSpPr>
          <p:nvPr/>
        </p:nvCxnSpPr>
        <p:spPr>
          <a:xfrm>
            <a:off x="3322726" y="3443040"/>
            <a:ext cx="0" cy="99377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4" name="Ellips 23">
            <a:extLst>
              <a:ext uri="{FF2B5EF4-FFF2-40B4-BE49-F238E27FC236}">
                <a16:creationId xmlns:a16="http://schemas.microsoft.com/office/drawing/2014/main" id="{793AC29B-78E0-3BF4-A543-F348988B864B}"/>
              </a:ext>
            </a:extLst>
          </p:cNvPr>
          <p:cNvSpPr/>
          <p:nvPr/>
        </p:nvSpPr>
        <p:spPr>
          <a:xfrm>
            <a:off x="3217673" y="4469714"/>
            <a:ext cx="205484" cy="20657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7" name="textruta 26">
            <a:extLst>
              <a:ext uri="{FF2B5EF4-FFF2-40B4-BE49-F238E27FC236}">
                <a16:creationId xmlns:a16="http://schemas.microsoft.com/office/drawing/2014/main" id="{20CDA904-344F-CFC9-85CA-7FEBFB8BC542}"/>
              </a:ext>
            </a:extLst>
          </p:cNvPr>
          <p:cNvSpPr txBox="1"/>
          <p:nvPr/>
        </p:nvSpPr>
        <p:spPr>
          <a:xfrm>
            <a:off x="3433855" y="3691486"/>
            <a:ext cx="781062" cy="460988"/>
          </a:xfrm>
          <a:prstGeom prst="rect">
            <a:avLst/>
          </a:prstGeom>
          <a:noFill/>
        </p:spPr>
        <p:txBody>
          <a:bodyPr wrap="square" rtlCol="0">
            <a:spAutoFit/>
          </a:bodyPr>
          <a:lstStyle/>
          <a:p>
            <a:r>
              <a:rPr lang="cy-GB" dirty="0">
                <a:solidFill>
                  <a:schemeClr val="accent1"/>
                </a:solidFill>
              </a:rPr>
              <a:t>y − ŷ</a:t>
            </a:r>
            <a:endParaRPr lang="en-SE" dirty="0">
              <a:solidFill>
                <a:schemeClr val="accent1"/>
              </a:solidFill>
            </a:endParaRPr>
          </a:p>
        </p:txBody>
      </p:sp>
      <p:sp>
        <p:nvSpPr>
          <p:cNvPr id="28" name="textruta 27">
            <a:extLst>
              <a:ext uri="{FF2B5EF4-FFF2-40B4-BE49-F238E27FC236}">
                <a16:creationId xmlns:a16="http://schemas.microsoft.com/office/drawing/2014/main" id="{68D04847-0164-5028-8E71-28DD04741159}"/>
              </a:ext>
            </a:extLst>
          </p:cNvPr>
          <p:cNvSpPr txBox="1"/>
          <p:nvPr/>
        </p:nvSpPr>
        <p:spPr>
          <a:xfrm>
            <a:off x="3498445" y="3053816"/>
            <a:ext cx="859414" cy="369332"/>
          </a:xfrm>
          <a:prstGeom prst="rect">
            <a:avLst/>
          </a:prstGeom>
          <a:noFill/>
        </p:spPr>
        <p:txBody>
          <a:bodyPr wrap="square" rtlCol="0">
            <a:spAutoFit/>
          </a:bodyPr>
          <a:lstStyle/>
          <a:p>
            <a:r>
              <a:rPr lang="cy-GB" dirty="0">
                <a:solidFill>
                  <a:schemeClr val="bg1"/>
                </a:solidFill>
              </a:rPr>
              <a:t>y = 1 </a:t>
            </a:r>
            <a:endParaRPr lang="en-SE" dirty="0">
              <a:solidFill>
                <a:schemeClr val="bg1"/>
              </a:solidFill>
            </a:endParaRPr>
          </a:p>
        </p:txBody>
      </p:sp>
      <p:sp>
        <p:nvSpPr>
          <p:cNvPr id="29" name="textruta 28">
            <a:extLst>
              <a:ext uri="{FF2B5EF4-FFF2-40B4-BE49-F238E27FC236}">
                <a16:creationId xmlns:a16="http://schemas.microsoft.com/office/drawing/2014/main" id="{949A6BF0-9F32-BA54-D037-A4967A44F97C}"/>
              </a:ext>
            </a:extLst>
          </p:cNvPr>
          <p:cNvSpPr txBox="1"/>
          <p:nvPr/>
        </p:nvSpPr>
        <p:spPr>
          <a:xfrm>
            <a:off x="3492182" y="4439789"/>
            <a:ext cx="1088418" cy="369332"/>
          </a:xfrm>
          <a:prstGeom prst="rect">
            <a:avLst/>
          </a:prstGeom>
          <a:noFill/>
        </p:spPr>
        <p:txBody>
          <a:bodyPr wrap="square" rtlCol="0">
            <a:spAutoFit/>
          </a:bodyPr>
          <a:lstStyle/>
          <a:p>
            <a:r>
              <a:rPr lang="cy-GB" dirty="0">
                <a:solidFill>
                  <a:schemeClr val="accent2"/>
                </a:solidFill>
              </a:rPr>
              <a:t>ŷ = 0.62</a:t>
            </a:r>
            <a:endParaRPr lang="en-SE" dirty="0">
              <a:solidFill>
                <a:schemeClr val="accent2"/>
              </a:solidFill>
            </a:endParaRPr>
          </a:p>
        </p:txBody>
      </p:sp>
    </p:spTree>
    <p:extLst>
      <p:ext uri="{BB962C8B-B14F-4D97-AF65-F5344CB8AC3E}">
        <p14:creationId xmlns:p14="http://schemas.microsoft.com/office/powerpoint/2010/main" val="18345329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7CE60-9458-00A7-5B19-B233DD5687B1}"/>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7B7AEE79-66C5-7F90-49B2-CD9C1EDE7716}"/>
              </a:ext>
            </a:extLst>
          </p:cNvPr>
          <p:cNvSpPr txBox="1"/>
          <p:nvPr/>
        </p:nvSpPr>
        <p:spPr>
          <a:xfrm>
            <a:off x="4701894" y="122735"/>
            <a:ext cx="2788264" cy="830997"/>
          </a:xfrm>
          <a:prstGeom prst="rect">
            <a:avLst/>
          </a:prstGeom>
          <a:noFill/>
        </p:spPr>
        <p:txBody>
          <a:bodyPr wrap="none" rtlCol="0">
            <a:spAutoFit/>
          </a:bodyPr>
          <a:lstStyle/>
          <a:p>
            <a:pPr algn="ctr"/>
            <a:r>
              <a:rPr lang="sv-SE" sz="4800" noProof="0" dirty="0" err="1">
                <a:solidFill>
                  <a:schemeClr val="bg1"/>
                </a:solidFill>
              </a:rPr>
              <a:t>Optimizer</a:t>
            </a:r>
            <a:endParaRPr lang="sv-SE" sz="4800" noProof="0" dirty="0">
              <a:solidFill>
                <a:schemeClr val="bg1"/>
              </a:solidFill>
            </a:endParaRPr>
          </a:p>
        </p:txBody>
      </p:sp>
      <p:grpSp>
        <p:nvGrpSpPr>
          <p:cNvPr id="13" name="Grupp 12">
            <a:extLst>
              <a:ext uri="{FF2B5EF4-FFF2-40B4-BE49-F238E27FC236}">
                <a16:creationId xmlns:a16="http://schemas.microsoft.com/office/drawing/2014/main" id="{4F885226-9E63-CF37-6668-0B04A44036F9}"/>
              </a:ext>
            </a:extLst>
          </p:cNvPr>
          <p:cNvGrpSpPr/>
          <p:nvPr/>
        </p:nvGrpSpPr>
        <p:grpSpPr>
          <a:xfrm>
            <a:off x="1820669" y="1443668"/>
            <a:ext cx="8550661" cy="2479288"/>
            <a:chOff x="794675" y="1745672"/>
            <a:chExt cx="8550661" cy="2479288"/>
          </a:xfrm>
        </p:grpSpPr>
        <p:sp>
          <p:nvSpPr>
            <p:cNvPr id="3" name="Rektangel: rundade hörn 2">
              <a:extLst>
                <a:ext uri="{FF2B5EF4-FFF2-40B4-BE49-F238E27FC236}">
                  <a16:creationId xmlns:a16="http://schemas.microsoft.com/office/drawing/2014/main" id="{5E106599-D821-CA73-D9EE-607800D1A79F}"/>
                </a:ext>
              </a:extLst>
            </p:cNvPr>
            <p:cNvSpPr/>
            <p:nvPr/>
          </p:nvSpPr>
          <p:spPr>
            <a:xfrm>
              <a:off x="794675" y="1745672"/>
              <a:ext cx="3416599" cy="724419"/>
            </a:xfrm>
            <a:prstGeom prst="round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Loss </a:t>
              </a:r>
              <a:r>
                <a:rPr lang="en-US" dirty="0" err="1"/>
                <a:t>beräknas</a:t>
              </a:r>
              <a:endParaRPr lang="en-SE" dirty="0"/>
            </a:p>
          </p:txBody>
        </p:sp>
        <p:sp>
          <p:nvSpPr>
            <p:cNvPr id="4" name="Rektangel: rundade hörn 3">
              <a:extLst>
                <a:ext uri="{FF2B5EF4-FFF2-40B4-BE49-F238E27FC236}">
                  <a16:creationId xmlns:a16="http://schemas.microsoft.com/office/drawing/2014/main" id="{CFD87EA6-D2F4-AA7C-A577-E69EBE812D1F}"/>
                </a:ext>
              </a:extLst>
            </p:cNvPr>
            <p:cNvSpPr/>
            <p:nvPr/>
          </p:nvSpPr>
          <p:spPr>
            <a:xfrm>
              <a:off x="3361706" y="2633041"/>
              <a:ext cx="3416599" cy="724419"/>
            </a:xfrm>
            <a:prstGeom prst="round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Optimizer </a:t>
              </a:r>
              <a:r>
                <a:rPr lang="en-US" dirty="0" err="1"/>
                <a:t>justerar</a:t>
              </a:r>
              <a:r>
                <a:rPr lang="en-US" dirty="0"/>
                <a:t> </a:t>
              </a:r>
              <a:r>
                <a:rPr lang="en-US" dirty="0" err="1"/>
                <a:t>parametrar</a:t>
              </a:r>
              <a:endParaRPr lang="en-SE" dirty="0"/>
            </a:p>
          </p:txBody>
        </p:sp>
        <p:sp>
          <p:nvSpPr>
            <p:cNvPr id="6" name="Rektangel: rundade hörn 5">
              <a:extLst>
                <a:ext uri="{FF2B5EF4-FFF2-40B4-BE49-F238E27FC236}">
                  <a16:creationId xmlns:a16="http://schemas.microsoft.com/office/drawing/2014/main" id="{67A14123-64A4-DFB0-C26D-05DB48A76B45}"/>
                </a:ext>
              </a:extLst>
            </p:cNvPr>
            <p:cNvSpPr/>
            <p:nvPr/>
          </p:nvSpPr>
          <p:spPr>
            <a:xfrm>
              <a:off x="5928737" y="3500541"/>
              <a:ext cx="3416599" cy="724419"/>
            </a:xfrm>
            <a:prstGeom prst="round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Modellen</a:t>
              </a:r>
              <a:r>
                <a:rPr lang="en-US" dirty="0"/>
                <a:t> </a:t>
              </a:r>
              <a:r>
                <a:rPr lang="en-US" dirty="0" err="1"/>
                <a:t>försöker</a:t>
              </a:r>
              <a:r>
                <a:rPr lang="en-US" dirty="0"/>
                <a:t> </a:t>
              </a:r>
              <a:r>
                <a:rPr lang="en-US" dirty="0" err="1"/>
                <a:t>bli</a:t>
              </a:r>
              <a:r>
                <a:rPr lang="en-US" dirty="0"/>
                <a:t> </a:t>
              </a:r>
              <a:r>
                <a:rPr lang="en-US" dirty="0" err="1"/>
                <a:t>bättre</a:t>
              </a:r>
              <a:endParaRPr lang="en-SE" dirty="0"/>
            </a:p>
          </p:txBody>
        </p:sp>
        <p:sp>
          <p:nvSpPr>
            <p:cNvPr id="11" name="Pil: böjd 10">
              <a:extLst>
                <a:ext uri="{FF2B5EF4-FFF2-40B4-BE49-F238E27FC236}">
                  <a16:creationId xmlns:a16="http://schemas.microsoft.com/office/drawing/2014/main" id="{534B30D8-B704-4363-A5C1-A6CDD1D2AC07}"/>
                </a:ext>
              </a:extLst>
            </p:cNvPr>
            <p:cNvSpPr/>
            <p:nvPr/>
          </p:nvSpPr>
          <p:spPr>
            <a:xfrm rot="5400000">
              <a:off x="4173578" y="2104725"/>
              <a:ext cx="570451" cy="486181"/>
            </a:xfrm>
            <a:prstGeom prst="ben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solidFill>
                  <a:schemeClr val="tx1"/>
                </a:solidFill>
              </a:endParaRPr>
            </a:p>
          </p:txBody>
        </p:sp>
        <p:sp>
          <p:nvSpPr>
            <p:cNvPr id="12" name="Pil: böjd 11">
              <a:extLst>
                <a:ext uri="{FF2B5EF4-FFF2-40B4-BE49-F238E27FC236}">
                  <a16:creationId xmlns:a16="http://schemas.microsoft.com/office/drawing/2014/main" id="{C3FA3765-58BF-17D4-7860-D22FF0719DD3}"/>
                </a:ext>
              </a:extLst>
            </p:cNvPr>
            <p:cNvSpPr/>
            <p:nvPr/>
          </p:nvSpPr>
          <p:spPr>
            <a:xfrm rot="5400000">
              <a:off x="6736170" y="2972225"/>
              <a:ext cx="570451" cy="486181"/>
            </a:xfrm>
            <a:prstGeom prst="ben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solidFill>
                  <a:schemeClr val="tx1"/>
                </a:solidFill>
              </a:endParaRPr>
            </a:p>
          </p:txBody>
        </p:sp>
      </p:grpSp>
      <p:sp>
        <p:nvSpPr>
          <p:cNvPr id="15" name="textruta 14">
            <a:extLst>
              <a:ext uri="{FF2B5EF4-FFF2-40B4-BE49-F238E27FC236}">
                <a16:creationId xmlns:a16="http://schemas.microsoft.com/office/drawing/2014/main" id="{B242EA28-F861-3E06-2164-73AC3820BB1A}"/>
              </a:ext>
            </a:extLst>
          </p:cNvPr>
          <p:cNvSpPr txBox="1"/>
          <p:nvPr/>
        </p:nvSpPr>
        <p:spPr>
          <a:xfrm>
            <a:off x="1192900" y="3802545"/>
            <a:ext cx="5428409" cy="2246769"/>
          </a:xfrm>
          <a:prstGeom prst="rect">
            <a:avLst/>
          </a:prstGeom>
          <a:noFill/>
        </p:spPr>
        <p:txBody>
          <a:bodyPr wrap="none" rtlCol="0">
            <a:spAutoFit/>
          </a:bodyPr>
          <a:lstStyle/>
          <a:p>
            <a:pPr marL="457200" indent="-457200">
              <a:buFont typeface="Arial" panose="020B0604020202020204" pitchFamily="34" charset="0"/>
              <a:buChar char="•"/>
            </a:pPr>
            <a:r>
              <a:rPr lang="en-US" sz="2800" dirty="0" err="1">
                <a:solidFill>
                  <a:schemeClr val="bg1"/>
                </a:solidFill>
              </a:rPr>
              <a:t>Uppdaterar</a:t>
            </a:r>
            <a:r>
              <a:rPr lang="en-US" sz="2800" dirty="0">
                <a:solidFill>
                  <a:schemeClr val="bg1"/>
                </a:solidFill>
              </a:rPr>
              <a:t> </a:t>
            </a:r>
            <a:r>
              <a:rPr lang="en-US" sz="2800" dirty="0" err="1">
                <a:solidFill>
                  <a:schemeClr val="bg1"/>
                </a:solidFill>
              </a:rPr>
              <a:t>vikter</a:t>
            </a:r>
            <a:r>
              <a:rPr lang="en-US" sz="2800" dirty="0">
                <a:solidFill>
                  <a:schemeClr val="bg1"/>
                </a:solidFill>
              </a:rPr>
              <a:t> och bias</a:t>
            </a:r>
          </a:p>
          <a:p>
            <a:pPr marL="457200" indent="-457200">
              <a:buFont typeface="Arial" panose="020B0604020202020204" pitchFamily="34" charset="0"/>
              <a:buChar char="•"/>
            </a:pPr>
            <a:endParaRPr lang="en-US" sz="2800" noProof="0" dirty="0">
              <a:solidFill>
                <a:schemeClr val="bg1"/>
              </a:solidFill>
            </a:endParaRPr>
          </a:p>
          <a:p>
            <a:pPr marL="457200" indent="-457200">
              <a:buFont typeface="Arial" panose="020B0604020202020204" pitchFamily="34" charset="0"/>
              <a:buChar char="•"/>
            </a:pPr>
            <a:r>
              <a:rPr lang="en-US" sz="2800" dirty="0" err="1">
                <a:solidFill>
                  <a:schemeClr val="bg1"/>
                </a:solidFill>
              </a:rPr>
              <a:t>Försöker</a:t>
            </a:r>
            <a:r>
              <a:rPr lang="en-US" sz="2800" dirty="0">
                <a:solidFill>
                  <a:schemeClr val="bg1"/>
                </a:solidFill>
              </a:rPr>
              <a:t> </a:t>
            </a:r>
            <a:r>
              <a:rPr lang="en-US" sz="2800" dirty="0" err="1">
                <a:solidFill>
                  <a:schemeClr val="bg1"/>
                </a:solidFill>
              </a:rPr>
              <a:t>minska</a:t>
            </a:r>
            <a:r>
              <a:rPr lang="en-US" sz="2800" dirty="0">
                <a:solidFill>
                  <a:schemeClr val="bg1"/>
                </a:solidFill>
              </a:rPr>
              <a:t> loss</a:t>
            </a:r>
          </a:p>
          <a:p>
            <a:pPr marL="457200" indent="-457200">
              <a:buFont typeface="Arial" panose="020B0604020202020204" pitchFamily="34" charset="0"/>
              <a:buChar char="•"/>
            </a:pPr>
            <a:endParaRPr lang="en-US" sz="2800" noProof="0" dirty="0">
              <a:solidFill>
                <a:schemeClr val="bg1"/>
              </a:solidFill>
            </a:endParaRPr>
          </a:p>
          <a:p>
            <a:pPr marL="457200" indent="-457200">
              <a:buFont typeface="Arial" panose="020B0604020202020204" pitchFamily="34" charset="0"/>
              <a:buChar char="•"/>
            </a:pPr>
            <a:r>
              <a:rPr lang="en-US" sz="2800" dirty="0">
                <a:solidFill>
                  <a:schemeClr val="bg1"/>
                </a:solidFill>
              </a:rPr>
              <a:t>Adam </a:t>
            </a:r>
            <a:r>
              <a:rPr lang="en-US" sz="2800" dirty="0" err="1">
                <a:solidFill>
                  <a:schemeClr val="bg1"/>
                </a:solidFill>
              </a:rPr>
              <a:t>är</a:t>
            </a:r>
            <a:r>
              <a:rPr lang="en-US" sz="2800" dirty="0">
                <a:solidFill>
                  <a:schemeClr val="bg1"/>
                </a:solidFill>
              </a:rPr>
              <a:t> </a:t>
            </a:r>
            <a:r>
              <a:rPr lang="en-US" sz="2800" dirty="0" err="1">
                <a:solidFill>
                  <a:schemeClr val="bg1"/>
                </a:solidFill>
              </a:rPr>
              <a:t>ett</a:t>
            </a:r>
            <a:r>
              <a:rPr lang="en-US" sz="2800" dirty="0">
                <a:solidFill>
                  <a:schemeClr val="bg1"/>
                </a:solidFill>
              </a:rPr>
              <a:t> </a:t>
            </a:r>
            <a:r>
              <a:rPr lang="en-US" sz="2800" dirty="0" err="1">
                <a:solidFill>
                  <a:schemeClr val="bg1"/>
                </a:solidFill>
              </a:rPr>
              <a:t>vanligt</a:t>
            </a:r>
            <a:r>
              <a:rPr lang="en-US" sz="2800" dirty="0">
                <a:solidFill>
                  <a:schemeClr val="bg1"/>
                </a:solidFill>
              </a:rPr>
              <a:t> </a:t>
            </a:r>
            <a:r>
              <a:rPr lang="en-US" sz="2800" dirty="0" err="1">
                <a:solidFill>
                  <a:schemeClr val="bg1"/>
                </a:solidFill>
              </a:rPr>
              <a:t>standardval</a:t>
            </a:r>
            <a:endParaRPr lang="cy-GB" sz="2800" noProof="0" dirty="0">
              <a:solidFill>
                <a:schemeClr val="bg1"/>
              </a:solidFill>
            </a:endParaRPr>
          </a:p>
        </p:txBody>
      </p:sp>
    </p:spTree>
    <p:extLst>
      <p:ext uri="{BB962C8B-B14F-4D97-AF65-F5344CB8AC3E}">
        <p14:creationId xmlns:p14="http://schemas.microsoft.com/office/powerpoint/2010/main" val="37749971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A657B-052F-84C8-4E1B-2D0C24767561}"/>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49F9D86A-9173-7065-229A-3A76D7B85ED3}"/>
              </a:ext>
            </a:extLst>
          </p:cNvPr>
          <p:cNvSpPr txBox="1"/>
          <p:nvPr/>
        </p:nvSpPr>
        <p:spPr>
          <a:xfrm>
            <a:off x="4106542" y="122735"/>
            <a:ext cx="3978974" cy="830997"/>
          </a:xfrm>
          <a:prstGeom prst="rect">
            <a:avLst/>
          </a:prstGeom>
          <a:noFill/>
        </p:spPr>
        <p:txBody>
          <a:bodyPr wrap="none" rtlCol="0">
            <a:spAutoFit/>
          </a:bodyPr>
          <a:lstStyle/>
          <a:p>
            <a:pPr algn="ctr"/>
            <a:r>
              <a:rPr lang="sv-SE" sz="4800" noProof="0" dirty="0">
                <a:solidFill>
                  <a:schemeClr val="bg1"/>
                </a:solidFill>
              </a:rPr>
              <a:t>Regularisering</a:t>
            </a:r>
          </a:p>
        </p:txBody>
      </p:sp>
      <p:sp>
        <p:nvSpPr>
          <p:cNvPr id="15" name="textruta 14">
            <a:extLst>
              <a:ext uri="{FF2B5EF4-FFF2-40B4-BE49-F238E27FC236}">
                <a16:creationId xmlns:a16="http://schemas.microsoft.com/office/drawing/2014/main" id="{9EAC663E-4809-FCE1-CB8E-A90F789F07F2}"/>
              </a:ext>
            </a:extLst>
          </p:cNvPr>
          <p:cNvSpPr txBox="1"/>
          <p:nvPr/>
        </p:nvSpPr>
        <p:spPr>
          <a:xfrm>
            <a:off x="1763352" y="2426750"/>
            <a:ext cx="6535828" cy="3108543"/>
          </a:xfrm>
          <a:prstGeom prst="rect">
            <a:avLst/>
          </a:prstGeom>
          <a:noFill/>
        </p:spPr>
        <p:txBody>
          <a:bodyPr wrap="none" rtlCol="0">
            <a:spAutoFit/>
          </a:bodyPr>
          <a:lstStyle/>
          <a:p>
            <a:pPr marL="457200" indent="-457200">
              <a:buFont typeface="Arial" panose="020B0604020202020204" pitchFamily="34" charset="0"/>
              <a:buChar char="•"/>
            </a:pPr>
            <a:r>
              <a:rPr lang="en-US" sz="2800" dirty="0" err="1">
                <a:solidFill>
                  <a:schemeClr val="bg1"/>
                </a:solidFill>
              </a:rPr>
              <a:t>Större</a:t>
            </a:r>
            <a:r>
              <a:rPr lang="en-US" sz="2800" dirty="0">
                <a:solidFill>
                  <a:schemeClr val="bg1"/>
                </a:solidFill>
              </a:rPr>
              <a:t> </a:t>
            </a:r>
            <a:r>
              <a:rPr lang="en-US" sz="2800" dirty="0" err="1">
                <a:solidFill>
                  <a:schemeClr val="bg1"/>
                </a:solidFill>
              </a:rPr>
              <a:t>flexibilitet</a:t>
            </a:r>
            <a:r>
              <a:rPr lang="en-US" sz="2800" dirty="0">
                <a:solidFill>
                  <a:schemeClr val="bg1"/>
                </a:solidFill>
              </a:rPr>
              <a:t> </a:t>
            </a:r>
            <a:r>
              <a:rPr lang="en-US" sz="2800" dirty="0" err="1">
                <a:solidFill>
                  <a:schemeClr val="bg1"/>
                </a:solidFill>
              </a:rPr>
              <a:t>kan</a:t>
            </a:r>
            <a:r>
              <a:rPr lang="en-US" sz="2800" dirty="0">
                <a:solidFill>
                  <a:schemeClr val="bg1"/>
                </a:solidFill>
              </a:rPr>
              <a:t> </a:t>
            </a:r>
            <a:r>
              <a:rPr lang="en-US" sz="2800" dirty="0" err="1">
                <a:solidFill>
                  <a:schemeClr val="bg1"/>
                </a:solidFill>
              </a:rPr>
              <a:t>ge</a:t>
            </a:r>
            <a:r>
              <a:rPr lang="en-US" sz="2800" dirty="0">
                <a:solidFill>
                  <a:schemeClr val="bg1"/>
                </a:solidFill>
              </a:rPr>
              <a:t> overfitting</a:t>
            </a:r>
          </a:p>
          <a:p>
            <a:pPr marL="457200" indent="-457200">
              <a:buFont typeface="Arial" panose="020B0604020202020204" pitchFamily="34" charset="0"/>
              <a:buChar char="•"/>
            </a:pPr>
            <a:endParaRPr lang="en-US" sz="2800" noProof="0" dirty="0">
              <a:solidFill>
                <a:schemeClr val="bg1"/>
              </a:solidFill>
            </a:endParaRPr>
          </a:p>
          <a:p>
            <a:pPr marL="457200" indent="-457200">
              <a:buFont typeface="Arial" panose="020B0604020202020204" pitchFamily="34" charset="0"/>
              <a:buChar char="•"/>
            </a:pPr>
            <a:r>
              <a:rPr lang="en-US" sz="2800" dirty="0">
                <a:solidFill>
                  <a:schemeClr val="bg1"/>
                </a:solidFill>
              </a:rPr>
              <a:t>Det </a:t>
            </a:r>
            <a:r>
              <a:rPr lang="en-US" sz="2800" dirty="0" err="1">
                <a:solidFill>
                  <a:schemeClr val="bg1"/>
                </a:solidFill>
              </a:rPr>
              <a:t>finns</a:t>
            </a:r>
            <a:r>
              <a:rPr lang="en-US" sz="2800" dirty="0">
                <a:solidFill>
                  <a:schemeClr val="bg1"/>
                </a:solidFill>
              </a:rPr>
              <a:t> </a:t>
            </a:r>
            <a:r>
              <a:rPr lang="en-US" sz="2800" dirty="0" err="1">
                <a:solidFill>
                  <a:schemeClr val="bg1"/>
                </a:solidFill>
              </a:rPr>
              <a:t>tekniker</a:t>
            </a:r>
            <a:r>
              <a:rPr lang="en-US" sz="2800" dirty="0">
                <a:solidFill>
                  <a:schemeClr val="bg1"/>
                </a:solidFill>
              </a:rPr>
              <a:t> för </a:t>
            </a:r>
            <a:r>
              <a:rPr lang="en-US" sz="2800" dirty="0" err="1">
                <a:solidFill>
                  <a:schemeClr val="bg1"/>
                </a:solidFill>
              </a:rPr>
              <a:t>att</a:t>
            </a:r>
            <a:r>
              <a:rPr lang="en-US" sz="2800" dirty="0">
                <a:solidFill>
                  <a:schemeClr val="bg1"/>
                </a:solidFill>
              </a:rPr>
              <a:t> </a:t>
            </a:r>
            <a:r>
              <a:rPr lang="en-US" sz="2800" dirty="0" err="1">
                <a:solidFill>
                  <a:schemeClr val="bg1"/>
                </a:solidFill>
              </a:rPr>
              <a:t>motverka</a:t>
            </a:r>
            <a:r>
              <a:rPr lang="en-US" sz="2800" dirty="0">
                <a:solidFill>
                  <a:schemeClr val="bg1"/>
                </a:solidFill>
              </a:rPr>
              <a:t> det</a:t>
            </a:r>
          </a:p>
          <a:p>
            <a:pPr marL="457200" indent="-457200">
              <a:buFont typeface="Arial" panose="020B0604020202020204" pitchFamily="34" charset="0"/>
              <a:buChar char="•"/>
            </a:pPr>
            <a:endParaRPr lang="en-US" sz="2800" dirty="0">
              <a:solidFill>
                <a:schemeClr val="bg1"/>
              </a:solidFill>
            </a:endParaRPr>
          </a:p>
          <a:p>
            <a:pPr marL="457200" indent="-457200">
              <a:buFont typeface="Arial" panose="020B0604020202020204" pitchFamily="34" charset="0"/>
              <a:buChar char="•"/>
            </a:pPr>
            <a:r>
              <a:rPr lang="en-US" sz="2800" noProof="0" dirty="0" err="1">
                <a:solidFill>
                  <a:schemeClr val="bg1"/>
                </a:solidFill>
              </a:rPr>
              <a:t>Exempel</a:t>
            </a:r>
            <a:r>
              <a:rPr lang="en-US" sz="2800" noProof="0" dirty="0">
                <a:solidFill>
                  <a:schemeClr val="bg1"/>
                </a:solidFill>
              </a:rPr>
              <a:t>: dropout, L2, early stopping</a:t>
            </a:r>
          </a:p>
          <a:p>
            <a:pPr marL="457200" indent="-457200">
              <a:buFont typeface="Arial" panose="020B0604020202020204" pitchFamily="34" charset="0"/>
              <a:buChar char="•"/>
            </a:pPr>
            <a:endParaRPr lang="en-US" sz="2800" dirty="0">
              <a:solidFill>
                <a:schemeClr val="bg1"/>
              </a:solidFill>
            </a:endParaRPr>
          </a:p>
          <a:p>
            <a:pPr marL="457200" indent="-457200">
              <a:buFont typeface="Arial" panose="020B0604020202020204" pitchFamily="34" charset="0"/>
              <a:buChar char="•"/>
            </a:pPr>
            <a:r>
              <a:rPr lang="en-US" sz="2800" noProof="0" dirty="0">
                <a:solidFill>
                  <a:schemeClr val="bg1"/>
                </a:solidFill>
              </a:rPr>
              <a:t>Mer om </a:t>
            </a:r>
            <a:r>
              <a:rPr lang="en-US" sz="2800" noProof="0" dirty="0" err="1">
                <a:solidFill>
                  <a:schemeClr val="bg1"/>
                </a:solidFill>
              </a:rPr>
              <a:t>detta</a:t>
            </a:r>
            <a:r>
              <a:rPr lang="en-US" sz="2800" noProof="0" dirty="0">
                <a:solidFill>
                  <a:schemeClr val="bg1"/>
                </a:solidFill>
              </a:rPr>
              <a:t> </a:t>
            </a:r>
            <a:r>
              <a:rPr lang="en-US" sz="2800" noProof="0" dirty="0" err="1">
                <a:solidFill>
                  <a:schemeClr val="bg1"/>
                </a:solidFill>
              </a:rPr>
              <a:t>senare</a:t>
            </a:r>
            <a:endParaRPr lang="cy-GB" sz="2800" noProof="0" dirty="0">
              <a:solidFill>
                <a:schemeClr val="bg1"/>
              </a:solidFill>
            </a:endParaRPr>
          </a:p>
        </p:txBody>
      </p:sp>
    </p:spTree>
    <p:extLst>
      <p:ext uri="{BB962C8B-B14F-4D97-AF65-F5344CB8AC3E}">
        <p14:creationId xmlns:p14="http://schemas.microsoft.com/office/powerpoint/2010/main" val="3161623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F430-388F-3166-538D-778440B23041}"/>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E924C65F-4294-5E15-AC57-1A020C4E0B4C}"/>
              </a:ext>
            </a:extLst>
          </p:cNvPr>
          <p:cNvSpPr txBox="1"/>
          <p:nvPr/>
        </p:nvSpPr>
        <p:spPr>
          <a:xfrm>
            <a:off x="947154" y="2367171"/>
            <a:ext cx="7900111" cy="2123658"/>
          </a:xfrm>
          <a:prstGeom prst="rect">
            <a:avLst/>
          </a:prstGeom>
          <a:noFill/>
        </p:spPr>
        <p:txBody>
          <a:bodyPr wrap="none" rtlCol="0">
            <a:spAutoFit/>
          </a:bodyPr>
          <a:lstStyle/>
          <a:p>
            <a:r>
              <a:rPr lang="en-US" sz="6600" dirty="0" err="1">
                <a:solidFill>
                  <a:schemeClr val="bg1"/>
                </a:solidFill>
              </a:rPr>
              <a:t>Aktiveringsfunktioner</a:t>
            </a:r>
            <a:endParaRPr lang="en-US" sz="6600" dirty="0">
              <a:solidFill>
                <a:schemeClr val="bg1"/>
              </a:solidFill>
            </a:endParaRPr>
          </a:p>
          <a:p>
            <a:r>
              <a:rPr lang="en-US" sz="6600" dirty="0">
                <a:solidFill>
                  <a:schemeClr val="bg1"/>
                </a:solidFill>
              </a:rPr>
              <a:t>och output-lager</a:t>
            </a:r>
            <a:endParaRPr lang="en-SE" sz="6600" dirty="0">
              <a:solidFill>
                <a:schemeClr val="bg1"/>
              </a:solidFill>
            </a:endParaRPr>
          </a:p>
        </p:txBody>
      </p:sp>
      <p:sp>
        <p:nvSpPr>
          <p:cNvPr id="3" name="textruta 2">
            <a:extLst>
              <a:ext uri="{FF2B5EF4-FFF2-40B4-BE49-F238E27FC236}">
                <a16:creationId xmlns:a16="http://schemas.microsoft.com/office/drawing/2014/main" id="{C3A279E9-9DFB-5B60-401D-E48D3F059641}"/>
              </a:ext>
            </a:extLst>
          </p:cNvPr>
          <p:cNvSpPr txBox="1"/>
          <p:nvPr/>
        </p:nvSpPr>
        <p:spPr>
          <a:xfrm>
            <a:off x="947154" y="5461923"/>
            <a:ext cx="2193229" cy="676532"/>
          </a:xfrm>
          <a:prstGeom prst="rect">
            <a:avLst/>
          </a:prstGeom>
          <a:noFill/>
        </p:spPr>
        <p:txBody>
          <a:bodyPr wrap="none" rtlCol="0">
            <a:spAutoFit/>
          </a:bodyPr>
          <a:lstStyle/>
          <a:p>
            <a:pPr>
              <a:lnSpc>
                <a:spcPct val="150000"/>
              </a:lnSpc>
            </a:pPr>
            <a:r>
              <a:rPr lang="en-GB" sz="2800" dirty="0">
                <a:solidFill>
                  <a:schemeClr val="bg1"/>
                </a:solidFill>
              </a:rPr>
              <a:t>Joakim Lindh</a:t>
            </a:r>
          </a:p>
        </p:txBody>
      </p:sp>
    </p:spTree>
    <p:extLst>
      <p:ext uri="{BB962C8B-B14F-4D97-AF65-F5344CB8AC3E}">
        <p14:creationId xmlns:p14="http://schemas.microsoft.com/office/powerpoint/2010/main" val="1987929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7814</TotalTime>
  <Words>2159</Words>
  <Application>Microsoft Office PowerPoint</Application>
  <PresentationFormat>Bredbild</PresentationFormat>
  <Paragraphs>162</Paragraphs>
  <Slides>12</Slides>
  <Notes>12</Notes>
  <HiddenSlides>0</HiddenSlides>
  <MMClips>0</MMClips>
  <ScaleCrop>false</ScaleCrop>
  <HeadingPairs>
    <vt:vector size="6" baseType="variant">
      <vt:variant>
        <vt:lpstr>Använt teckensnitt</vt:lpstr>
      </vt:variant>
      <vt:variant>
        <vt:i4>4</vt:i4>
      </vt:variant>
      <vt:variant>
        <vt:lpstr>Tema</vt:lpstr>
      </vt:variant>
      <vt:variant>
        <vt:i4>1</vt:i4>
      </vt:variant>
      <vt:variant>
        <vt:lpstr>Bildrubriker</vt:lpstr>
      </vt:variant>
      <vt:variant>
        <vt:i4>12</vt:i4>
      </vt:variant>
    </vt:vector>
  </HeadingPairs>
  <TitlesOfParts>
    <vt:vector size="17" baseType="lpstr">
      <vt:lpstr>Aptos</vt:lpstr>
      <vt:lpstr>Aptos Display</vt:lpstr>
      <vt:lpstr>Arial</vt:lpstr>
      <vt:lpstr>Cambria Math</vt: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Joakim Lindh</dc:creator>
  <cp:lastModifiedBy>Joakim Lindh</cp:lastModifiedBy>
  <cp:revision>28</cp:revision>
  <dcterms:created xsi:type="dcterms:W3CDTF">2025-12-15T13:03:29Z</dcterms:created>
  <dcterms:modified xsi:type="dcterms:W3CDTF">2026-04-20T13:30:18Z</dcterms:modified>
</cp:coreProperties>
</file>