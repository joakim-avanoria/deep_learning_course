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60" r:id="rId3"/>
    <p:sldId id="274" r:id="rId4"/>
    <p:sldId id="275" r:id="rId5"/>
    <p:sldId id="276" r:id="rId6"/>
    <p:sldId id="277" r:id="rId7"/>
    <p:sldId id="278" r:id="rId8"/>
    <p:sldId id="279" r:id="rId9"/>
    <p:sldId id="280" r:id="rId10"/>
    <p:sldId id="281" r:id="rId11"/>
    <p:sldId id="282" r:id="rId12"/>
    <p:sldId id="283" r:id="rId13"/>
    <p:sldId id="284" r:id="rId14"/>
    <p:sldId id="273" r:id="rId15"/>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3041"/>
    <a:srgbClr val="07425D"/>
    <a:srgbClr val="161E24"/>
    <a:srgbClr val="3FE7FB"/>
    <a:srgbClr val="8996FE"/>
    <a:srgbClr val="F833FE"/>
    <a:srgbClr val="10161A"/>
    <a:srgbClr val="131A1F"/>
    <a:srgbClr val="0B0D11"/>
    <a:srgbClr val="0D11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C89EF96-8CEA-46FF-86C4-4CE0E7609802}" styleName="Ljust format 3 - Dekorfärg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444" autoAdjust="0"/>
  </p:normalViewPr>
  <p:slideViewPr>
    <p:cSldViewPr snapToGrid="0">
      <p:cViewPr varScale="1">
        <p:scale>
          <a:sx n="115" d="100"/>
          <a:sy n="115" d="100"/>
        </p:scale>
        <p:origin x="2010" y="10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BE9729-3BF4-429A-9051-BF557729B2C9}" type="datetimeFigureOut">
              <a:rPr lang="en-SE" smtClean="0"/>
              <a:t>2026-04-10</a:t>
            </a:fld>
            <a:endParaRPr lang="en-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F15893-0DF5-4007-BFB5-41D74726C9CD}" type="slidenum">
              <a:rPr lang="en-SE" smtClean="0"/>
              <a:t>‹#›</a:t>
            </a:fld>
            <a:endParaRPr lang="en-SE"/>
          </a:p>
        </p:txBody>
      </p:sp>
    </p:spTree>
    <p:extLst>
      <p:ext uri="{BB962C8B-B14F-4D97-AF65-F5344CB8AC3E}">
        <p14:creationId xmlns:p14="http://schemas.microsoft.com/office/powerpoint/2010/main" val="4042555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4526B-5B16-5102-F266-491796998C5A}"/>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60326879-3DC9-E673-4A3F-F5B3FB76242B}"/>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22460A83-BAB9-21BA-EAA4-080FF66212D2}"/>
              </a:ext>
            </a:extLst>
          </p:cNvPr>
          <p:cNvSpPr>
            <a:spLocks noGrp="1"/>
          </p:cNvSpPr>
          <p:nvPr>
            <p:ph type="body" idx="1"/>
          </p:nvPr>
        </p:nvSpPr>
        <p:spPr/>
        <p:txBody>
          <a:bodyPr/>
          <a:lstStyle/>
          <a:p>
            <a:r>
              <a:rPr lang="sv-SE" dirty="0"/>
              <a:t>I den här videon ska vi skapa en första karta över </a:t>
            </a:r>
            <a:r>
              <a:rPr lang="sv-SE" dirty="0" err="1"/>
              <a:t>deep</a:t>
            </a:r>
            <a:r>
              <a:rPr lang="sv-SE" dirty="0"/>
              <a:t> </a:t>
            </a:r>
            <a:r>
              <a:rPr lang="sv-SE" dirty="0" err="1"/>
              <a:t>learning</a:t>
            </a:r>
            <a:r>
              <a:rPr lang="sv-SE" dirty="0"/>
              <a:t>. Målet just nu är inte att gå längst ned i detaljerna, utan att förstå vad området är, varför det blivit så viktigt och hur det hänger ihop med </a:t>
            </a:r>
            <a:r>
              <a:rPr lang="sv-SE" dirty="0" err="1"/>
              <a:t>machine</a:t>
            </a:r>
            <a:r>
              <a:rPr lang="sv-SE" dirty="0"/>
              <a:t> </a:t>
            </a:r>
            <a:r>
              <a:rPr lang="sv-SE" dirty="0" err="1"/>
              <a:t>learning</a:t>
            </a:r>
            <a:r>
              <a:rPr lang="sv-SE" dirty="0"/>
              <a:t>.</a:t>
            </a:r>
          </a:p>
          <a:p>
            <a:r>
              <a:rPr lang="sv-SE" dirty="0"/>
              <a:t>Det är lätt att </a:t>
            </a:r>
            <a:r>
              <a:rPr lang="sv-SE" dirty="0" err="1"/>
              <a:t>deep</a:t>
            </a:r>
            <a:r>
              <a:rPr lang="sv-SE" dirty="0"/>
              <a:t> </a:t>
            </a:r>
            <a:r>
              <a:rPr lang="sv-SE" dirty="0" err="1"/>
              <a:t>learning</a:t>
            </a:r>
            <a:r>
              <a:rPr lang="sv-SE" dirty="0"/>
              <a:t> känns stort och lite mystiskt när man möter det första gången. Men om man börjar i rätt ände blir det mycket mer hanterbart. I grunden handlar det fortfarande om data, modeller, prediktioner och träning. Det som förändras är framför allt vilken typ av modeller vi använder, vad de är bra på och varför de blivit så kraftfulla.</a:t>
            </a:r>
          </a:p>
          <a:p>
            <a:r>
              <a:rPr lang="sv-SE" dirty="0"/>
              <a:t>Så tänk på den här videon som en orientering. Vi bygger upp helhetsbilden först, och sedan går vi steg för steg djupare.</a:t>
            </a:r>
          </a:p>
          <a:p>
            <a:endParaRPr lang="en-SE" dirty="0"/>
          </a:p>
        </p:txBody>
      </p:sp>
      <p:sp>
        <p:nvSpPr>
          <p:cNvPr id="4" name="Platshållare för bildnummer 3">
            <a:extLst>
              <a:ext uri="{FF2B5EF4-FFF2-40B4-BE49-F238E27FC236}">
                <a16:creationId xmlns:a16="http://schemas.microsoft.com/office/drawing/2014/main" id="{D1FE3D16-D2CA-42FB-9050-34B5431DFE8B}"/>
              </a:ext>
            </a:extLst>
          </p:cNvPr>
          <p:cNvSpPr>
            <a:spLocks noGrp="1"/>
          </p:cNvSpPr>
          <p:nvPr>
            <p:ph type="sldNum" sz="quarter" idx="5"/>
          </p:nvPr>
        </p:nvSpPr>
        <p:spPr/>
        <p:txBody>
          <a:bodyPr/>
          <a:lstStyle/>
          <a:p>
            <a:fld id="{DFF15893-0DF5-4007-BFB5-41D74726C9CD}" type="slidenum">
              <a:rPr lang="en-SE" smtClean="0"/>
              <a:t>1</a:t>
            </a:fld>
            <a:endParaRPr lang="en-SE"/>
          </a:p>
        </p:txBody>
      </p:sp>
    </p:spTree>
    <p:extLst>
      <p:ext uri="{BB962C8B-B14F-4D97-AF65-F5344CB8AC3E}">
        <p14:creationId xmlns:p14="http://schemas.microsoft.com/office/powerpoint/2010/main" val="2257201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D3A69-9386-D680-9066-122821CB5E10}"/>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4B794FC6-C3C5-76FE-D992-122EEED514B1}"/>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3304A660-538F-F1BA-27AF-A073A05B6AD8}"/>
              </a:ext>
            </a:extLst>
          </p:cNvPr>
          <p:cNvSpPr>
            <a:spLocks noGrp="1"/>
          </p:cNvSpPr>
          <p:nvPr>
            <p:ph type="body" idx="1"/>
          </p:nvPr>
        </p:nvSpPr>
        <p:spPr/>
        <p:txBody>
          <a:bodyPr/>
          <a:lstStyle/>
          <a:p>
            <a:r>
              <a:rPr lang="sv-SE" dirty="0"/>
              <a:t>En naturlig fråga är förstås varför vi behöver </a:t>
            </a:r>
            <a:r>
              <a:rPr lang="sv-SE" dirty="0" err="1"/>
              <a:t>deep</a:t>
            </a:r>
            <a:r>
              <a:rPr lang="sv-SE" dirty="0"/>
              <a:t> </a:t>
            </a:r>
            <a:r>
              <a:rPr lang="sv-SE" dirty="0" err="1"/>
              <a:t>learning</a:t>
            </a:r>
            <a:r>
              <a:rPr lang="sv-SE" dirty="0"/>
              <a:t> över huvud taget. Varför räcker det inte alltid med mer klassiska </a:t>
            </a:r>
            <a:r>
              <a:rPr lang="sv-SE" dirty="0" err="1"/>
              <a:t>machine</a:t>
            </a:r>
            <a:r>
              <a:rPr lang="sv-SE" dirty="0"/>
              <a:t> </a:t>
            </a:r>
            <a:r>
              <a:rPr lang="sv-SE" dirty="0" err="1"/>
              <a:t>learning</a:t>
            </a:r>
            <a:r>
              <a:rPr lang="sv-SE" dirty="0"/>
              <a:t>-modeller?</a:t>
            </a:r>
          </a:p>
          <a:p>
            <a:r>
              <a:rPr lang="sv-SE" dirty="0"/>
              <a:t>Många problem fungerar väldigt bra med klassisk </a:t>
            </a:r>
            <a:r>
              <a:rPr lang="sv-SE" dirty="0" err="1"/>
              <a:t>machine</a:t>
            </a:r>
            <a:r>
              <a:rPr lang="sv-SE" dirty="0"/>
              <a:t> </a:t>
            </a:r>
            <a:r>
              <a:rPr lang="sv-SE" dirty="0" err="1"/>
              <a:t>learning</a:t>
            </a:r>
            <a:r>
              <a:rPr lang="sv-SE" dirty="0"/>
              <a:t>, särskilt när </a:t>
            </a:r>
            <a:r>
              <a:rPr lang="sv-SE" dirty="0" err="1"/>
              <a:t>datan</a:t>
            </a:r>
            <a:r>
              <a:rPr lang="sv-SE" dirty="0"/>
              <a:t> är </a:t>
            </a:r>
            <a:r>
              <a:rPr lang="sv-SE" dirty="0" err="1"/>
              <a:t>tabulär</a:t>
            </a:r>
            <a:r>
              <a:rPr lang="sv-SE" dirty="0"/>
              <a:t>, alltså organiserad i tydliga rader och kolumner med ganska väl definierade variabler. Då har vi ofta ganska tydliga features att arbeta med, och modeller som logistisk regression, trädmodeller eller ensemblemetoder kan fungera väldigt bra.</a:t>
            </a:r>
          </a:p>
          <a:p>
            <a:r>
              <a:rPr lang="sv-SE" dirty="0"/>
              <a:t>Men all data ser inte ut så. Om vi i stället arbetar med bilder, ljud eller text så blir problemet ofta mer komplext. Då räcker det inte alltid att bara ha några få tydliga kolumner. Det som är viktigt ligger ofta i mönster, struktur och relationer som är svårare att beskriva manuellt.</a:t>
            </a:r>
          </a:p>
          <a:p>
            <a:r>
              <a:rPr lang="sv-SE" dirty="0"/>
              <a:t>Om vi tar en bild som exempel så består den rent tekniskt av pixelvärden. Men det som faktiskt spelar roll är inte en enskild pixel, utan former, kanter, objekt och hur olika delar av bilden hänger ihop. På samma sätt i text handlar det inte bara om ord var för sig, utan också om ordning, sammanhang och betydelse.</a:t>
            </a:r>
          </a:p>
          <a:p>
            <a:r>
              <a:rPr lang="sv-SE" dirty="0"/>
              <a:t>Det här är förstås en förenklad bild, eftersom </a:t>
            </a:r>
            <a:r>
              <a:rPr lang="sv-SE" dirty="0" err="1"/>
              <a:t>deep</a:t>
            </a:r>
            <a:r>
              <a:rPr lang="sv-SE" dirty="0"/>
              <a:t> </a:t>
            </a:r>
            <a:r>
              <a:rPr lang="sv-SE" dirty="0" err="1"/>
              <a:t>learning</a:t>
            </a:r>
            <a:r>
              <a:rPr lang="sv-SE" dirty="0"/>
              <a:t> också är </a:t>
            </a:r>
            <a:r>
              <a:rPr lang="sv-SE" dirty="0" err="1"/>
              <a:t>machine</a:t>
            </a:r>
            <a:r>
              <a:rPr lang="sv-SE" dirty="0"/>
              <a:t> </a:t>
            </a:r>
            <a:r>
              <a:rPr lang="sv-SE" dirty="0" err="1"/>
              <a:t>learning</a:t>
            </a:r>
            <a:r>
              <a:rPr lang="sv-SE" dirty="0"/>
              <a:t>. Men poängen här är att </a:t>
            </a:r>
            <a:r>
              <a:rPr lang="sv-SE" dirty="0" err="1"/>
              <a:t>deep</a:t>
            </a:r>
            <a:r>
              <a:rPr lang="sv-SE" dirty="0"/>
              <a:t> </a:t>
            </a:r>
            <a:r>
              <a:rPr lang="sv-SE" dirty="0" err="1"/>
              <a:t>learning</a:t>
            </a:r>
            <a:r>
              <a:rPr lang="sv-SE" dirty="0"/>
              <a:t> ofta blir särskilt relevant när </a:t>
            </a:r>
            <a:r>
              <a:rPr lang="sv-SE" dirty="0" err="1"/>
              <a:t>datan</a:t>
            </a:r>
            <a:r>
              <a:rPr lang="sv-SE" dirty="0"/>
              <a:t> är mer komplex och det blir svårare att skapa bra features för hand.</a:t>
            </a:r>
          </a:p>
        </p:txBody>
      </p:sp>
      <p:sp>
        <p:nvSpPr>
          <p:cNvPr id="4" name="Platshållare för bildnummer 3">
            <a:extLst>
              <a:ext uri="{FF2B5EF4-FFF2-40B4-BE49-F238E27FC236}">
                <a16:creationId xmlns:a16="http://schemas.microsoft.com/office/drawing/2014/main" id="{D6EE2F64-55BE-3292-43C3-28E50D4FE1E7}"/>
              </a:ext>
            </a:extLst>
          </p:cNvPr>
          <p:cNvSpPr>
            <a:spLocks noGrp="1"/>
          </p:cNvSpPr>
          <p:nvPr>
            <p:ph type="sldNum" sz="quarter" idx="5"/>
          </p:nvPr>
        </p:nvSpPr>
        <p:spPr/>
        <p:txBody>
          <a:bodyPr/>
          <a:lstStyle/>
          <a:p>
            <a:fld id="{DFF15893-0DF5-4007-BFB5-41D74726C9CD}" type="slidenum">
              <a:rPr lang="en-SE" smtClean="0"/>
              <a:t>2</a:t>
            </a:fld>
            <a:endParaRPr lang="en-SE"/>
          </a:p>
        </p:txBody>
      </p:sp>
    </p:spTree>
    <p:extLst>
      <p:ext uri="{BB962C8B-B14F-4D97-AF65-F5344CB8AC3E}">
        <p14:creationId xmlns:p14="http://schemas.microsoft.com/office/powerpoint/2010/main" val="2991785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A4096-2EA8-E869-0404-51F8F9D4BDBE}"/>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9A3C171F-322C-7B65-6DCE-FE10A39D10A7}"/>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9419BAC0-756F-F5DA-F89E-A2D0DD53E6AF}"/>
              </a:ext>
            </a:extLst>
          </p:cNvPr>
          <p:cNvSpPr>
            <a:spLocks noGrp="1"/>
          </p:cNvSpPr>
          <p:nvPr>
            <p:ph type="body" idx="1"/>
          </p:nvPr>
        </p:nvSpPr>
        <p:spPr/>
        <p:txBody>
          <a:bodyPr/>
          <a:lstStyle/>
          <a:p>
            <a:r>
              <a:rPr lang="sv-SE" dirty="0"/>
              <a:t>Nu är det bra att reda ut tre begrepp som ofta blandas ihop: artificiell intelligens, </a:t>
            </a:r>
            <a:r>
              <a:rPr lang="sv-SE" dirty="0" err="1"/>
              <a:t>machine</a:t>
            </a:r>
            <a:r>
              <a:rPr lang="sv-SE" dirty="0"/>
              <a:t> </a:t>
            </a:r>
            <a:r>
              <a:rPr lang="sv-SE" dirty="0" err="1"/>
              <a:t>learning</a:t>
            </a:r>
            <a:r>
              <a:rPr lang="sv-SE" dirty="0"/>
              <a:t> och </a:t>
            </a:r>
            <a:r>
              <a:rPr lang="sv-SE" dirty="0" err="1"/>
              <a:t>deep</a:t>
            </a:r>
            <a:r>
              <a:rPr lang="sv-SE" dirty="0"/>
              <a:t> </a:t>
            </a:r>
            <a:r>
              <a:rPr lang="sv-SE" dirty="0" err="1"/>
              <a:t>learning</a:t>
            </a:r>
            <a:r>
              <a:rPr lang="sv-SE" dirty="0"/>
              <a:t>.</a:t>
            </a:r>
          </a:p>
          <a:p>
            <a:r>
              <a:rPr lang="sv-SE" dirty="0"/>
              <a:t>Artificiell intelligens, eller AI, är det bredaste begreppet. Det kan användas för många olika typer av system som på något sätt uppvisar intelligenta beteenden eller försöker lösa problem på ett sätt som liknar mänskligt beslutsfattande eller problemlösning.</a:t>
            </a:r>
          </a:p>
          <a:p>
            <a:r>
              <a:rPr lang="sv-SE" dirty="0" err="1"/>
              <a:t>Machine</a:t>
            </a:r>
            <a:r>
              <a:rPr lang="sv-SE" dirty="0"/>
              <a:t> </a:t>
            </a:r>
            <a:r>
              <a:rPr lang="sv-SE" dirty="0" err="1"/>
              <a:t>learning</a:t>
            </a:r>
            <a:r>
              <a:rPr lang="sv-SE" dirty="0"/>
              <a:t> är en del av AI. Där handlar det om att låta modeller lära sig mönster från data i stället för att vi skriver alla regler själva i förväg.</a:t>
            </a:r>
          </a:p>
          <a:p>
            <a:r>
              <a:rPr lang="sv-SE" dirty="0"/>
              <a:t>Deep </a:t>
            </a:r>
            <a:r>
              <a:rPr lang="sv-SE" dirty="0" err="1"/>
              <a:t>learning</a:t>
            </a:r>
            <a:r>
              <a:rPr lang="sv-SE" dirty="0"/>
              <a:t> är i sin tur en del av </a:t>
            </a:r>
            <a:r>
              <a:rPr lang="sv-SE" dirty="0" err="1"/>
              <a:t>machine</a:t>
            </a:r>
            <a:r>
              <a:rPr lang="sv-SE" dirty="0"/>
              <a:t> </a:t>
            </a:r>
            <a:r>
              <a:rPr lang="sv-SE" dirty="0" err="1"/>
              <a:t>learning</a:t>
            </a:r>
            <a:r>
              <a:rPr lang="sv-SE" dirty="0"/>
              <a:t>. Här använder vi neurala nätverk, ofta med flera lager, för att lära oss mer komplexa samband och representationer från data.</a:t>
            </a:r>
          </a:p>
          <a:p>
            <a:r>
              <a:rPr lang="sv-SE" dirty="0"/>
              <a:t>Så om man vill tänka enkelt kan man säga:</a:t>
            </a:r>
            <a:br>
              <a:rPr lang="sv-SE" dirty="0"/>
            </a:br>
            <a:r>
              <a:rPr lang="sv-SE" dirty="0"/>
              <a:t>AI är det stora området.</a:t>
            </a:r>
            <a:br>
              <a:rPr lang="sv-SE" dirty="0"/>
            </a:br>
            <a:r>
              <a:rPr lang="sv-SE" dirty="0" err="1"/>
              <a:t>Machine</a:t>
            </a:r>
            <a:r>
              <a:rPr lang="sv-SE" dirty="0"/>
              <a:t> </a:t>
            </a:r>
            <a:r>
              <a:rPr lang="sv-SE" dirty="0" err="1"/>
              <a:t>learning</a:t>
            </a:r>
            <a:r>
              <a:rPr lang="sv-SE" dirty="0"/>
              <a:t> är en viktig del av AI.</a:t>
            </a:r>
            <a:br>
              <a:rPr lang="sv-SE" dirty="0"/>
            </a:br>
            <a:r>
              <a:rPr lang="sv-SE" dirty="0"/>
              <a:t>Deep </a:t>
            </a:r>
            <a:r>
              <a:rPr lang="sv-SE" dirty="0" err="1"/>
              <a:t>learning</a:t>
            </a:r>
            <a:r>
              <a:rPr lang="sv-SE" dirty="0"/>
              <a:t> är en viktig del av </a:t>
            </a:r>
            <a:r>
              <a:rPr lang="sv-SE" dirty="0" err="1"/>
              <a:t>machine</a:t>
            </a:r>
            <a:r>
              <a:rPr lang="sv-SE" dirty="0"/>
              <a:t> </a:t>
            </a:r>
            <a:r>
              <a:rPr lang="sv-SE" dirty="0" err="1"/>
              <a:t>learning</a:t>
            </a:r>
            <a:r>
              <a:rPr lang="sv-SE" dirty="0"/>
              <a:t>.</a:t>
            </a:r>
          </a:p>
          <a:p>
            <a:r>
              <a:rPr lang="sv-SE" dirty="0"/>
              <a:t>Det här är viktigt, eftersom </a:t>
            </a:r>
            <a:r>
              <a:rPr lang="sv-SE" dirty="0" err="1"/>
              <a:t>deep</a:t>
            </a:r>
            <a:r>
              <a:rPr lang="sv-SE" dirty="0"/>
              <a:t> </a:t>
            </a:r>
            <a:r>
              <a:rPr lang="sv-SE" dirty="0" err="1"/>
              <a:t>learning</a:t>
            </a:r>
            <a:r>
              <a:rPr lang="sv-SE" dirty="0"/>
              <a:t> annars lätt framstår som någonting helt frikopplat från resten. Men egentligen hör det hemma i samma större familj.</a:t>
            </a:r>
          </a:p>
        </p:txBody>
      </p:sp>
      <p:sp>
        <p:nvSpPr>
          <p:cNvPr id="4" name="Platshållare för bildnummer 3">
            <a:extLst>
              <a:ext uri="{FF2B5EF4-FFF2-40B4-BE49-F238E27FC236}">
                <a16:creationId xmlns:a16="http://schemas.microsoft.com/office/drawing/2014/main" id="{7ADD3D08-B0CC-61EC-38F0-9D368082DDA6}"/>
              </a:ext>
            </a:extLst>
          </p:cNvPr>
          <p:cNvSpPr>
            <a:spLocks noGrp="1"/>
          </p:cNvSpPr>
          <p:nvPr>
            <p:ph type="sldNum" sz="quarter" idx="5"/>
          </p:nvPr>
        </p:nvSpPr>
        <p:spPr/>
        <p:txBody>
          <a:bodyPr/>
          <a:lstStyle/>
          <a:p>
            <a:fld id="{DFF15893-0DF5-4007-BFB5-41D74726C9CD}" type="slidenum">
              <a:rPr lang="en-SE" smtClean="0"/>
              <a:t>3</a:t>
            </a:fld>
            <a:endParaRPr lang="en-SE"/>
          </a:p>
        </p:txBody>
      </p:sp>
    </p:spTree>
    <p:extLst>
      <p:ext uri="{BB962C8B-B14F-4D97-AF65-F5344CB8AC3E}">
        <p14:creationId xmlns:p14="http://schemas.microsoft.com/office/powerpoint/2010/main" val="9355468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B21EF-D491-CBE9-ED8F-2660FD7938AF}"/>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E80CB9A1-A970-8AEE-5964-4E59A138F7BA}"/>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A17BE0AB-AA73-31AA-4F8C-8AA87F0A3E91}"/>
              </a:ext>
            </a:extLst>
          </p:cNvPr>
          <p:cNvSpPr>
            <a:spLocks noGrp="1"/>
          </p:cNvSpPr>
          <p:nvPr>
            <p:ph type="body" idx="1"/>
          </p:nvPr>
        </p:nvSpPr>
        <p:spPr/>
        <p:txBody>
          <a:bodyPr/>
          <a:lstStyle/>
          <a:p>
            <a:r>
              <a:rPr lang="sv-SE" dirty="0"/>
              <a:t>Innan vi går vidare är det bra att påminna sig om kärnidén i </a:t>
            </a:r>
            <a:r>
              <a:rPr lang="sv-SE" dirty="0" err="1"/>
              <a:t>machine</a:t>
            </a:r>
            <a:r>
              <a:rPr lang="sv-SE" dirty="0"/>
              <a:t> </a:t>
            </a:r>
            <a:r>
              <a:rPr lang="sv-SE" dirty="0" err="1"/>
              <a:t>learning</a:t>
            </a:r>
            <a:r>
              <a:rPr lang="sv-SE" dirty="0"/>
              <a:t>, för det hjälper oss att se att </a:t>
            </a:r>
            <a:r>
              <a:rPr lang="sv-SE" dirty="0" err="1"/>
              <a:t>deep</a:t>
            </a:r>
            <a:r>
              <a:rPr lang="sv-SE" dirty="0"/>
              <a:t> </a:t>
            </a:r>
            <a:r>
              <a:rPr lang="sv-SE" dirty="0" err="1"/>
              <a:t>learning</a:t>
            </a:r>
            <a:r>
              <a:rPr lang="sv-SE" dirty="0"/>
              <a:t> inte bryter mot grundlogiken, utan bygger vidare på den.</a:t>
            </a:r>
          </a:p>
          <a:p>
            <a:r>
              <a:rPr lang="sv-SE" dirty="0"/>
              <a:t>Vi börjar med data. Vi använder en modell för att göra en prediktion. Sedan jämför vi modellens resultat med det vi ville fånga, alltså det sanna värdet eller det mål vi tränar mot. Den jämförelsen ger oss ett fel eller en loss. Sedan använder vi träningen för att försöka minska det felet.</a:t>
            </a:r>
          </a:p>
          <a:p>
            <a:r>
              <a:rPr lang="sv-SE" dirty="0"/>
              <a:t>Det här är fortfarande grundidén även i </a:t>
            </a:r>
            <a:r>
              <a:rPr lang="sv-SE" dirty="0" err="1"/>
              <a:t>deep</a:t>
            </a:r>
            <a:r>
              <a:rPr lang="sv-SE" dirty="0"/>
              <a:t> </a:t>
            </a:r>
            <a:r>
              <a:rPr lang="sv-SE" dirty="0" err="1"/>
              <a:t>learning</a:t>
            </a:r>
            <a:r>
              <a:rPr lang="sv-SE" dirty="0"/>
              <a:t>. Vi har alltså inte lämnat </a:t>
            </a:r>
            <a:r>
              <a:rPr lang="sv-SE" dirty="0" err="1"/>
              <a:t>machine</a:t>
            </a:r>
            <a:r>
              <a:rPr lang="sv-SE" dirty="0"/>
              <a:t> </a:t>
            </a:r>
            <a:r>
              <a:rPr lang="sv-SE" dirty="0" err="1"/>
              <a:t>learning</a:t>
            </a:r>
            <a:r>
              <a:rPr lang="sv-SE" dirty="0"/>
              <a:t>-tänket bakom oss. Vi har fortfarande data, modell, prediktion, fel och förbättring. Skillnaden ligger i modellens form och kapacitet.</a:t>
            </a:r>
          </a:p>
          <a:p>
            <a:r>
              <a:rPr lang="sv-SE" dirty="0"/>
              <a:t>Den här sliden är viktig, eftersom den visar att </a:t>
            </a:r>
            <a:r>
              <a:rPr lang="sv-SE" dirty="0" err="1"/>
              <a:t>deep</a:t>
            </a:r>
            <a:r>
              <a:rPr lang="sv-SE" dirty="0"/>
              <a:t> </a:t>
            </a:r>
            <a:r>
              <a:rPr lang="sv-SE" dirty="0" err="1"/>
              <a:t>learning</a:t>
            </a:r>
            <a:r>
              <a:rPr lang="sv-SE" dirty="0"/>
              <a:t> inte är magi. Det är fortfarande modellering, bara med en annan typ av modellfamilj.</a:t>
            </a:r>
          </a:p>
        </p:txBody>
      </p:sp>
      <p:sp>
        <p:nvSpPr>
          <p:cNvPr id="4" name="Platshållare för bildnummer 3">
            <a:extLst>
              <a:ext uri="{FF2B5EF4-FFF2-40B4-BE49-F238E27FC236}">
                <a16:creationId xmlns:a16="http://schemas.microsoft.com/office/drawing/2014/main" id="{61890E40-9066-58A4-BA2C-A2CDA4711383}"/>
              </a:ext>
            </a:extLst>
          </p:cNvPr>
          <p:cNvSpPr>
            <a:spLocks noGrp="1"/>
          </p:cNvSpPr>
          <p:nvPr>
            <p:ph type="sldNum" sz="quarter" idx="5"/>
          </p:nvPr>
        </p:nvSpPr>
        <p:spPr/>
        <p:txBody>
          <a:bodyPr/>
          <a:lstStyle/>
          <a:p>
            <a:fld id="{DFF15893-0DF5-4007-BFB5-41D74726C9CD}" type="slidenum">
              <a:rPr lang="en-SE" smtClean="0"/>
              <a:t>4</a:t>
            </a:fld>
            <a:endParaRPr lang="en-SE"/>
          </a:p>
        </p:txBody>
      </p:sp>
    </p:spTree>
    <p:extLst>
      <p:ext uri="{BB962C8B-B14F-4D97-AF65-F5344CB8AC3E}">
        <p14:creationId xmlns:p14="http://schemas.microsoft.com/office/powerpoint/2010/main" val="21073420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0DAA7-6610-1FA1-8EF9-2802C324C258}"/>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DCFE2436-0E37-2518-9CE7-44C23FB984AA}"/>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D41359D4-05AB-C575-F3B2-C868BBB3BB79}"/>
              </a:ext>
            </a:extLst>
          </p:cNvPr>
          <p:cNvSpPr>
            <a:spLocks noGrp="1"/>
          </p:cNvSpPr>
          <p:nvPr>
            <p:ph type="body" idx="1"/>
          </p:nvPr>
        </p:nvSpPr>
        <p:spPr/>
        <p:txBody>
          <a:bodyPr/>
          <a:lstStyle/>
          <a:p>
            <a:r>
              <a:rPr lang="sv-SE" dirty="0"/>
              <a:t>Det som </a:t>
            </a:r>
            <a:r>
              <a:rPr lang="sv-SE" dirty="0" err="1"/>
              <a:t>deep</a:t>
            </a:r>
            <a:r>
              <a:rPr lang="sv-SE" dirty="0"/>
              <a:t> </a:t>
            </a:r>
            <a:r>
              <a:rPr lang="sv-SE" dirty="0" err="1"/>
              <a:t>learning</a:t>
            </a:r>
            <a:r>
              <a:rPr lang="sv-SE" dirty="0"/>
              <a:t> ofta tillför är förmågan att stegvis lära sig mer användbara representationer av data. I stället för att gå direkt från rå input till ett färdigt svar i ett enda hopp, kan modellen arbeta i flera nivåer.</a:t>
            </a:r>
          </a:p>
          <a:p>
            <a:r>
              <a:rPr lang="sv-SE" dirty="0"/>
              <a:t>Om vi tar en bild som exempel kan man tänka sig att tidiga lager lär sig väldigt enkla mönster, som kanter, kontraster och små former. Senare lager kan bygga vidare på det och fånga mer sammansatta strukturer. Till sist kan modellen använda de här representationerna för att göra en prediktion, till exempel klassificera vad bilden föreställer.</a:t>
            </a:r>
          </a:p>
          <a:p>
            <a:r>
              <a:rPr lang="sv-SE" dirty="0"/>
              <a:t>Det här är en av huvudidéerna bakom varför djupa nätverk kan vara så kraftfulla. De lär sig inte bara en direkt koppling från input till output, utan flera nivåer av mellanrepresentationer som gör problemet mer hanterbart.</a:t>
            </a:r>
          </a:p>
          <a:p>
            <a:r>
              <a:rPr lang="sv-SE" dirty="0"/>
              <a:t>Och det är också här ordet “</a:t>
            </a:r>
            <a:r>
              <a:rPr lang="sv-SE" dirty="0" err="1"/>
              <a:t>deep</a:t>
            </a:r>
            <a:r>
              <a:rPr lang="sv-SE" dirty="0"/>
              <a:t>” kommer in. Det syftar inte på att modellen är mystisk, utan på att den arbetar genom flera lager av beräkningar.</a:t>
            </a:r>
          </a:p>
        </p:txBody>
      </p:sp>
      <p:sp>
        <p:nvSpPr>
          <p:cNvPr id="4" name="Platshållare för bildnummer 3">
            <a:extLst>
              <a:ext uri="{FF2B5EF4-FFF2-40B4-BE49-F238E27FC236}">
                <a16:creationId xmlns:a16="http://schemas.microsoft.com/office/drawing/2014/main" id="{F544CC59-72AE-2B05-B261-E17CD4525953}"/>
              </a:ext>
            </a:extLst>
          </p:cNvPr>
          <p:cNvSpPr>
            <a:spLocks noGrp="1"/>
          </p:cNvSpPr>
          <p:nvPr>
            <p:ph type="sldNum" sz="quarter" idx="5"/>
          </p:nvPr>
        </p:nvSpPr>
        <p:spPr/>
        <p:txBody>
          <a:bodyPr/>
          <a:lstStyle/>
          <a:p>
            <a:fld id="{DFF15893-0DF5-4007-BFB5-41D74726C9CD}" type="slidenum">
              <a:rPr lang="en-SE" smtClean="0"/>
              <a:t>5</a:t>
            </a:fld>
            <a:endParaRPr lang="en-SE"/>
          </a:p>
        </p:txBody>
      </p:sp>
    </p:spTree>
    <p:extLst>
      <p:ext uri="{BB962C8B-B14F-4D97-AF65-F5344CB8AC3E}">
        <p14:creationId xmlns:p14="http://schemas.microsoft.com/office/powerpoint/2010/main" val="11117989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DC182-F43C-6214-9550-0A51D4E465E2}"/>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9C8D2BBC-FC93-E877-869C-7DF16F82DA22}"/>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2400F132-7E0D-CE2D-754A-18271F9A1863}"/>
              </a:ext>
            </a:extLst>
          </p:cNvPr>
          <p:cNvSpPr>
            <a:spLocks noGrp="1"/>
          </p:cNvSpPr>
          <p:nvPr>
            <p:ph type="body" idx="1"/>
          </p:nvPr>
        </p:nvSpPr>
        <p:spPr/>
        <p:txBody>
          <a:bodyPr/>
          <a:lstStyle/>
          <a:p>
            <a:r>
              <a:rPr lang="sv-SE" dirty="0"/>
              <a:t>Neurala nätverk som idé har funnits länge, men </a:t>
            </a:r>
            <a:r>
              <a:rPr lang="sv-SE" dirty="0" err="1"/>
              <a:t>deep</a:t>
            </a:r>
            <a:r>
              <a:rPr lang="sv-SE" dirty="0"/>
              <a:t> </a:t>
            </a:r>
            <a:r>
              <a:rPr lang="sv-SE" dirty="0" err="1"/>
              <a:t>learning</a:t>
            </a:r>
            <a:r>
              <a:rPr lang="sv-SE" dirty="0"/>
              <a:t> fick sitt stora genombrott först när flera saker började samverka.</a:t>
            </a:r>
          </a:p>
          <a:p>
            <a:r>
              <a:rPr lang="sv-SE" dirty="0"/>
              <a:t>För det första fick vi mycket större datamängder. Många djupa modeller fungerar bäst när de har mycket data att lära sig från.</a:t>
            </a:r>
          </a:p>
          <a:p>
            <a:r>
              <a:rPr lang="sv-SE" dirty="0"/>
              <a:t>För det andra blev hårdvaran bättre, särskilt genom </a:t>
            </a:r>
            <a:r>
              <a:rPr lang="sv-SE" dirty="0" err="1"/>
              <a:t>GPU:er</a:t>
            </a:r>
            <a:r>
              <a:rPr lang="sv-SE" dirty="0"/>
              <a:t>. Det gjorde det möjligt att träna större modeller inom rimlig tid.</a:t>
            </a:r>
          </a:p>
          <a:p>
            <a:r>
              <a:rPr lang="sv-SE" dirty="0"/>
              <a:t>För det tredje blev träningsmetoderna bättre. Optimering, aktiveringsfunktioner, regularisering och praktiska ramverk utvecklades så att träningen blev mer stabil och användbar.</a:t>
            </a:r>
          </a:p>
          <a:p>
            <a:r>
              <a:rPr lang="sv-SE" dirty="0"/>
              <a:t>Och för det fjärde såg man starka resultat på viktiga problem, särskilt inom bild, ljud och språk. Det gjorde att området växte snabbt både i forskning och i praktisk användning.</a:t>
            </a:r>
          </a:p>
          <a:p>
            <a:r>
              <a:rPr lang="sv-SE" dirty="0"/>
              <a:t>Så </a:t>
            </a:r>
            <a:r>
              <a:rPr lang="sv-SE" dirty="0" err="1"/>
              <a:t>deep</a:t>
            </a:r>
            <a:r>
              <a:rPr lang="sv-SE" dirty="0"/>
              <a:t> </a:t>
            </a:r>
            <a:r>
              <a:rPr lang="sv-SE" dirty="0" err="1"/>
              <a:t>learning</a:t>
            </a:r>
            <a:r>
              <a:rPr lang="sv-SE" dirty="0"/>
              <a:t> blev inte stort av en enda anledning, utan därför att teknik, data och metodik började dra åt samma håll.</a:t>
            </a:r>
          </a:p>
        </p:txBody>
      </p:sp>
      <p:sp>
        <p:nvSpPr>
          <p:cNvPr id="4" name="Platshållare för bildnummer 3">
            <a:extLst>
              <a:ext uri="{FF2B5EF4-FFF2-40B4-BE49-F238E27FC236}">
                <a16:creationId xmlns:a16="http://schemas.microsoft.com/office/drawing/2014/main" id="{FC251D97-A609-02E6-F08C-2096585C4645}"/>
              </a:ext>
            </a:extLst>
          </p:cNvPr>
          <p:cNvSpPr>
            <a:spLocks noGrp="1"/>
          </p:cNvSpPr>
          <p:nvPr>
            <p:ph type="sldNum" sz="quarter" idx="5"/>
          </p:nvPr>
        </p:nvSpPr>
        <p:spPr/>
        <p:txBody>
          <a:bodyPr/>
          <a:lstStyle/>
          <a:p>
            <a:fld id="{DFF15893-0DF5-4007-BFB5-41D74726C9CD}" type="slidenum">
              <a:rPr lang="en-SE" smtClean="0"/>
              <a:t>6</a:t>
            </a:fld>
            <a:endParaRPr lang="en-SE"/>
          </a:p>
        </p:txBody>
      </p:sp>
    </p:spTree>
    <p:extLst>
      <p:ext uri="{BB962C8B-B14F-4D97-AF65-F5344CB8AC3E}">
        <p14:creationId xmlns:p14="http://schemas.microsoft.com/office/powerpoint/2010/main" val="950840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7F2EC-6EC9-72EB-EF91-FAA3EAB2BED7}"/>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0DBDC937-A8DB-1812-037C-D8845210160E}"/>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3797E2CB-B8C0-5039-D823-9351CAEC91A8}"/>
              </a:ext>
            </a:extLst>
          </p:cNvPr>
          <p:cNvSpPr>
            <a:spLocks noGrp="1"/>
          </p:cNvSpPr>
          <p:nvPr>
            <p:ph type="body" idx="1"/>
          </p:nvPr>
        </p:nvSpPr>
        <p:spPr/>
        <p:txBody>
          <a:bodyPr/>
          <a:lstStyle/>
          <a:p>
            <a:r>
              <a:rPr lang="sv-SE" dirty="0"/>
              <a:t>Det är också viktigt att vara tydlig med när </a:t>
            </a:r>
            <a:r>
              <a:rPr lang="sv-SE" dirty="0" err="1"/>
              <a:t>deep</a:t>
            </a:r>
            <a:r>
              <a:rPr lang="sv-SE" dirty="0"/>
              <a:t> </a:t>
            </a:r>
            <a:r>
              <a:rPr lang="sv-SE" dirty="0" err="1"/>
              <a:t>learning</a:t>
            </a:r>
            <a:r>
              <a:rPr lang="sv-SE" dirty="0"/>
              <a:t> ofta passar bra.</a:t>
            </a:r>
          </a:p>
          <a:p>
            <a:r>
              <a:rPr lang="sv-SE" dirty="0"/>
              <a:t>Det är särskilt starkt när vi arbetar med mer komplexa datatyper, till exempel bilder, ljud, text och sekvenser. Där finns det ofta mycket struktur i </a:t>
            </a:r>
            <a:r>
              <a:rPr lang="sv-SE" dirty="0" err="1"/>
              <a:t>datan</a:t>
            </a:r>
            <a:r>
              <a:rPr lang="sv-SE" dirty="0"/>
              <a:t> som är svår att fånga med några få manuellt definierade features.</a:t>
            </a:r>
          </a:p>
          <a:p>
            <a:r>
              <a:rPr lang="sv-SE" dirty="0"/>
              <a:t>Men det betyder inte att </a:t>
            </a:r>
            <a:r>
              <a:rPr lang="sv-SE" dirty="0" err="1"/>
              <a:t>deep</a:t>
            </a:r>
            <a:r>
              <a:rPr lang="sv-SE" dirty="0"/>
              <a:t> </a:t>
            </a:r>
            <a:r>
              <a:rPr lang="sv-SE" dirty="0" err="1"/>
              <a:t>learning</a:t>
            </a:r>
            <a:r>
              <a:rPr lang="sv-SE" dirty="0"/>
              <a:t> är bästa valet i alla situationer. Om </a:t>
            </a:r>
            <a:r>
              <a:rPr lang="sv-SE" dirty="0" err="1"/>
              <a:t>datan</a:t>
            </a:r>
            <a:r>
              <a:rPr lang="sv-SE" dirty="0"/>
              <a:t> är liten, </a:t>
            </a:r>
            <a:r>
              <a:rPr lang="sv-SE" dirty="0" err="1"/>
              <a:t>tabulär</a:t>
            </a:r>
            <a:r>
              <a:rPr lang="sv-SE" dirty="0"/>
              <a:t> och ganska tydlig kan enklare modeller ofta vara minst lika bra, ibland bättre, och nästan alltid enklare att tolka och använda.</a:t>
            </a:r>
          </a:p>
          <a:p>
            <a:r>
              <a:rPr lang="sv-SE" dirty="0"/>
              <a:t>Så en viktig del av att förstå </a:t>
            </a:r>
            <a:r>
              <a:rPr lang="sv-SE" dirty="0" err="1"/>
              <a:t>deep</a:t>
            </a:r>
            <a:r>
              <a:rPr lang="sv-SE" dirty="0"/>
              <a:t> </a:t>
            </a:r>
            <a:r>
              <a:rPr lang="sv-SE" dirty="0" err="1"/>
              <a:t>learning</a:t>
            </a:r>
            <a:r>
              <a:rPr lang="sv-SE" dirty="0"/>
              <a:t> är inte bara att kunna bygga modeller, utan också att kunna avgöra när det är ett rimligt verktyg och när något enklare kan vara klokare.</a:t>
            </a:r>
          </a:p>
        </p:txBody>
      </p:sp>
      <p:sp>
        <p:nvSpPr>
          <p:cNvPr id="4" name="Platshållare för bildnummer 3">
            <a:extLst>
              <a:ext uri="{FF2B5EF4-FFF2-40B4-BE49-F238E27FC236}">
                <a16:creationId xmlns:a16="http://schemas.microsoft.com/office/drawing/2014/main" id="{7D1D71E6-6594-84A7-A490-25C7E3B4A6CF}"/>
              </a:ext>
            </a:extLst>
          </p:cNvPr>
          <p:cNvSpPr>
            <a:spLocks noGrp="1"/>
          </p:cNvSpPr>
          <p:nvPr>
            <p:ph type="sldNum" sz="quarter" idx="5"/>
          </p:nvPr>
        </p:nvSpPr>
        <p:spPr/>
        <p:txBody>
          <a:bodyPr/>
          <a:lstStyle/>
          <a:p>
            <a:fld id="{DFF15893-0DF5-4007-BFB5-41D74726C9CD}" type="slidenum">
              <a:rPr lang="en-SE" smtClean="0"/>
              <a:t>7</a:t>
            </a:fld>
            <a:endParaRPr lang="en-SE"/>
          </a:p>
        </p:txBody>
      </p:sp>
    </p:spTree>
    <p:extLst>
      <p:ext uri="{BB962C8B-B14F-4D97-AF65-F5344CB8AC3E}">
        <p14:creationId xmlns:p14="http://schemas.microsoft.com/office/powerpoint/2010/main" val="27625321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D97C5-97F8-6B5F-8926-3F342B5FCE59}"/>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94C05AF5-89B5-FB0B-0B00-ED09C79F51B1}"/>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D576FEB4-C6CF-47DA-B8D3-F99B6CE3F43A}"/>
              </a:ext>
            </a:extLst>
          </p:cNvPr>
          <p:cNvSpPr>
            <a:spLocks noGrp="1"/>
          </p:cNvSpPr>
          <p:nvPr>
            <p:ph type="body" idx="1"/>
          </p:nvPr>
        </p:nvSpPr>
        <p:spPr/>
        <p:txBody>
          <a:bodyPr/>
          <a:lstStyle/>
          <a:p>
            <a:r>
              <a:rPr lang="sv-SE" dirty="0"/>
              <a:t>Deep </a:t>
            </a:r>
            <a:r>
              <a:rPr lang="sv-SE" dirty="0" err="1"/>
              <a:t>learning</a:t>
            </a:r>
            <a:r>
              <a:rPr lang="sv-SE" dirty="0"/>
              <a:t> är ett väldigt stort område. Om man försöker täcka allt på en gång blir resultatet nästan alltid rörigt och ytligt. Därför är det bättre att hålla en tydlig röd tråd.</a:t>
            </a:r>
          </a:p>
          <a:p>
            <a:r>
              <a:rPr lang="sv-SE" dirty="0"/>
              <a:t>Vi kommer börja med att förstå vad neurala nätverk är och hur de är uppbyggda. Sedan går vi vidare till hur de tränas och hur man läser träningsresultat. Efter det tittar vi på </a:t>
            </a:r>
            <a:r>
              <a:rPr lang="sv-SE" dirty="0" err="1"/>
              <a:t>overfitting</a:t>
            </a:r>
            <a:r>
              <a:rPr lang="sv-SE" dirty="0"/>
              <a:t> och varför det är en så central fråga i </a:t>
            </a:r>
            <a:r>
              <a:rPr lang="sv-SE" dirty="0" err="1"/>
              <a:t>deep</a:t>
            </a:r>
            <a:r>
              <a:rPr lang="sv-SE" dirty="0"/>
              <a:t> </a:t>
            </a:r>
            <a:r>
              <a:rPr lang="sv-SE" dirty="0" err="1"/>
              <a:t>learning</a:t>
            </a:r>
            <a:r>
              <a:rPr lang="sv-SE" dirty="0"/>
              <a:t>.</a:t>
            </a:r>
          </a:p>
          <a:p>
            <a:r>
              <a:rPr lang="sv-SE" dirty="0"/>
              <a:t>Sedan går vi vidare till </a:t>
            </a:r>
            <a:r>
              <a:rPr lang="sv-SE" dirty="0" err="1"/>
              <a:t>bilddata</a:t>
            </a:r>
            <a:r>
              <a:rPr lang="sv-SE" dirty="0"/>
              <a:t> och CNN, eftersom det är där </a:t>
            </a:r>
            <a:r>
              <a:rPr lang="sv-SE" dirty="0" err="1"/>
              <a:t>deep</a:t>
            </a:r>
            <a:r>
              <a:rPr lang="sv-SE" dirty="0"/>
              <a:t> </a:t>
            </a:r>
            <a:r>
              <a:rPr lang="sv-SE" dirty="0" err="1"/>
              <a:t>learning</a:t>
            </a:r>
            <a:r>
              <a:rPr lang="sv-SE" dirty="0"/>
              <a:t> ofta känns som mest naturligt och motiverat. Och till sist tittar vi mer på modellval, begränsningar och hur man resonerar om när de här modellerna faktiskt är lämpliga.</a:t>
            </a:r>
          </a:p>
          <a:p>
            <a:r>
              <a:rPr lang="sv-SE" dirty="0"/>
              <a:t>Det gör att vi bygger förståelsen steg för steg, i stället för att hoppa mellan för många spår samtidigt.</a:t>
            </a:r>
          </a:p>
        </p:txBody>
      </p:sp>
      <p:sp>
        <p:nvSpPr>
          <p:cNvPr id="4" name="Platshållare för bildnummer 3">
            <a:extLst>
              <a:ext uri="{FF2B5EF4-FFF2-40B4-BE49-F238E27FC236}">
                <a16:creationId xmlns:a16="http://schemas.microsoft.com/office/drawing/2014/main" id="{319BA433-881A-868C-85C4-F85F267BB456}"/>
              </a:ext>
            </a:extLst>
          </p:cNvPr>
          <p:cNvSpPr>
            <a:spLocks noGrp="1"/>
          </p:cNvSpPr>
          <p:nvPr>
            <p:ph type="sldNum" sz="quarter" idx="5"/>
          </p:nvPr>
        </p:nvSpPr>
        <p:spPr/>
        <p:txBody>
          <a:bodyPr/>
          <a:lstStyle/>
          <a:p>
            <a:fld id="{DFF15893-0DF5-4007-BFB5-41D74726C9CD}" type="slidenum">
              <a:rPr lang="en-SE" smtClean="0"/>
              <a:t>8</a:t>
            </a:fld>
            <a:endParaRPr lang="en-SE"/>
          </a:p>
        </p:txBody>
      </p:sp>
    </p:spTree>
    <p:extLst>
      <p:ext uri="{BB962C8B-B14F-4D97-AF65-F5344CB8AC3E}">
        <p14:creationId xmlns:p14="http://schemas.microsoft.com/office/powerpoint/2010/main" val="42439253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287B7-EC5C-B585-9190-2204EF1353E4}"/>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79CD0946-9A49-25E2-892D-86FC0A5DDBEE}"/>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C5A90FDC-1506-8D9C-8C0B-AAC9C9674EAA}"/>
              </a:ext>
            </a:extLst>
          </p:cNvPr>
          <p:cNvSpPr>
            <a:spLocks noGrp="1"/>
          </p:cNvSpPr>
          <p:nvPr>
            <p:ph type="body" idx="1"/>
          </p:nvPr>
        </p:nvSpPr>
        <p:spPr/>
        <p:txBody>
          <a:bodyPr/>
          <a:lstStyle/>
          <a:p>
            <a:r>
              <a:rPr lang="sv-SE" dirty="0"/>
              <a:t>En väldigt viktig sak att ta med sig redan nu är att allt det analytiska tänkandet från </a:t>
            </a:r>
            <a:r>
              <a:rPr lang="sv-SE" dirty="0" err="1"/>
              <a:t>machine</a:t>
            </a:r>
            <a:r>
              <a:rPr lang="sv-SE" dirty="0"/>
              <a:t> </a:t>
            </a:r>
            <a:r>
              <a:rPr lang="sv-SE" dirty="0" err="1"/>
              <a:t>learning</a:t>
            </a:r>
            <a:r>
              <a:rPr lang="sv-SE" dirty="0"/>
              <a:t> fortfarande är centralt.</a:t>
            </a:r>
          </a:p>
          <a:p>
            <a:r>
              <a:rPr lang="sv-SE" dirty="0"/>
              <a:t>Det gäller till exempel </a:t>
            </a:r>
            <a:r>
              <a:rPr lang="sv-SE" dirty="0" err="1"/>
              <a:t>train</a:t>
            </a:r>
            <a:r>
              <a:rPr lang="sv-SE" dirty="0"/>
              <a:t>, </a:t>
            </a:r>
            <a:r>
              <a:rPr lang="sv-SE" dirty="0" err="1"/>
              <a:t>validation</a:t>
            </a:r>
            <a:r>
              <a:rPr lang="sv-SE" dirty="0"/>
              <a:t> och test. Det gäller vikten av att utvärdera på ny data. Det gäller generalisering. Det gäller </a:t>
            </a:r>
            <a:r>
              <a:rPr lang="sv-SE" dirty="0" err="1"/>
              <a:t>overfitting</a:t>
            </a:r>
            <a:r>
              <a:rPr lang="sv-SE" dirty="0"/>
              <a:t>. Det gäller </a:t>
            </a:r>
            <a:r>
              <a:rPr lang="sv-SE" dirty="0" err="1"/>
              <a:t>metric</a:t>
            </a:r>
            <a:r>
              <a:rPr lang="sv-SE" dirty="0"/>
              <a:t>-val. Och det gäller förstås datakvalitet och problemformulering.</a:t>
            </a:r>
          </a:p>
          <a:p>
            <a:r>
              <a:rPr lang="sv-SE" dirty="0"/>
              <a:t>Det här betyder att </a:t>
            </a:r>
            <a:r>
              <a:rPr lang="sv-SE" dirty="0" err="1"/>
              <a:t>deep</a:t>
            </a:r>
            <a:r>
              <a:rPr lang="sv-SE" dirty="0"/>
              <a:t> </a:t>
            </a:r>
            <a:r>
              <a:rPr lang="sv-SE" dirty="0" err="1"/>
              <a:t>learning</a:t>
            </a:r>
            <a:r>
              <a:rPr lang="sv-SE" dirty="0"/>
              <a:t> inte ersätter det analytiska tänkandet från </a:t>
            </a:r>
            <a:r>
              <a:rPr lang="sv-SE" dirty="0" err="1"/>
              <a:t>machine</a:t>
            </a:r>
            <a:r>
              <a:rPr lang="sv-SE" dirty="0"/>
              <a:t> </a:t>
            </a:r>
            <a:r>
              <a:rPr lang="sv-SE" dirty="0" err="1"/>
              <a:t>learning</a:t>
            </a:r>
            <a:r>
              <a:rPr lang="sv-SE" dirty="0"/>
              <a:t>. Snarare ställer det ännu högre krav på det. Modellerna blir kraftfullare, men också mer komplexa. Därför blir det ännu viktigare att förstå vad man försöker göra, vad modellen faktiskt lär sig och hur man ska tolka resultatet.</a:t>
            </a:r>
          </a:p>
          <a:p>
            <a:r>
              <a:rPr lang="sv-SE" dirty="0"/>
              <a:t>Så om </a:t>
            </a:r>
            <a:r>
              <a:rPr lang="sv-SE" dirty="0" err="1"/>
              <a:t>deep</a:t>
            </a:r>
            <a:r>
              <a:rPr lang="sv-SE" dirty="0"/>
              <a:t> </a:t>
            </a:r>
            <a:r>
              <a:rPr lang="sv-SE" dirty="0" err="1"/>
              <a:t>learning</a:t>
            </a:r>
            <a:r>
              <a:rPr lang="sv-SE" dirty="0"/>
              <a:t> känns nytt och stort är det klokt att luta sig mot det man redan vet om modellering, utvärdering och generalisering. Det ger en mycket stabilare start.</a:t>
            </a:r>
          </a:p>
        </p:txBody>
      </p:sp>
      <p:sp>
        <p:nvSpPr>
          <p:cNvPr id="4" name="Platshållare för bildnummer 3">
            <a:extLst>
              <a:ext uri="{FF2B5EF4-FFF2-40B4-BE49-F238E27FC236}">
                <a16:creationId xmlns:a16="http://schemas.microsoft.com/office/drawing/2014/main" id="{06A69607-1437-1C71-DEE7-E720409181F3}"/>
              </a:ext>
            </a:extLst>
          </p:cNvPr>
          <p:cNvSpPr>
            <a:spLocks noGrp="1"/>
          </p:cNvSpPr>
          <p:nvPr>
            <p:ph type="sldNum" sz="quarter" idx="5"/>
          </p:nvPr>
        </p:nvSpPr>
        <p:spPr/>
        <p:txBody>
          <a:bodyPr/>
          <a:lstStyle/>
          <a:p>
            <a:fld id="{DFF15893-0DF5-4007-BFB5-41D74726C9CD}" type="slidenum">
              <a:rPr lang="en-SE" smtClean="0"/>
              <a:t>9</a:t>
            </a:fld>
            <a:endParaRPr lang="en-SE"/>
          </a:p>
        </p:txBody>
      </p:sp>
    </p:spTree>
    <p:extLst>
      <p:ext uri="{BB962C8B-B14F-4D97-AF65-F5344CB8AC3E}">
        <p14:creationId xmlns:p14="http://schemas.microsoft.com/office/powerpoint/2010/main" val="37404374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5A7E5-3F53-35E7-3E6D-2D450282FE46}"/>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72D5C217-245F-F0AC-6CD2-957143207EAD}"/>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9B289521-E5E3-2261-0E1D-E1E7A597EA8A}"/>
              </a:ext>
            </a:extLst>
          </p:cNvPr>
          <p:cNvSpPr>
            <a:spLocks noGrp="1"/>
          </p:cNvSpPr>
          <p:nvPr>
            <p:ph type="body" idx="1"/>
          </p:nvPr>
        </p:nvSpPr>
        <p:spPr/>
        <p:txBody>
          <a:bodyPr/>
          <a:lstStyle/>
          <a:p>
            <a:r>
              <a:rPr lang="sv-SE" dirty="0"/>
              <a:t>Nu ska vi bara ge en första, väldigt enkel bild av vad ett neuralt nätverk är innan vi går djupare i nästa video.</a:t>
            </a:r>
          </a:p>
          <a:p>
            <a:r>
              <a:rPr lang="sv-SE" dirty="0"/>
              <a:t>Ett neuralt nätverk består av lager av beräkningar. Vi matar in data i nätverket. Den bearbetas genom ett eller flera dolda lager. Till sist får vi en output, till exempel en prediktion eller en klassificering.</a:t>
            </a:r>
          </a:p>
          <a:p>
            <a:r>
              <a:rPr lang="sv-SE" dirty="0"/>
              <a:t>Det viktiga just nu är inte att förstå exakt varje intern detalj, utan att få den övergripande bilden: ett neuralt nätverk transformerar input till output genom flera lager av beräkningar.</a:t>
            </a:r>
          </a:p>
          <a:p>
            <a:r>
              <a:rPr lang="sv-SE" dirty="0"/>
              <a:t>I nästa steg ska vi bryta ned de här byggstenarna mycket mer konkret.</a:t>
            </a:r>
          </a:p>
        </p:txBody>
      </p:sp>
      <p:sp>
        <p:nvSpPr>
          <p:cNvPr id="4" name="Platshållare för bildnummer 3">
            <a:extLst>
              <a:ext uri="{FF2B5EF4-FFF2-40B4-BE49-F238E27FC236}">
                <a16:creationId xmlns:a16="http://schemas.microsoft.com/office/drawing/2014/main" id="{D618E8D7-D76D-A90E-8B4D-A0B4982CC668}"/>
              </a:ext>
            </a:extLst>
          </p:cNvPr>
          <p:cNvSpPr>
            <a:spLocks noGrp="1"/>
          </p:cNvSpPr>
          <p:nvPr>
            <p:ph type="sldNum" sz="quarter" idx="5"/>
          </p:nvPr>
        </p:nvSpPr>
        <p:spPr/>
        <p:txBody>
          <a:bodyPr/>
          <a:lstStyle/>
          <a:p>
            <a:fld id="{DFF15893-0DF5-4007-BFB5-41D74726C9CD}" type="slidenum">
              <a:rPr lang="en-SE" smtClean="0"/>
              <a:t>10</a:t>
            </a:fld>
            <a:endParaRPr lang="en-SE"/>
          </a:p>
        </p:txBody>
      </p:sp>
    </p:spTree>
    <p:extLst>
      <p:ext uri="{BB962C8B-B14F-4D97-AF65-F5344CB8AC3E}">
        <p14:creationId xmlns:p14="http://schemas.microsoft.com/office/powerpoint/2010/main" val="17900255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7DCCB-BF10-5F5E-6951-987F23EF83ED}"/>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07CA1428-92CB-A8D2-0C4E-BD3DA8645ECE}"/>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DB7D7E82-2DE4-04A3-A608-04C34BF3EF0A}"/>
              </a:ext>
            </a:extLst>
          </p:cNvPr>
          <p:cNvSpPr>
            <a:spLocks noGrp="1"/>
          </p:cNvSpPr>
          <p:nvPr>
            <p:ph type="body" idx="1"/>
          </p:nvPr>
        </p:nvSpPr>
        <p:spPr/>
        <p:txBody>
          <a:bodyPr/>
          <a:lstStyle/>
          <a:p>
            <a:r>
              <a:rPr lang="sv-SE" dirty="0"/>
              <a:t>I de praktiska delarna kommer vi använda </a:t>
            </a:r>
            <a:r>
              <a:rPr lang="sv-SE" dirty="0" err="1"/>
              <a:t>TensorFlow</a:t>
            </a:r>
            <a:r>
              <a:rPr lang="sv-SE" dirty="0"/>
              <a:t> och </a:t>
            </a:r>
            <a:r>
              <a:rPr lang="sv-SE" dirty="0" err="1"/>
              <a:t>Keras</a:t>
            </a:r>
            <a:r>
              <a:rPr lang="sv-SE" dirty="0"/>
              <a:t>.</a:t>
            </a:r>
          </a:p>
          <a:p>
            <a:r>
              <a:rPr lang="sv-SE" dirty="0"/>
              <a:t>Anledningen är att det ger ett pedagogiskt bra sätt att komma igång med </a:t>
            </a:r>
            <a:r>
              <a:rPr lang="sv-SE" dirty="0" err="1"/>
              <a:t>deep</a:t>
            </a:r>
            <a:r>
              <a:rPr lang="sv-SE" dirty="0"/>
              <a:t> </a:t>
            </a:r>
            <a:r>
              <a:rPr lang="sv-SE" dirty="0" err="1"/>
              <a:t>learning</a:t>
            </a:r>
            <a:r>
              <a:rPr lang="sv-SE" dirty="0"/>
              <a:t> utan att fastna i alltför mycket låg-nivådetaljer direkt. Vi vill kunna fokusera på modellstruktur, träning och tolkning, snarare än att lägga all energi på implementation från grunden.</a:t>
            </a:r>
          </a:p>
          <a:p>
            <a:r>
              <a:rPr lang="sv-SE" dirty="0"/>
              <a:t>Målet här är alltså inte att memorera syntax för syntaxens skull. Målet är att använda verktygen för att förstå idéerna bakom modellerna.</a:t>
            </a:r>
          </a:p>
        </p:txBody>
      </p:sp>
      <p:sp>
        <p:nvSpPr>
          <p:cNvPr id="4" name="Platshållare för bildnummer 3">
            <a:extLst>
              <a:ext uri="{FF2B5EF4-FFF2-40B4-BE49-F238E27FC236}">
                <a16:creationId xmlns:a16="http://schemas.microsoft.com/office/drawing/2014/main" id="{B9D18F48-1D88-9339-291D-FF180F896E6A}"/>
              </a:ext>
            </a:extLst>
          </p:cNvPr>
          <p:cNvSpPr>
            <a:spLocks noGrp="1"/>
          </p:cNvSpPr>
          <p:nvPr>
            <p:ph type="sldNum" sz="quarter" idx="5"/>
          </p:nvPr>
        </p:nvSpPr>
        <p:spPr/>
        <p:txBody>
          <a:bodyPr/>
          <a:lstStyle/>
          <a:p>
            <a:fld id="{DFF15893-0DF5-4007-BFB5-41D74726C9CD}" type="slidenum">
              <a:rPr lang="en-SE" smtClean="0"/>
              <a:t>11</a:t>
            </a:fld>
            <a:endParaRPr lang="en-SE"/>
          </a:p>
        </p:txBody>
      </p:sp>
    </p:spTree>
    <p:extLst>
      <p:ext uri="{BB962C8B-B14F-4D97-AF65-F5344CB8AC3E}">
        <p14:creationId xmlns:p14="http://schemas.microsoft.com/office/powerpoint/2010/main" val="3390051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06AD7-8BD1-F514-9370-EE02AE1A57FD}"/>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071D213F-87C4-000C-AD27-6EF64256CBCA}"/>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80269DF2-B09D-882B-F48D-3B43CC6CD4F0}"/>
              </a:ext>
            </a:extLst>
          </p:cNvPr>
          <p:cNvSpPr>
            <a:spLocks noGrp="1"/>
          </p:cNvSpPr>
          <p:nvPr>
            <p:ph type="body" idx="1"/>
          </p:nvPr>
        </p:nvSpPr>
        <p:spPr/>
        <p:txBody>
          <a:bodyPr/>
          <a:lstStyle/>
          <a:p>
            <a:r>
              <a:rPr lang="sv-SE" dirty="0"/>
              <a:t>Det är också värt att säga rakt ut att </a:t>
            </a:r>
            <a:r>
              <a:rPr lang="sv-SE" dirty="0" err="1"/>
              <a:t>deep</a:t>
            </a:r>
            <a:r>
              <a:rPr lang="sv-SE" dirty="0"/>
              <a:t> </a:t>
            </a:r>
            <a:r>
              <a:rPr lang="sv-SE" dirty="0" err="1"/>
              <a:t>learning</a:t>
            </a:r>
            <a:r>
              <a:rPr lang="sv-SE" dirty="0"/>
              <a:t> ofta känns lite rörigt i början, och det är helt normalt.</a:t>
            </a:r>
          </a:p>
          <a:p>
            <a:r>
              <a:rPr lang="sv-SE" dirty="0"/>
              <a:t>Det kommer många nya ord ganska snabbt, och flera nya idéer samtidigt. Det är lätt att känna att man måste förstå allt direkt, men så fungerar det sällan i praktiken.</a:t>
            </a:r>
          </a:p>
          <a:p>
            <a:r>
              <a:rPr lang="sv-SE" dirty="0"/>
              <a:t>I början handlar det mer om att bygga upp en första karta. Först börjar man känna igen begreppen. Sedan ser man hur de hänger ihop. Och när man börjar använda dem i kod och tolka riktiga träningsresultat, då blir förståelsen gradvis djupare.</a:t>
            </a:r>
          </a:p>
          <a:p>
            <a:r>
              <a:rPr lang="sv-SE" dirty="0"/>
              <a:t>Så om allt inte känns helt kristallklart direkt är det inte ett tecken på att något gått fel. Det är en normal del av processen.</a:t>
            </a:r>
          </a:p>
        </p:txBody>
      </p:sp>
      <p:sp>
        <p:nvSpPr>
          <p:cNvPr id="4" name="Platshållare för bildnummer 3">
            <a:extLst>
              <a:ext uri="{FF2B5EF4-FFF2-40B4-BE49-F238E27FC236}">
                <a16:creationId xmlns:a16="http://schemas.microsoft.com/office/drawing/2014/main" id="{2A7FCD64-1015-EFED-F04B-9A7BC67AFDB4}"/>
              </a:ext>
            </a:extLst>
          </p:cNvPr>
          <p:cNvSpPr>
            <a:spLocks noGrp="1"/>
          </p:cNvSpPr>
          <p:nvPr>
            <p:ph type="sldNum" sz="quarter" idx="5"/>
          </p:nvPr>
        </p:nvSpPr>
        <p:spPr/>
        <p:txBody>
          <a:bodyPr/>
          <a:lstStyle/>
          <a:p>
            <a:fld id="{DFF15893-0DF5-4007-BFB5-41D74726C9CD}" type="slidenum">
              <a:rPr lang="en-SE" smtClean="0"/>
              <a:t>12</a:t>
            </a:fld>
            <a:endParaRPr lang="en-SE"/>
          </a:p>
        </p:txBody>
      </p:sp>
    </p:spTree>
    <p:extLst>
      <p:ext uri="{BB962C8B-B14F-4D97-AF65-F5344CB8AC3E}">
        <p14:creationId xmlns:p14="http://schemas.microsoft.com/office/powerpoint/2010/main" val="12654209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20B81-843E-D945-8A1A-F887D8676CD4}"/>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5E159CED-6054-72AB-6498-8273E1BA0660}"/>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70DD6B07-D1E8-9384-08FC-2EB637D53149}"/>
              </a:ext>
            </a:extLst>
          </p:cNvPr>
          <p:cNvSpPr>
            <a:spLocks noGrp="1"/>
          </p:cNvSpPr>
          <p:nvPr>
            <p:ph type="body" idx="1"/>
          </p:nvPr>
        </p:nvSpPr>
        <p:spPr/>
        <p:txBody>
          <a:bodyPr/>
          <a:lstStyle/>
          <a:p>
            <a:r>
              <a:rPr lang="sv-SE" dirty="0"/>
              <a:t>Om vi ska sammanfatta det viktigaste från den här introduktionen så är det följande.</a:t>
            </a:r>
          </a:p>
          <a:p>
            <a:r>
              <a:rPr lang="sv-SE" dirty="0"/>
              <a:t>Deep </a:t>
            </a:r>
            <a:r>
              <a:rPr lang="sv-SE" dirty="0" err="1"/>
              <a:t>learning</a:t>
            </a:r>
            <a:r>
              <a:rPr lang="sv-SE" dirty="0"/>
              <a:t> är en del av </a:t>
            </a:r>
            <a:r>
              <a:rPr lang="sv-SE" dirty="0" err="1"/>
              <a:t>machine</a:t>
            </a:r>
            <a:r>
              <a:rPr lang="sv-SE" dirty="0"/>
              <a:t> </a:t>
            </a:r>
            <a:r>
              <a:rPr lang="sv-SE" dirty="0" err="1"/>
              <a:t>learning</a:t>
            </a:r>
            <a:r>
              <a:rPr lang="sv-SE" dirty="0"/>
              <a:t>, inte någonting helt frikopplat från det. Neurala nätverk är kraftfulla därför att de kan lära sig flera nivåer av representation från data. Det gör dem särskilt starka för mer komplexa datatyper som bilder, ljud och text.</a:t>
            </a:r>
          </a:p>
          <a:p>
            <a:r>
              <a:rPr lang="sv-SE" dirty="0"/>
              <a:t>Samtidigt är det viktigt att förstå att </a:t>
            </a:r>
            <a:r>
              <a:rPr lang="sv-SE" dirty="0" err="1"/>
              <a:t>deep</a:t>
            </a:r>
            <a:r>
              <a:rPr lang="sv-SE" dirty="0"/>
              <a:t> </a:t>
            </a:r>
            <a:r>
              <a:rPr lang="sv-SE" dirty="0" err="1"/>
              <a:t>learning</a:t>
            </a:r>
            <a:r>
              <a:rPr lang="sv-SE" dirty="0"/>
              <a:t> inte automatiskt är bästa valet i alla situationer. En viktig del av att arbeta moget med området är att kunna resonera om när det faktiskt är motiverat.</a:t>
            </a:r>
          </a:p>
          <a:p>
            <a:r>
              <a:rPr lang="sv-SE" dirty="0"/>
              <a:t>Och med den helhetsbilden på plats kan vi nu gå vidare till nästa steg och titta mer konkret på vad ett neuralt nätverk faktiskt består av.</a:t>
            </a:r>
          </a:p>
        </p:txBody>
      </p:sp>
      <p:sp>
        <p:nvSpPr>
          <p:cNvPr id="4" name="Platshållare för bildnummer 3">
            <a:extLst>
              <a:ext uri="{FF2B5EF4-FFF2-40B4-BE49-F238E27FC236}">
                <a16:creationId xmlns:a16="http://schemas.microsoft.com/office/drawing/2014/main" id="{1A952EC1-E955-EFE4-3115-8201679762E3}"/>
              </a:ext>
            </a:extLst>
          </p:cNvPr>
          <p:cNvSpPr>
            <a:spLocks noGrp="1"/>
          </p:cNvSpPr>
          <p:nvPr>
            <p:ph type="sldNum" sz="quarter" idx="5"/>
          </p:nvPr>
        </p:nvSpPr>
        <p:spPr/>
        <p:txBody>
          <a:bodyPr/>
          <a:lstStyle/>
          <a:p>
            <a:fld id="{DFF15893-0DF5-4007-BFB5-41D74726C9CD}" type="slidenum">
              <a:rPr lang="en-SE" smtClean="0"/>
              <a:t>13</a:t>
            </a:fld>
            <a:endParaRPr lang="en-SE"/>
          </a:p>
        </p:txBody>
      </p:sp>
    </p:spTree>
    <p:extLst>
      <p:ext uri="{BB962C8B-B14F-4D97-AF65-F5344CB8AC3E}">
        <p14:creationId xmlns:p14="http://schemas.microsoft.com/office/powerpoint/2010/main" val="18033597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78E1B-1590-8F97-5F77-77D8DE9BAA8D}"/>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3AA9A05E-034E-2708-D777-F5713A2FC864}"/>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3A511A96-DBE1-4C1D-C47F-EADB3E36EB8F}"/>
              </a:ext>
            </a:extLst>
          </p:cNvPr>
          <p:cNvSpPr>
            <a:spLocks noGrp="1"/>
          </p:cNvSpPr>
          <p:nvPr>
            <p:ph type="body" idx="1"/>
          </p:nvPr>
        </p:nvSpPr>
        <p:spPr/>
        <p:txBody>
          <a:bodyPr/>
          <a:lstStyle/>
          <a:p>
            <a:endParaRPr lang="en-SE" dirty="0"/>
          </a:p>
        </p:txBody>
      </p:sp>
      <p:sp>
        <p:nvSpPr>
          <p:cNvPr id="4" name="Platshållare för bildnummer 3">
            <a:extLst>
              <a:ext uri="{FF2B5EF4-FFF2-40B4-BE49-F238E27FC236}">
                <a16:creationId xmlns:a16="http://schemas.microsoft.com/office/drawing/2014/main" id="{9947F5A6-6E10-100A-1A4A-707C654C257F}"/>
              </a:ext>
            </a:extLst>
          </p:cNvPr>
          <p:cNvSpPr>
            <a:spLocks noGrp="1"/>
          </p:cNvSpPr>
          <p:nvPr>
            <p:ph type="sldNum" sz="quarter" idx="5"/>
          </p:nvPr>
        </p:nvSpPr>
        <p:spPr/>
        <p:txBody>
          <a:bodyPr/>
          <a:lstStyle/>
          <a:p>
            <a:fld id="{DFF15893-0DF5-4007-BFB5-41D74726C9CD}" type="slidenum">
              <a:rPr lang="en-SE" smtClean="0"/>
              <a:t>14</a:t>
            </a:fld>
            <a:endParaRPr lang="en-SE"/>
          </a:p>
        </p:txBody>
      </p:sp>
    </p:spTree>
    <p:extLst>
      <p:ext uri="{BB962C8B-B14F-4D97-AF65-F5344CB8AC3E}">
        <p14:creationId xmlns:p14="http://schemas.microsoft.com/office/powerpoint/2010/main" val="2827602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3667B94-3AFB-D776-DC20-6291CA4D1D6E}"/>
              </a:ext>
            </a:extLst>
          </p:cNvPr>
          <p:cNvSpPr>
            <a:spLocks noGrp="1"/>
          </p:cNvSpPr>
          <p:nvPr>
            <p:ph type="ctrTitle"/>
          </p:nvPr>
        </p:nvSpPr>
        <p:spPr>
          <a:xfrm>
            <a:off x="1524000" y="1122363"/>
            <a:ext cx="9144000" cy="2387600"/>
          </a:xfrm>
        </p:spPr>
        <p:txBody>
          <a:bodyPr anchor="b"/>
          <a:lstStyle>
            <a:lvl1pPr algn="ctr">
              <a:defRPr sz="6000"/>
            </a:lvl1pPr>
          </a:lstStyle>
          <a:p>
            <a:r>
              <a:rPr lang="sv-SE"/>
              <a:t>Klicka här för att ändra mall för rubrikformat</a:t>
            </a:r>
            <a:endParaRPr lang="en-SE"/>
          </a:p>
        </p:txBody>
      </p:sp>
      <p:sp>
        <p:nvSpPr>
          <p:cNvPr id="3" name="Underrubrik 2">
            <a:extLst>
              <a:ext uri="{FF2B5EF4-FFF2-40B4-BE49-F238E27FC236}">
                <a16:creationId xmlns:a16="http://schemas.microsoft.com/office/drawing/2014/main" id="{581A1B2E-060E-FDA8-8E1F-BD03EA603C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endParaRPr lang="en-SE"/>
          </a:p>
        </p:txBody>
      </p:sp>
      <p:sp>
        <p:nvSpPr>
          <p:cNvPr id="4" name="Platshållare för datum 3">
            <a:extLst>
              <a:ext uri="{FF2B5EF4-FFF2-40B4-BE49-F238E27FC236}">
                <a16:creationId xmlns:a16="http://schemas.microsoft.com/office/drawing/2014/main" id="{28683EF3-55B7-B404-DFBA-488B1E383189}"/>
              </a:ext>
            </a:extLst>
          </p:cNvPr>
          <p:cNvSpPr>
            <a:spLocks noGrp="1"/>
          </p:cNvSpPr>
          <p:nvPr>
            <p:ph type="dt" sz="half" idx="10"/>
          </p:nvPr>
        </p:nvSpPr>
        <p:spPr/>
        <p:txBody>
          <a:bodyPr/>
          <a:lstStyle/>
          <a:p>
            <a:fld id="{AE3CCB1C-ACF7-4B10-AE38-944E2E7119DC}" type="datetimeFigureOut">
              <a:rPr lang="en-SE" smtClean="0"/>
              <a:t>2026-04-10</a:t>
            </a:fld>
            <a:endParaRPr lang="en-SE"/>
          </a:p>
        </p:txBody>
      </p:sp>
      <p:sp>
        <p:nvSpPr>
          <p:cNvPr id="5" name="Platshållare för sidfot 4">
            <a:extLst>
              <a:ext uri="{FF2B5EF4-FFF2-40B4-BE49-F238E27FC236}">
                <a16:creationId xmlns:a16="http://schemas.microsoft.com/office/drawing/2014/main" id="{2D046AC7-C8F9-21A5-6DA9-5AA749AE278A}"/>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2F401A44-7DFD-8864-08EF-1425F8973A51}"/>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1494703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F959262-E594-32D2-AF58-5AFD68416FA9}"/>
              </a:ext>
            </a:extLst>
          </p:cNvPr>
          <p:cNvSpPr>
            <a:spLocks noGrp="1"/>
          </p:cNvSpPr>
          <p:nvPr>
            <p:ph type="title"/>
          </p:nvPr>
        </p:nvSpPr>
        <p:spPr/>
        <p:txBody>
          <a:bodyPr/>
          <a:lstStyle/>
          <a:p>
            <a:r>
              <a:rPr lang="sv-SE"/>
              <a:t>Klicka här för att ändra mall för rubrikformat</a:t>
            </a:r>
            <a:endParaRPr lang="en-SE"/>
          </a:p>
        </p:txBody>
      </p:sp>
      <p:sp>
        <p:nvSpPr>
          <p:cNvPr id="3" name="Platshållare för innehåll 2">
            <a:extLst>
              <a:ext uri="{FF2B5EF4-FFF2-40B4-BE49-F238E27FC236}">
                <a16:creationId xmlns:a16="http://schemas.microsoft.com/office/drawing/2014/main" id="{21BE6053-EB11-DB58-E8ED-9E46074A2085}"/>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4" name="Platshållare för datum 3">
            <a:extLst>
              <a:ext uri="{FF2B5EF4-FFF2-40B4-BE49-F238E27FC236}">
                <a16:creationId xmlns:a16="http://schemas.microsoft.com/office/drawing/2014/main" id="{C245B5BA-4EEB-B39A-7711-A1C0FF329645}"/>
              </a:ext>
            </a:extLst>
          </p:cNvPr>
          <p:cNvSpPr>
            <a:spLocks noGrp="1"/>
          </p:cNvSpPr>
          <p:nvPr>
            <p:ph type="dt" sz="half" idx="10"/>
          </p:nvPr>
        </p:nvSpPr>
        <p:spPr/>
        <p:txBody>
          <a:bodyPr/>
          <a:lstStyle/>
          <a:p>
            <a:fld id="{AE3CCB1C-ACF7-4B10-AE38-944E2E7119DC}" type="datetimeFigureOut">
              <a:rPr lang="en-SE" smtClean="0"/>
              <a:t>2026-04-10</a:t>
            </a:fld>
            <a:endParaRPr lang="en-SE"/>
          </a:p>
        </p:txBody>
      </p:sp>
      <p:sp>
        <p:nvSpPr>
          <p:cNvPr id="5" name="Platshållare för sidfot 4">
            <a:extLst>
              <a:ext uri="{FF2B5EF4-FFF2-40B4-BE49-F238E27FC236}">
                <a16:creationId xmlns:a16="http://schemas.microsoft.com/office/drawing/2014/main" id="{45E5513F-1C33-4CEF-69F7-4FF59C3B0119}"/>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6DE99110-15FA-5ABF-685C-36365B39AAA6}"/>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3097348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AA7754B-C9B5-25B6-7621-A03E66ED56BE}"/>
              </a:ext>
            </a:extLst>
          </p:cNvPr>
          <p:cNvSpPr>
            <a:spLocks noGrp="1"/>
          </p:cNvSpPr>
          <p:nvPr>
            <p:ph type="title"/>
          </p:nvPr>
        </p:nvSpPr>
        <p:spPr>
          <a:xfrm>
            <a:off x="831850" y="1709738"/>
            <a:ext cx="10515600" cy="2852737"/>
          </a:xfrm>
        </p:spPr>
        <p:txBody>
          <a:bodyPr anchor="b"/>
          <a:lstStyle>
            <a:lvl1pPr>
              <a:defRPr sz="6000"/>
            </a:lvl1pPr>
          </a:lstStyle>
          <a:p>
            <a:r>
              <a:rPr lang="sv-SE"/>
              <a:t>Klicka här för att ändra mall för rubrikformat</a:t>
            </a:r>
            <a:endParaRPr lang="en-SE"/>
          </a:p>
        </p:txBody>
      </p:sp>
      <p:sp>
        <p:nvSpPr>
          <p:cNvPr id="3" name="Platshållare för text 2">
            <a:extLst>
              <a:ext uri="{FF2B5EF4-FFF2-40B4-BE49-F238E27FC236}">
                <a16:creationId xmlns:a16="http://schemas.microsoft.com/office/drawing/2014/main" id="{8D4D7EC5-B4B9-F005-FD32-1CC4D3FAB1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9702A030-39FE-D5D5-3FD8-6FC3BC898E41}"/>
              </a:ext>
            </a:extLst>
          </p:cNvPr>
          <p:cNvSpPr>
            <a:spLocks noGrp="1"/>
          </p:cNvSpPr>
          <p:nvPr>
            <p:ph type="dt" sz="half" idx="10"/>
          </p:nvPr>
        </p:nvSpPr>
        <p:spPr/>
        <p:txBody>
          <a:bodyPr/>
          <a:lstStyle/>
          <a:p>
            <a:fld id="{AE3CCB1C-ACF7-4B10-AE38-944E2E7119DC}" type="datetimeFigureOut">
              <a:rPr lang="en-SE" smtClean="0"/>
              <a:t>2026-04-10</a:t>
            </a:fld>
            <a:endParaRPr lang="en-SE"/>
          </a:p>
        </p:txBody>
      </p:sp>
      <p:sp>
        <p:nvSpPr>
          <p:cNvPr id="5" name="Platshållare för sidfot 4">
            <a:extLst>
              <a:ext uri="{FF2B5EF4-FFF2-40B4-BE49-F238E27FC236}">
                <a16:creationId xmlns:a16="http://schemas.microsoft.com/office/drawing/2014/main" id="{10FDAF0E-45B4-FB3A-957F-DFDD359C7917}"/>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F0939320-A746-AAF9-7F71-2F79F8259C34}"/>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372291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delar">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43AC08-E0D1-5157-0045-F8A695817A5D}"/>
              </a:ext>
            </a:extLst>
          </p:cNvPr>
          <p:cNvSpPr>
            <a:spLocks noGrp="1"/>
          </p:cNvSpPr>
          <p:nvPr>
            <p:ph type="title"/>
          </p:nvPr>
        </p:nvSpPr>
        <p:spPr/>
        <p:txBody>
          <a:bodyPr/>
          <a:lstStyle/>
          <a:p>
            <a:r>
              <a:rPr lang="sv-SE"/>
              <a:t>Klicka här för att ändra mall för rubrikformat</a:t>
            </a:r>
            <a:endParaRPr lang="en-SE"/>
          </a:p>
        </p:txBody>
      </p:sp>
      <p:sp>
        <p:nvSpPr>
          <p:cNvPr id="3" name="Platshållare för innehåll 2">
            <a:extLst>
              <a:ext uri="{FF2B5EF4-FFF2-40B4-BE49-F238E27FC236}">
                <a16:creationId xmlns:a16="http://schemas.microsoft.com/office/drawing/2014/main" id="{97BA3DAE-EF9F-CEF9-9477-4C2A0553FF66}"/>
              </a:ext>
            </a:extLst>
          </p:cNvPr>
          <p:cNvSpPr>
            <a:spLocks noGrp="1"/>
          </p:cNvSpPr>
          <p:nvPr>
            <p:ph sz="half" idx="1"/>
          </p:nvPr>
        </p:nvSpPr>
        <p:spPr>
          <a:xfrm>
            <a:off x="838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4" name="Platshållare för innehåll 3">
            <a:extLst>
              <a:ext uri="{FF2B5EF4-FFF2-40B4-BE49-F238E27FC236}">
                <a16:creationId xmlns:a16="http://schemas.microsoft.com/office/drawing/2014/main" id="{00BA72A3-A2B3-F3D5-00F6-031BC506B0C7}"/>
              </a:ext>
            </a:extLst>
          </p:cNvPr>
          <p:cNvSpPr>
            <a:spLocks noGrp="1"/>
          </p:cNvSpPr>
          <p:nvPr>
            <p:ph sz="half" idx="2"/>
          </p:nvPr>
        </p:nvSpPr>
        <p:spPr>
          <a:xfrm>
            <a:off x="6172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5" name="Platshållare för datum 4">
            <a:extLst>
              <a:ext uri="{FF2B5EF4-FFF2-40B4-BE49-F238E27FC236}">
                <a16:creationId xmlns:a16="http://schemas.microsoft.com/office/drawing/2014/main" id="{1A0030DF-DB66-5A83-C2B3-905E2E2E7AD0}"/>
              </a:ext>
            </a:extLst>
          </p:cNvPr>
          <p:cNvSpPr>
            <a:spLocks noGrp="1"/>
          </p:cNvSpPr>
          <p:nvPr>
            <p:ph type="dt" sz="half" idx="10"/>
          </p:nvPr>
        </p:nvSpPr>
        <p:spPr/>
        <p:txBody>
          <a:bodyPr/>
          <a:lstStyle/>
          <a:p>
            <a:fld id="{AE3CCB1C-ACF7-4B10-AE38-944E2E7119DC}" type="datetimeFigureOut">
              <a:rPr lang="en-SE" smtClean="0"/>
              <a:t>2026-04-10</a:t>
            </a:fld>
            <a:endParaRPr lang="en-SE"/>
          </a:p>
        </p:txBody>
      </p:sp>
      <p:sp>
        <p:nvSpPr>
          <p:cNvPr id="6" name="Platshållare för sidfot 5">
            <a:extLst>
              <a:ext uri="{FF2B5EF4-FFF2-40B4-BE49-F238E27FC236}">
                <a16:creationId xmlns:a16="http://schemas.microsoft.com/office/drawing/2014/main" id="{06B48B02-6CCE-D713-E84C-C131BE00AE6C}"/>
              </a:ext>
            </a:extLst>
          </p:cNvPr>
          <p:cNvSpPr>
            <a:spLocks noGrp="1"/>
          </p:cNvSpPr>
          <p:nvPr>
            <p:ph type="ftr" sz="quarter" idx="11"/>
          </p:nvPr>
        </p:nvSpPr>
        <p:spPr/>
        <p:txBody>
          <a:bodyPr/>
          <a:lstStyle/>
          <a:p>
            <a:endParaRPr lang="en-SE"/>
          </a:p>
        </p:txBody>
      </p:sp>
      <p:sp>
        <p:nvSpPr>
          <p:cNvPr id="7" name="Platshållare för bildnummer 6">
            <a:extLst>
              <a:ext uri="{FF2B5EF4-FFF2-40B4-BE49-F238E27FC236}">
                <a16:creationId xmlns:a16="http://schemas.microsoft.com/office/drawing/2014/main" id="{FFF00A9A-B98B-B87A-65A9-1982AFF71841}"/>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1312915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4B0ADCFD-4490-2826-42A6-E8E407B7D423}"/>
              </a:ext>
            </a:extLst>
          </p:cNvPr>
          <p:cNvSpPr>
            <a:spLocks noGrp="1"/>
          </p:cNvSpPr>
          <p:nvPr>
            <p:ph type="title"/>
          </p:nvPr>
        </p:nvSpPr>
        <p:spPr>
          <a:xfrm>
            <a:off x="839788" y="365125"/>
            <a:ext cx="10515600" cy="1325563"/>
          </a:xfrm>
        </p:spPr>
        <p:txBody>
          <a:bodyPr/>
          <a:lstStyle/>
          <a:p>
            <a:r>
              <a:rPr lang="sv-SE"/>
              <a:t>Klicka här för att ändra mall för rubrikformat</a:t>
            </a:r>
            <a:endParaRPr lang="en-SE"/>
          </a:p>
        </p:txBody>
      </p:sp>
      <p:sp>
        <p:nvSpPr>
          <p:cNvPr id="3" name="Platshållare för text 2">
            <a:extLst>
              <a:ext uri="{FF2B5EF4-FFF2-40B4-BE49-F238E27FC236}">
                <a16:creationId xmlns:a16="http://schemas.microsoft.com/office/drawing/2014/main" id="{E5C0FF99-34E1-DEDE-8C2E-2B59122C22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a:extLst>
              <a:ext uri="{FF2B5EF4-FFF2-40B4-BE49-F238E27FC236}">
                <a16:creationId xmlns:a16="http://schemas.microsoft.com/office/drawing/2014/main" id="{E618FC1D-CA33-1473-402F-0F22BEB8831A}"/>
              </a:ext>
            </a:extLst>
          </p:cNvPr>
          <p:cNvSpPr>
            <a:spLocks noGrp="1"/>
          </p:cNvSpPr>
          <p:nvPr>
            <p:ph sz="half" idx="2"/>
          </p:nvPr>
        </p:nvSpPr>
        <p:spPr>
          <a:xfrm>
            <a:off x="839788" y="2505075"/>
            <a:ext cx="5157787"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5" name="Platshållare för text 4">
            <a:extLst>
              <a:ext uri="{FF2B5EF4-FFF2-40B4-BE49-F238E27FC236}">
                <a16:creationId xmlns:a16="http://schemas.microsoft.com/office/drawing/2014/main" id="{D5C837AC-2710-330A-4CCD-3484A8C026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a:extLst>
              <a:ext uri="{FF2B5EF4-FFF2-40B4-BE49-F238E27FC236}">
                <a16:creationId xmlns:a16="http://schemas.microsoft.com/office/drawing/2014/main" id="{4D24077D-8B7E-8E2B-44D9-39DDEBEAC782}"/>
              </a:ext>
            </a:extLst>
          </p:cNvPr>
          <p:cNvSpPr>
            <a:spLocks noGrp="1"/>
          </p:cNvSpPr>
          <p:nvPr>
            <p:ph sz="quarter" idx="4"/>
          </p:nvPr>
        </p:nvSpPr>
        <p:spPr>
          <a:xfrm>
            <a:off x="6172200" y="2505075"/>
            <a:ext cx="5183188"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7" name="Platshållare för datum 6">
            <a:extLst>
              <a:ext uri="{FF2B5EF4-FFF2-40B4-BE49-F238E27FC236}">
                <a16:creationId xmlns:a16="http://schemas.microsoft.com/office/drawing/2014/main" id="{EF41FEBE-B6D0-E6F2-D790-5996307CA242}"/>
              </a:ext>
            </a:extLst>
          </p:cNvPr>
          <p:cNvSpPr>
            <a:spLocks noGrp="1"/>
          </p:cNvSpPr>
          <p:nvPr>
            <p:ph type="dt" sz="half" idx="10"/>
          </p:nvPr>
        </p:nvSpPr>
        <p:spPr/>
        <p:txBody>
          <a:bodyPr/>
          <a:lstStyle/>
          <a:p>
            <a:fld id="{AE3CCB1C-ACF7-4B10-AE38-944E2E7119DC}" type="datetimeFigureOut">
              <a:rPr lang="en-SE" smtClean="0"/>
              <a:t>2026-04-10</a:t>
            </a:fld>
            <a:endParaRPr lang="en-SE"/>
          </a:p>
        </p:txBody>
      </p:sp>
      <p:sp>
        <p:nvSpPr>
          <p:cNvPr id="8" name="Platshållare för sidfot 7">
            <a:extLst>
              <a:ext uri="{FF2B5EF4-FFF2-40B4-BE49-F238E27FC236}">
                <a16:creationId xmlns:a16="http://schemas.microsoft.com/office/drawing/2014/main" id="{EA06F675-1122-99B8-107D-4E18F4AB3D8E}"/>
              </a:ext>
            </a:extLst>
          </p:cNvPr>
          <p:cNvSpPr>
            <a:spLocks noGrp="1"/>
          </p:cNvSpPr>
          <p:nvPr>
            <p:ph type="ftr" sz="quarter" idx="11"/>
          </p:nvPr>
        </p:nvSpPr>
        <p:spPr/>
        <p:txBody>
          <a:bodyPr/>
          <a:lstStyle/>
          <a:p>
            <a:endParaRPr lang="en-SE"/>
          </a:p>
        </p:txBody>
      </p:sp>
      <p:sp>
        <p:nvSpPr>
          <p:cNvPr id="9" name="Platshållare för bildnummer 8">
            <a:extLst>
              <a:ext uri="{FF2B5EF4-FFF2-40B4-BE49-F238E27FC236}">
                <a16:creationId xmlns:a16="http://schemas.microsoft.com/office/drawing/2014/main" id="{26D159F7-12B0-EB2B-A980-9D76F8ACE3D7}"/>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1137649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874A398-3C71-F958-495B-44E53F71BA90}"/>
              </a:ext>
            </a:extLst>
          </p:cNvPr>
          <p:cNvSpPr>
            <a:spLocks noGrp="1"/>
          </p:cNvSpPr>
          <p:nvPr>
            <p:ph type="title"/>
          </p:nvPr>
        </p:nvSpPr>
        <p:spPr/>
        <p:txBody>
          <a:bodyPr/>
          <a:lstStyle/>
          <a:p>
            <a:r>
              <a:rPr lang="sv-SE"/>
              <a:t>Klicka här för att ändra mall för rubrikformat</a:t>
            </a:r>
            <a:endParaRPr lang="en-SE"/>
          </a:p>
        </p:txBody>
      </p:sp>
      <p:sp>
        <p:nvSpPr>
          <p:cNvPr id="3" name="Platshållare för datum 2">
            <a:extLst>
              <a:ext uri="{FF2B5EF4-FFF2-40B4-BE49-F238E27FC236}">
                <a16:creationId xmlns:a16="http://schemas.microsoft.com/office/drawing/2014/main" id="{829F754F-B5CC-CE25-E506-9EC0D9DF716E}"/>
              </a:ext>
            </a:extLst>
          </p:cNvPr>
          <p:cNvSpPr>
            <a:spLocks noGrp="1"/>
          </p:cNvSpPr>
          <p:nvPr>
            <p:ph type="dt" sz="half" idx="10"/>
          </p:nvPr>
        </p:nvSpPr>
        <p:spPr/>
        <p:txBody>
          <a:bodyPr/>
          <a:lstStyle/>
          <a:p>
            <a:fld id="{AE3CCB1C-ACF7-4B10-AE38-944E2E7119DC}" type="datetimeFigureOut">
              <a:rPr lang="en-SE" smtClean="0"/>
              <a:t>2026-04-10</a:t>
            </a:fld>
            <a:endParaRPr lang="en-SE"/>
          </a:p>
        </p:txBody>
      </p:sp>
      <p:sp>
        <p:nvSpPr>
          <p:cNvPr id="4" name="Platshållare för sidfot 3">
            <a:extLst>
              <a:ext uri="{FF2B5EF4-FFF2-40B4-BE49-F238E27FC236}">
                <a16:creationId xmlns:a16="http://schemas.microsoft.com/office/drawing/2014/main" id="{75F8C3A9-0D21-E990-D048-9C63A57FA511}"/>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85417EAD-E63E-393D-709E-105B794F2B16}"/>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1789575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3D7BBE8A-3C8A-FBC4-EE47-B75FE7E3BD9D}"/>
              </a:ext>
            </a:extLst>
          </p:cNvPr>
          <p:cNvSpPr>
            <a:spLocks noGrp="1"/>
          </p:cNvSpPr>
          <p:nvPr>
            <p:ph type="dt" sz="half" idx="10"/>
          </p:nvPr>
        </p:nvSpPr>
        <p:spPr/>
        <p:txBody>
          <a:bodyPr/>
          <a:lstStyle/>
          <a:p>
            <a:fld id="{AE3CCB1C-ACF7-4B10-AE38-944E2E7119DC}" type="datetimeFigureOut">
              <a:rPr lang="en-SE" smtClean="0"/>
              <a:t>2026-04-10</a:t>
            </a:fld>
            <a:endParaRPr lang="en-SE"/>
          </a:p>
        </p:txBody>
      </p:sp>
      <p:sp>
        <p:nvSpPr>
          <p:cNvPr id="3" name="Platshållare för sidfot 2">
            <a:extLst>
              <a:ext uri="{FF2B5EF4-FFF2-40B4-BE49-F238E27FC236}">
                <a16:creationId xmlns:a16="http://schemas.microsoft.com/office/drawing/2014/main" id="{31791F6A-008E-9097-A4AD-42884CC8DB23}"/>
              </a:ext>
            </a:extLst>
          </p:cNvPr>
          <p:cNvSpPr>
            <a:spLocks noGrp="1"/>
          </p:cNvSpPr>
          <p:nvPr>
            <p:ph type="ftr" sz="quarter" idx="11"/>
          </p:nvPr>
        </p:nvSpPr>
        <p:spPr/>
        <p:txBody>
          <a:bodyPr/>
          <a:lstStyle/>
          <a:p>
            <a:endParaRPr lang="en-SE"/>
          </a:p>
        </p:txBody>
      </p:sp>
      <p:sp>
        <p:nvSpPr>
          <p:cNvPr id="4" name="Platshållare för bildnummer 3">
            <a:extLst>
              <a:ext uri="{FF2B5EF4-FFF2-40B4-BE49-F238E27FC236}">
                <a16:creationId xmlns:a16="http://schemas.microsoft.com/office/drawing/2014/main" id="{F133B5E3-2768-1D18-D226-CD086FAD4528}"/>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2346534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ext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B8BB4C43-1030-2F20-3D43-1A4ADFBF9318}"/>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endParaRPr lang="en-SE"/>
          </a:p>
        </p:txBody>
      </p:sp>
      <p:sp>
        <p:nvSpPr>
          <p:cNvPr id="3" name="Platshållare för innehåll 2">
            <a:extLst>
              <a:ext uri="{FF2B5EF4-FFF2-40B4-BE49-F238E27FC236}">
                <a16:creationId xmlns:a16="http://schemas.microsoft.com/office/drawing/2014/main" id="{52BA8060-2595-74F6-93C7-1C428B220F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4" name="Platshållare för text 3">
            <a:extLst>
              <a:ext uri="{FF2B5EF4-FFF2-40B4-BE49-F238E27FC236}">
                <a16:creationId xmlns:a16="http://schemas.microsoft.com/office/drawing/2014/main" id="{31AADD68-1935-25CF-CC38-F82A5B4769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CD407978-06C4-3ED6-D679-14DB2F9F29E0}"/>
              </a:ext>
            </a:extLst>
          </p:cNvPr>
          <p:cNvSpPr>
            <a:spLocks noGrp="1"/>
          </p:cNvSpPr>
          <p:nvPr>
            <p:ph type="dt" sz="half" idx="10"/>
          </p:nvPr>
        </p:nvSpPr>
        <p:spPr/>
        <p:txBody>
          <a:bodyPr/>
          <a:lstStyle/>
          <a:p>
            <a:fld id="{AE3CCB1C-ACF7-4B10-AE38-944E2E7119DC}" type="datetimeFigureOut">
              <a:rPr lang="en-SE" smtClean="0"/>
              <a:t>2026-04-10</a:t>
            </a:fld>
            <a:endParaRPr lang="en-SE"/>
          </a:p>
        </p:txBody>
      </p:sp>
      <p:sp>
        <p:nvSpPr>
          <p:cNvPr id="6" name="Platshållare för sidfot 5">
            <a:extLst>
              <a:ext uri="{FF2B5EF4-FFF2-40B4-BE49-F238E27FC236}">
                <a16:creationId xmlns:a16="http://schemas.microsoft.com/office/drawing/2014/main" id="{D6718859-A242-0281-9062-5ABCA84CB4BA}"/>
              </a:ext>
            </a:extLst>
          </p:cNvPr>
          <p:cNvSpPr>
            <a:spLocks noGrp="1"/>
          </p:cNvSpPr>
          <p:nvPr>
            <p:ph type="ftr" sz="quarter" idx="11"/>
          </p:nvPr>
        </p:nvSpPr>
        <p:spPr/>
        <p:txBody>
          <a:bodyPr/>
          <a:lstStyle/>
          <a:p>
            <a:endParaRPr lang="en-SE"/>
          </a:p>
        </p:txBody>
      </p:sp>
      <p:sp>
        <p:nvSpPr>
          <p:cNvPr id="7" name="Platshållare för bildnummer 6">
            <a:extLst>
              <a:ext uri="{FF2B5EF4-FFF2-40B4-BE49-F238E27FC236}">
                <a16:creationId xmlns:a16="http://schemas.microsoft.com/office/drawing/2014/main" id="{F700C2CB-0CE0-6D8A-6961-79279270C0D6}"/>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2554441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4D1FD29C-EC73-5503-CEA0-62F1EB596514}"/>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endParaRPr lang="en-SE"/>
          </a:p>
        </p:txBody>
      </p:sp>
      <p:sp>
        <p:nvSpPr>
          <p:cNvPr id="3" name="Platshållare för bild 2">
            <a:extLst>
              <a:ext uri="{FF2B5EF4-FFF2-40B4-BE49-F238E27FC236}">
                <a16:creationId xmlns:a16="http://schemas.microsoft.com/office/drawing/2014/main" id="{36BB2FA3-BB8E-D2DD-48E9-84DD826787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E"/>
          </a:p>
        </p:txBody>
      </p:sp>
      <p:sp>
        <p:nvSpPr>
          <p:cNvPr id="4" name="Platshållare för text 3">
            <a:extLst>
              <a:ext uri="{FF2B5EF4-FFF2-40B4-BE49-F238E27FC236}">
                <a16:creationId xmlns:a16="http://schemas.microsoft.com/office/drawing/2014/main" id="{F328D2A5-A052-ED24-848C-CB2D8F50DD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36C185E2-5F75-B1E6-6F6F-3C37BA46524A}"/>
              </a:ext>
            </a:extLst>
          </p:cNvPr>
          <p:cNvSpPr>
            <a:spLocks noGrp="1"/>
          </p:cNvSpPr>
          <p:nvPr>
            <p:ph type="dt" sz="half" idx="10"/>
          </p:nvPr>
        </p:nvSpPr>
        <p:spPr/>
        <p:txBody>
          <a:bodyPr/>
          <a:lstStyle/>
          <a:p>
            <a:fld id="{AE3CCB1C-ACF7-4B10-AE38-944E2E7119DC}" type="datetimeFigureOut">
              <a:rPr lang="en-SE" smtClean="0"/>
              <a:t>2026-04-10</a:t>
            </a:fld>
            <a:endParaRPr lang="en-SE"/>
          </a:p>
        </p:txBody>
      </p:sp>
      <p:sp>
        <p:nvSpPr>
          <p:cNvPr id="6" name="Platshållare för sidfot 5">
            <a:extLst>
              <a:ext uri="{FF2B5EF4-FFF2-40B4-BE49-F238E27FC236}">
                <a16:creationId xmlns:a16="http://schemas.microsoft.com/office/drawing/2014/main" id="{1DAE074B-1891-60FA-67E1-2EA2C1BD5E02}"/>
              </a:ext>
            </a:extLst>
          </p:cNvPr>
          <p:cNvSpPr>
            <a:spLocks noGrp="1"/>
          </p:cNvSpPr>
          <p:nvPr>
            <p:ph type="ftr" sz="quarter" idx="11"/>
          </p:nvPr>
        </p:nvSpPr>
        <p:spPr/>
        <p:txBody>
          <a:bodyPr/>
          <a:lstStyle/>
          <a:p>
            <a:endParaRPr lang="en-SE"/>
          </a:p>
        </p:txBody>
      </p:sp>
      <p:sp>
        <p:nvSpPr>
          <p:cNvPr id="7" name="Platshållare för bildnummer 6">
            <a:extLst>
              <a:ext uri="{FF2B5EF4-FFF2-40B4-BE49-F238E27FC236}">
                <a16:creationId xmlns:a16="http://schemas.microsoft.com/office/drawing/2014/main" id="{C18E0313-8104-13D6-D845-30A9B5BFAEFC}"/>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2133734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D34598C-14CA-1853-2832-EE9487A28D71}"/>
              </a:ext>
            </a:extLst>
          </p:cNvPr>
          <p:cNvSpPr>
            <a:spLocks noGrp="1"/>
          </p:cNvSpPr>
          <p:nvPr>
            <p:ph type="title"/>
          </p:nvPr>
        </p:nvSpPr>
        <p:spPr/>
        <p:txBody>
          <a:bodyPr/>
          <a:lstStyle/>
          <a:p>
            <a:r>
              <a:rPr lang="sv-SE"/>
              <a:t>Klicka här för att ändra mall för rubrikformat</a:t>
            </a:r>
            <a:endParaRPr lang="en-SE"/>
          </a:p>
        </p:txBody>
      </p:sp>
      <p:sp>
        <p:nvSpPr>
          <p:cNvPr id="3" name="Platshållare för lodrät text 2">
            <a:extLst>
              <a:ext uri="{FF2B5EF4-FFF2-40B4-BE49-F238E27FC236}">
                <a16:creationId xmlns:a16="http://schemas.microsoft.com/office/drawing/2014/main" id="{FD442323-0E45-417C-BF92-EC5051853731}"/>
              </a:ext>
            </a:extLst>
          </p:cNvPr>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4" name="Platshållare för datum 3">
            <a:extLst>
              <a:ext uri="{FF2B5EF4-FFF2-40B4-BE49-F238E27FC236}">
                <a16:creationId xmlns:a16="http://schemas.microsoft.com/office/drawing/2014/main" id="{04234107-B3D0-0A89-8125-AD7350270111}"/>
              </a:ext>
            </a:extLst>
          </p:cNvPr>
          <p:cNvSpPr>
            <a:spLocks noGrp="1"/>
          </p:cNvSpPr>
          <p:nvPr>
            <p:ph type="dt" sz="half" idx="10"/>
          </p:nvPr>
        </p:nvSpPr>
        <p:spPr/>
        <p:txBody>
          <a:bodyPr/>
          <a:lstStyle/>
          <a:p>
            <a:fld id="{AE3CCB1C-ACF7-4B10-AE38-944E2E7119DC}" type="datetimeFigureOut">
              <a:rPr lang="en-SE" smtClean="0"/>
              <a:t>2026-04-10</a:t>
            </a:fld>
            <a:endParaRPr lang="en-SE"/>
          </a:p>
        </p:txBody>
      </p:sp>
      <p:sp>
        <p:nvSpPr>
          <p:cNvPr id="5" name="Platshållare för sidfot 4">
            <a:extLst>
              <a:ext uri="{FF2B5EF4-FFF2-40B4-BE49-F238E27FC236}">
                <a16:creationId xmlns:a16="http://schemas.microsoft.com/office/drawing/2014/main" id="{3AF2CDCB-772F-6986-C403-D96EE8C6977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559958A1-0F8B-8A99-3382-D4DFC2A54F8E}"/>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1928570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a:extLst>
              <a:ext uri="{FF2B5EF4-FFF2-40B4-BE49-F238E27FC236}">
                <a16:creationId xmlns:a16="http://schemas.microsoft.com/office/drawing/2014/main" id="{84644361-CF77-33E3-1FD3-BAE7896066C1}"/>
              </a:ext>
            </a:extLst>
          </p:cNvPr>
          <p:cNvSpPr>
            <a:spLocks noGrp="1"/>
          </p:cNvSpPr>
          <p:nvPr>
            <p:ph type="title" orient="vert"/>
          </p:nvPr>
        </p:nvSpPr>
        <p:spPr>
          <a:xfrm>
            <a:off x="8724900" y="365125"/>
            <a:ext cx="2628900" cy="5811838"/>
          </a:xfrm>
        </p:spPr>
        <p:txBody>
          <a:bodyPr vert="eaVert"/>
          <a:lstStyle/>
          <a:p>
            <a:r>
              <a:rPr lang="sv-SE"/>
              <a:t>Klicka här för att ändra mall för rubrikformat</a:t>
            </a:r>
            <a:endParaRPr lang="en-SE"/>
          </a:p>
        </p:txBody>
      </p:sp>
      <p:sp>
        <p:nvSpPr>
          <p:cNvPr id="3" name="Platshållare för lodrät text 2">
            <a:extLst>
              <a:ext uri="{FF2B5EF4-FFF2-40B4-BE49-F238E27FC236}">
                <a16:creationId xmlns:a16="http://schemas.microsoft.com/office/drawing/2014/main" id="{3E3B8ED8-1444-0B1A-8A01-C97E49BC5544}"/>
              </a:ext>
            </a:extLst>
          </p:cNvPr>
          <p:cNvSpPr>
            <a:spLocks noGrp="1"/>
          </p:cNvSpPr>
          <p:nvPr>
            <p:ph type="body" orient="vert" idx="1"/>
          </p:nvPr>
        </p:nvSpPr>
        <p:spPr>
          <a:xfrm>
            <a:off x="838200" y="365125"/>
            <a:ext cx="7734300" cy="5811838"/>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4" name="Platshållare för datum 3">
            <a:extLst>
              <a:ext uri="{FF2B5EF4-FFF2-40B4-BE49-F238E27FC236}">
                <a16:creationId xmlns:a16="http://schemas.microsoft.com/office/drawing/2014/main" id="{44D0F6E6-88C3-1237-5779-49D167C16903}"/>
              </a:ext>
            </a:extLst>
          </p:cNvPr>
          <p:cNvSpPr>
            <a:spLocks noGrp="1"/>
          </p:cNvSpPr>
          <p:nvPr>
            <p:ph type="dt" sz="half" idx="10"/>
          </p:nvPr>
        </p:nvSpPr>
        <p:spPr/>
        <p:txBody>
          <a:bodyPr/>
          <a:lstStyle/>
          <a:p>
            <a:fld id="{AE3CCB1C-ACF7-4B10-AE38-944E2E7119DC}" type="datetimeFigureOut">
              <a:rPr lang="en-SE" smtClean="0"/>
              <a:t>2026-04-10</a:t>
            </a:fld>
            <a:endParaRPr lang="en-SE"/>
          </a:p>
        </p:txBody>
      </p:sp>
      <p:sp>
        <p:nvSpPr>
          <p:cNvPr id="5" name="Platshållare för sidfot 4">
            <a:extLst>
              <a:ext uri="{FF2B5EF4-FFF2-40B4-BE49-F238E27FC236}">
                <a16:creationId xmlns:a16="http://schemas.microsoft.com/office/drawing/2014/main" id="{2EA1105D-2343-E1A8-9C69-762F150A6B85}"/>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FBAC944C-4547-0A8D-B1F6-DC8426A0E428}"/>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1787029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rgbClr val="10161A"/>
            </a:gs>
            <a:gs pos="78000">
              <a:srgbClr val="0B0D11"/>
            </a:gs>
            <a:gs pos="15000">
              <a:srgbClr val="0B0D11"/>
            </a:gs>
            <a:gs pos="0">
              <a:srgbClr val="10161A"/>
            </a:gs>
          </a:gsLst>
          <a:lin ang="2400000" scaled="0"/>
          <a:tileRect/>
        </a:gra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4A2B0F9E-71F5-79E2-3CCC-2DDF025D90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v-SE"/>
              <a:t>Klicka här för att ändra mall för rubrikformat</a:t>
            </a:r>
            <a:endParaRPr lang="en-SE"/>
          </a:p>
        </p:txBody>
      </p:sp>
      <p:sp>
        <p:nvSpPr>
          <p:cNvPr id="3" name="Platshållare för text 2">
            <a:extLst>
              <a:ext uri="{FF2B5EF4-FFF2-40B4-BE49-F238E27FC236}">
                <a16:creationId xmlns:a16="http://schemas.microsoft.com/office/drawing/2014/main" id="{8E5E52FA-23A5-2264-460F-6513F4BD03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4" name="Platshållare för datum 3">
            <a:extLst>
              <a:ext uri="{FF2B5EF4-FFF2-40B4-BE49-F238E27FC236}">
                <a16:creationId xmlns:a16="http://schemas.microsoft.com/office/drawing/2014/main" id="{775E916C-3C14-0EE7-112B-CC811AD37B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3CCB1C-ACF7-4B10-AE38-944E2E7119DC}" type="datetimeFigureOut">
              <a:rPr lang="en-SE" smtClean="0"/>
              <a:t>2026-04-10</a:t>
            </a:fld>
            <a:endParaRPr lang="en-SE"/>
          </a:p>
        </p:txBody>
      </p:sp>
      <p:sp>
        <p:nvSpPr>
          <p:cNvPr id="5" name="Platshållare för sidfot 4">
            <a:extLst>
              <a:ext uri="{FF2B5EF4-FFF2-40B4-BE49-F238E27FC236}">
                <a16:creationId xmlns:a16="http://schemas.microsoft.com/office/drawing/2014/main" id="{C3899B10-6755-5370-E9D8-85CAE89FA5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E"/>
          </a:p>
        </p:txBody>
      </p:sp>
      <p:sp>
        <p:nvSpPr>
          <p:cNvPr id="6" name="Platshållare för bildnummer 5">
            <a:extLst>
              <a:ext uri="{FF2B5EF4-FFF2-40B4-BE49-F238E27FC236}">
                <a16:creationId xmlns:a16="http://schemas.microsoft.com/office/drawing/2014/main" id="{BBAAE183-FF98-DCC8-A6FD-29BA1E7CA9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FE534B-6975-4B42-BA33-447C452210DD}" type="slidenum">
              <a:rPr lang="en-SE" smtClean="0"/>
              <a:t>‹#›</a:t>
            </a:fld>
            <a:endParaRPr lang="en-SE"/>
          </a:p>
        </p:txBody>
      </p:sp>
    </p:spTree>
    <p:extLst>
      <p:ext uri="{BB962C8B-B14F-4D97-AF65-F5344CB8AC3E}">
        <p14:creationId xmlns:p14="http://schemas.microsoft.com/office/powerpoint/2010/main" val="27936566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AC612-3F91-98C8-1C26-529FB85DC3A7}"/>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87FBBA46-74E9-560A-E13A-0A412AA685C4}"/>
              </a:ext>
            </a:extLst>
          </p:cNvPr>
          <p:cNvSpPr txBox="1"/>
          <p:nvPr/>
        </p:nvSpPr>
        <p:spPr>
          <a:xfrm>
            <a:off x="947154" y="2367171"/>
            <a:ext cx="8433591" cy="2123658"/>
          </a:xfrm>
          <a:prstGeom prst="rect">
            <a:avLst/>
          </a:prstGeom>
          <a:noFill/>
        </p:spPr>
        <p:txBody>
          <a:bodyPr wrap="none" rtlCol="0">
            <a:spAutoFit/>
          </a:bodyPr>
          <a:lstStyle/>
          <a:p>
            <a:r>
              <a:rPr lang="en-US" sz="6600" dirty="0" err="1">
                <a:solidFill>
                  <a:schemeClr val="bg1"/>
                </a:solidFill>
              </a:rPr>
              <a:t>Från</a:t>
            </a:r>
            <a:r>
              <a:rPr lang="en-US" sz="6600" dirty="0">
                <a:solidFill>
                  <a:schemeClr val="bg1"/>
                </a:solidFill>
              </a:rPr>
              <a:t> Machine Learning</a:t>
            </a:r>
          </a:p>
          <a:p>
            <a:r>
              <a:rPr lang="en-US" sz="6600" dirty="0">
                <a:solidFill>
                  <a:schemeClr val="bg1"/>
                </a:solidFill>
              </a:rPr>
              <a:t>till Deep Learning</a:t>
            </a:r>
            <a:endParaRPr lang="en-SE" sz="6600" dirty="0">
              <a:solidFill>
                <a:schemeClr val="bg1"/>
              </a:solidFill>
            </a:endParaRPr>
          </a:p>
        </p:txBody>
      </p:sp>
    </p:spTree>
    <p:extLst>
      <p:ext uri="{BB962C8B-B14F-4D97-AF65-F5344CB8AC3E}">
        <p14:creationId xmlns:p14="http://schemas.microsoft.com/office/powerpoint/2010/main" val="3085460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9EABE-B6C1-B213-BE3C-EA1A1FF16CEB}"/>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D0279470-5044-33AB-04CD-9390EF443F92}"/>
              </a:ext>
            </a:extLst>
          </p:cNvPr>
          <p:cNvSpPr txBox="1"/>
          <p:nvPr/>
        </p:nvSpPr>
        <p:spPr>
          <a:xfrm>
            <a:off x="3079217" y="122735"/>
            <a:ext cx="6033575" cy="830997"/>
          </a:xfrm>
          <a:prstGeom prst="rect">
            <a:avLst/>
          </a:prstGeom>
          <a:noFill/>
        </p:spPr>
        <p:txBody>
          <a:bodyPr wrap="none" rtlCol="0">
            <a:spAutoFit/>
          </a:bodyPr>
          <a:lstStyle/>
          <a:p>
            <a:pPr algn="ctr"/>
            <a:r>
              <a:rPr lang="sv-SE" sz="4800" noProof="0" dirty="0">
                <a:solidFill>
                  <a:schemeClr val="bg1"/>
                </a:solidFill>
              </a:rPr>
              <a:t>Varför Deep Learning?</a:t>
            </a:r>
          </a:p>
        </p:txBody>
      </p:sp>
      <p:sp>
        <p:nvSpPr>
          <p:cNvPr id="20" name="Rektangel: rundade hörn 19">
            <a:extLst>
              <a:ext uri="{FF2B5EF4-FFF2-40B4-BE49-F238E27FC236}">
                <a16:creationId xmlns:a16="http://schemas.microsoft.com/office/drawing/2014/main" id="{91C71785-2680-6D5A-A8E0-17756E2E6BBA}"/>
              </a:ext>
            </a:extLst>
          </p:cNvPr>
          <p:cNvSpPr/>
          <p:nvPr/>
        </p:nvSpPr>
        <p:spPr>
          <a:xfrm>
            <a:off x="1283141" y="1325870"/>
            <a:ext cx="4133735" cy="4397433"/>
          </a:xfrm>
          <a:prstGeom prst="roundRect">
            <a:avLst>
              <a:gd name="adj" fmla="val 12142"/>
            </a:avLst>
          </a:prstGeom>
          <a:solidFill>
            <a:srgbClr val="0B3041">
              <a:alpha val="50196"/>
            </a:srgbClr>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 name="Bild 3" descr="Tabell kontur">
            <a:extLst>
              <a:ext uri="{FF2B5EF4-FFF2-40B4-BE49-F238E27FC236}">
                <a16:creationId xmlns:a16="http://schemas.microsoft.com/office/drawing/2014/main" id="{6AEEF5CA-E2E4-10C1-A949-EE35FD1A3B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5315" y="3019803"/>
            <a:ext cx="914400" cy="914400"/>
          </a:xfrm>
          <a:prstGeom prst="rect">
            <a:avLst/>
          </a:prstGeom>
        </p:spPr>
      </p:pic>
      <p:sp>
        <p:nvSpPr>
          <p:cNvPr id="5" name="textruta 4">
            <a:extLst>
              <a:ext uri="{FF2B5EF4-FFF2-40B4-BE49-F238E27FC236}">
                <a16:creationId xmlns:a16="http://schemas.microsoft.com/office/drawing/2014/main" id="{70040AD5-B994-A951-1EA7-AA30071D01CD}"/>
              </a:ext>
            </a:extLst>
          </p:cNvPr>
          <p:cNvSpPr txBox="1"/>
          <p:nvPr/>
        </p:nvSpPr>
        <p:spPr>
          <a:xfrm>
            <a:off x="3048849" y="2852806"/>
            <a:ext cx="1668598" cy="1323439"/>
          </a:xfrm>
          <a:prstGeom prst="rect">
            <a:avLst/>
          </a:prstGeom>
          <a:noFill/>
        </p:spPr>
        <p:txBody>
          <a:bodyPr wrap="none" rtlCol="0">
            <a:spAutoFit/>
          </a:bodyPr>
          <a:lstStyle/>
          <a:p>
            <a:pPr marL="571500" indent="-571500">
              <a:buFont typeface="Arial" panose="020B0604020202020204" pitchFamily="34" charset="0"/>
              <a:buChar char="•"/>
            </a:pPr>
            <a:r>
              <a:rPr lang="en-US" sz="2000" noProof="0" dirty="0" err="1">
                <a:solidFill>
                  <a:schemeClr val="bg1"/>
                </a:solidFill>
              </a:rPr>
              <a:t>Ålder</a:t>
            </a:r>
            <a:endParaRPr lang="en-US" sz="2000" noProof="0" dirty="0">
              <a:solidFill>
                <a:schemeClr val="bg1"/>
              </a:solidFill>
            </a:endParaRPr>
          </a:p>
          <a:p>
            <a:pPr marL="571500" indent="-571500">
              <a:buFont typeface="Arial" panose="020B0604020202020204" pitchFamily="34" charset="0"/>
              <a:buChar char="•"/>
            </a:pPr>
            <a:r>
              <a:rPr lang="en-US" sz="2000" dirty="0" err="1">
                <a:solidFill>
                  <a:schemeClr val="bg1"/>
                </a:solidFill>
              </a:rPr>
              <a:t>Inkomst</a:t>
            </a:r>
            <a:endParaRPr lang="en-US" sz="2000" dirty="0">
              <a:solidFill>
                <a:schemeClr val="bg1"/>
              </a:solidFill>
            </a:endParaRPr>
          </a:p>
          <a:p>
            <a:pPr marL="571500" indent="-571500">
              <a:buFont typeface="Arial" panose="020B0604020202020204" pitchFamily="34" charset="0"/>
              <a:buChar char="•"/>
            </a:pPr>
            <a:r>
              <a:rPr lang="en-US" sz="2000" noProof="0" dirty="0" err="1">
                <a:solidFill>
                  <a:schemeClr val="bg1"/>
                </a:solidFill>
              </a:rPr>
              <a:t>Köp</a:t>
            </a:r>
            <a:endParaRPr lang="en-US" sz="2000" noProof="0" dirty="0">
              <a:solidFill>
                <a:schemeClr val="bg1"/>
              </a:solidFill>
            </a:endParaRPr>
          </a:p>
          <a:p>
            <a:pPr marL="571500" indent="-571500">
              <a:buFont typeface="Arial" panose="020B0604020202020204" pitchFamily="34" charset="0"/>
              <a:buChar char="•"/>
            </a:pPr>
            <a:r>
              <a:rPr lang="en-US" sz="2000" dirty="0" err="1">
                <a:solidFill>
                  <a:schemeClr val="bg1"/>
                </a:solidFill>
              </a:rPr>
              <a:t>Kategori</a:t>
            </a:r>
            <a:endParaRPr lang="sv-SE" sz="2000" noProof="0" dirty="0">
              <a:solidFill>
                <a:schemeClr val="bg1"/>
              </a:solidFill>
            </a:endParaRPr>
          </a:p>
        </p:txBody>
      </p:sp>
      <p:sp>
        <p:nvSpPr>
          <p:cNvPr id="7" name="textruta 6">
            <a:extLst>
              <a:ext uri="{FF2B5EF4-FFF2-40B4-BE49-F238E27FC236}">
                <a16:creationId xmlns:a16="http://schemas.microsoft.com/office/drawing/2014/main" id="{DC0BA36C-B77A-7336-43C1-89F7743ED077}"/>
              </a:ext>
            </a:extLst>
          </p:cNvPr>
          <p:cNvSpPr txBox="1"/>
          <p:nvPr/>
        </p:nvSpPr>
        <p:spPr>
          <a:xfrm>
            <a:off x="2100307" y="4493773"/>
            <a:ext cx="2499402" cy="830997"/>
          </a:xfrm>
          <a:prstGeom prst="rect">
            <a:avLst/>
          </a:prstGeom>
          <a:noFill/>
        </p:spPr>
        <p:txBody>
          <a:bodyPr wrap="none" rtlCol="0">
            <a:spAutoFit/>
          </a:bodyPr>
          <a:lstStyle/>
          <a:p>
            <a:r>
              <a:rPr lang="sv-SE" sz="2400" noProof="0" dirty="0">
                <a:solidFill>
                  <a:schemeClr val="bg1"/>
                </a:solidFill>
              </a:rPr>
              <a:t>Tydliga features</a:t>
            </a:r>
          </a:p>
          <a:p>
            <a:r>
              <a:rPr lang="sv-SE" sz="2400" dirty="0">
                <a:solidFill>
                  <a:schemeClr val="bg1"/>
                </a:solidFill>
              </a:rPr>
              <a:t>Strukturerad data</a:t>
            </a:r>
            <a:endParaRPr lang="sv-SE" sz="2400" noProof="0" dirty="0">
              <a:solidFill>
                <a:schemeClr val="bg1"/>
              </a:solidFill>
            </a:endParaRPr>
          </a:p>
        </p:txBody>
      </p:sp>
      <p:sp>
        <p:nvSpPr>
          <p:cNvPr id="15" name="textruta 14">
            <a:extLst>
              <a:ext uri="{FF2B5EF4-FFF2-40B4-BE49-F238E27FC236}">
                <a16:creationId xmlns:a16="http://schemas.microsoft.com/office/drawing/2014/main" id="{0F393F59-392B-2BE5-C2F2-2F5D397BA2D6}"/>
              </a:ext>
            </a:extLst>
          </p:cNvPr>
          <p:cNvSpPr txBox="1"/>
          <p:nvPr/>
        </p:nvSpPr>
        <p:spPr>
          <a:xfrm>
            <a:off x="1691028" y="1724402"/>
            <a:ext cx="3317960" cy="584775"/>
          </a:xfrm>
          <a:prstGeom prst="rect">
            <a:avLst/>
          </a:prstGeom>
          <a:noFill/>
        </p:spPr>
        <p:txBody>
          <a:bodyPr wrap="none" rtlCol="0">
            <a:spAutoFit/>
          </a:bodyPr>
          <a:lstStyle/>
          <a:p>
            <a:r>
              <a:rPr lang="sv-SE" sz="3200" noProof="0" dirty="0" err="1">
                <a:solidFill>
                  <a:schemeClr val="bg1"/>
                </a:solidFill>
              </a:rPr>
              <a:t>Machine</a:t>
            </a:r>
            <a:r>
              <a:rPr lang="sv-SE" sz="3200" noProof="0" dirty="0">
                <a:solidFill>
                  <a:schemeClr val="bg1"/>
                </a:solidFill>
              </a:rPr>
              <a:t> Learning</a:t>
            </a:r>
          </a:p>
        </p:txBody>
      </p:sp>
      <p:sp>
        <p:nvSpPr>
          <p:cNvPr id="21" name="Rektangel: rundade hörn 20">
            <a:extLst>
              <a:ext uri="{FF2B5EF4-FFF2-40B4-BE49-F238E27FC236}">
                <a16:creationId xmlns:a16="http://schemas.microsoft.com/office/drawing/2014/main" id="{8B8676FF-F7AB-BE49-40F6-AD0FC1955E29}"/>
              </a:ext>
            </a:extLst>
          </p:cNvPr>
          <p:cNvSpPr/>
          <p:nvPr/>
        </p:nvSpPr>
        <p:spPr>
          <a:xfrm>
            <a:off x="6775124" y="1325870"/>
            <a:ext cx="4133735" cy="4397433"/>
          </a:xfrm>
          <a:prstGeom prst="roundRect">
            <a:avLst>
              <a:gd name="adj" fmla="val 12142"/>
            </a:avLst>
          </a:prstGeom>
          <a:solidFill>
            <a:srgbClr val="0B3041">
              <a:alpha val="50196"/>
            </a:srgbClr>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9" name="Bild 8" descr="Chattbubbla kontur">
            <a:extLst>
              <a:ext uri="{FF2B5EF4-FFF2-40B4-BE49-F238E27FC236}">
                <a16:creationId xmlns:a16="http://schemas.microsoft.com/office/drawing/2014/main" id="{98B15635-19B3-3130-6726-71F0EFA062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08494" y="3599867"/>
            <a:ext cx="914400" cy="914400"/>
          </a:xfrm>
          <a:prstGeom prst="rect">
            <a:avLst/>
          </a:prstGeom>
        </p:spPr>
      </p:pic>
      <p:pic>
        <p:nvPicPr>
          <p:cNvPr id="11" name="Bild 10" descr="Medelhögt ljud kontur">
            <a:extLst>
              <a:ext uri="{FF2B5EF4-FFF2-40B4-BE49-F238E27FC236}">
                <a16:creationId xmlns:a16="http://schemas.microsoft.com/office/drawing/2014/main" id="{73176D04-2E97-2407-9ED8-07DC0A0E94C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44960" y="3350268"/>
            <a:ext cx="914400" cy="914400"/>
          </a:xfrm>
          <a:prstGeom prst="rect">
            <a:avLst/>
          </a:prstGeom>
        </p:spPr>
      </p:pic>
      <p:pic>
        <p:nvPicPr>
          <p:cNvPr id="13" name="Bild 12" descr="Bilder kontur">
            <a:extLst>
              <a:ext uri="{FF2B5EF4-FFF2-40B4-BE49-F238E27FC236}">
                <a16:creationId xmlns:a16="http://schemas.microsoft.com/office/drawing/2014/main" id="{09A0CD06-E170-1808-CCE9-A6FFDBE5A3F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62509" y="2473539"/>
            <a:ext cx="914400" cy="914400"/>
          </a:xfrm>
          <a:prstGeom prst="rect">
            <a:avLst/>
          </a:prstGeom>
        </p:spPr>
      </p:pic>
      <p:sp>
        <p:nvSpPr>
          <p:cNvPr id="14" name="textruta 13">
            <a:extLst>
              <a:ext uri="{FF2B5EF4-FFF2-40B4-BE49-F238E27FC236}">
                <a16:creationId xmlns:a16="http://schemas.microsoft.com/office/drawing/2014/main" id="{54A3949B-BBBB-7D8B-DB8B-3D1A911C1CBB}"/>
              </a:ext>
            </a:extLst>
          </p:cNvPr>
          <p:cNvSpPr txBox="1"/>
          <p:nvPr/>
        </p:nvSpPr>
        <p:spPr>
          <a:xfrm>
            <a:off x="6828331" y="4493773"/>
            <a:ext cx="4027321" cy="830997"/>
          </a:xfrm>
          <a:prstGeom prst="rect">
            <a:avLst/>
          </a:prstGeom>
          <a:noFill/>
        </p:spPr>
        <p:txBody>
          <a:bodyPr wrap="none" rtlCol="0">
            <a:spAutoFit/>
          </a:bodyPr>
          <a:lstStyle/>
          <a:p>
            <a:r>
              <a:rPr lang="sv-SE" sz="2400" noProof="0" dirty="0">
                <a:solidFill>
                  <a:schemeClr val="bg1"/>
                </a:solidFill>
              </a:rPr>
              <a:t>Komplex data</a:t>
            </a:r>
          </a:p>
          <a:p>
            <a:r>
              <a:rPr lang="sv-SE" sz="2400" dirty="0">
                <a:solidFill>
                  <a:schemeClr val="bg1"/>
                </a:solidFill>
              </a:rPr>
              <a:t>Svårare att beskriva manuellt</a:t>
            </a:r>
            <a:endParaRPr lang="sv-SE" sz="2400" noProof="0" dirty="0">
              <a:solidFill>
                <a:schemeClr val="bg1"/>
              </a:solidFill>
            </a:endParaRPr>
          </a:p>
        </p:txBody>
      </p:sp>
      <p:sp>
        <p:nvSpPr>
          <p:cNvPr id="16" name="textruta 15">
            <a:extLst>
              <a:ext uri="{FF2B5EF4-FFF2-40B4-BE49-F238E27FC236}">
                <a16:creationId xmlns:a16="http://schemas.microsoft.com/office/drawing/2014/main" id="{24633C0C-61BB-B253-1A53-2EF0BCC2E4A7}"/>
              </a:ext>
            </a:extLst>
          </p:cNvPr>
          <p:cNvSpPr txBox="1"/>
          <p:nvPr/>
        </p:nvSpPr>
        <p:spPr>
          <a:xfrm>
            <a:off x="7471552" y="1724402"/>
            <a:ext cx="2740879" cy="584775"/>
          </a:xfrm>
          <a:prstGeom prst="rect">
            <a:avLst/>
          </a:prstGeom>
          <a:noFill/>
        </p:spPr>
        <p:txBody>
          <a:bodyPr wrap="none" rtlCol="0">
            <a:spAutoFit/>
          </a:bodyPr>
          <a:lstStyle/>
          <a:p>
            <a:r>
              <a:rPr lang="sv-SE" sz="3200" noProof="0" dirty="0">
                <a:solidFill>
                  <a:schemeClr val="bg1"/>
                </a:solidFill>
              </a:rPr>
              <a:t>Deep Learning</a:t>
            </a:r>
          </a:p>
        </p:txBody>
      </p:sp>
      <p:sp>
        <p:nvSpPr>
          <p:cNvPr id="19" name="textruta 18">
            <a:extLst>
              <a:ext uri="{FF2B5EF4-FFF2-40B4-BE49-F238E27FC236}">
                <a16:creationId xmlns:a16="http://schemas.microsoft.com/office/drawing/2014/main" id="{1A842D03-57C5-44B4-EF34-5FC58C508AAE}"/>
              </a:ext>
            </a:extLst>
          </p:cNvPr>
          <p:cNvSpPr txBox="1"/>
          <p:nvPr/>
        </p:nvSpPr>
        <p:spPr>
          <a:xfrm>
            <a:off x="2036299" y="6040831"/>
            <a:ext cx="8119402" cy="461665"/>
          </a:xfrm>
          <a:prstGeom prst="rect">
            <a:avLst/>
          </a:prstGeom>
          <a:noFill/>
        </p:spPr>
        <p:txBody>
          <a:bodyPr wrap="none" rtlCol="0">
            <a:spAutoFit/>
          </a:bodyPr>
          <a:lstStyle/>
          <a:p>
            <a:r>
              <a:rPr lang="sv-SE" sz="2400" noProof="0" dirty="0">
                <a:solidFill>
                  <a:schemeClr val="bg1"/>
                </a:solidFill>
              </a:rPr>
              <a:t>Mer komplex data → större behov av inlärda representationer</a:t>
            </a:r>
          </a:p>
        </p:txBody>
      </p:sp>
    </p:spTree>
    <p:extLst>
      <p:ext uri="{BB962C8B-B14F-4D97-AF65-F5344CB8AC3E}">
        <p14:creationId xmlns:p14="http://schemas.microsoft.com/office/powerpoint/2010/main" val="1825600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50D12-712B-D3BD-E3CD-18C529512D5B}"/>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7DFBBA05-5F64-3E80-AED0-8B66524F9368}"/>
              </a:ext>
            </a:extLst>
          </p:cNvPr>
          <p:cNvSpPr txBox="1"/>
          <p:nvPr/>
        </p:nvSpPr>
        <p:spPr>
          <a:xfrm>
            <a:off x="698662" y="122735"/>
            <a:ext cx="10794686" cy="830997"/>
          </a:xfrm>
          <a:prstGeom prst="rect">
            <a:avLst/>
          </a:prstGeom>
          <a:noFill/>
        </p:spPr>
        <p:txBody>
          <a:bodyPr wrap="none" rtlCol="0">
            <a:spAutoFit/>
          </a:bodyPr>
          <a:lstStyle/>
          <a:p>
            <a:pPr algn="ctr"/>
            <a:r>
              <a:rPr lang="en-US" sz="4800" noProof="0" dirty="0">
                <a:solidFill>
                  <a:schemeClr val="bg1"/>
                </a:solidFill>
              </a:rPr>
              <a:t>AI, Machine Learning och Deep Learning</a:t>
            </a:r>
            <a:endParaRPr lang="sv-SE" sz="4800" noProof="0" dirty="0">
              <a:solidFill>
                <a:schemeClr val="bg1"/>
              </a:solidFill>
            </a:endParaRPr>
          </a:p>
        </p:txBody>
      </p:sp>
      <p:sp>
        <p:nvSpPr>
          <p:cNvPr id="4" name="Ellips 3">
            <a:extLst>
              <a:ext uri="{FF2B5EF4-FFF2-40B4-BE49-F238E27FC236}">
                <a16:creationId xmlns:a16="http://schemas.microsoft.com/office/drawing/2014/main" id="{06F60306-3F9F-26C6-F3BB-761520911CD3}"/>
              </a:ext>
            </a:extLst>
          </p:cNvPr>
          <p:cNvSpPr/>
          <p:nvPr/>
        </p:nvSpPr>
        <p:spPr>
          <a:xfrm>
            <a:off x="3388822" y="1062644"/>
            <a:ext cx="5414356" cy="5414356"/>
          </a:xfrm>
          <a:prstGeom prst="ellipse">
            <a:avLst/>
          </a:prstGeom>
          <a:solidFill>
            <a:srgbClr val="161E24"/>
          </a:solidFill>
          <a:ln w="38100">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5" name="textruta 4">
            <a:extLst>
              <a:ext uri="{FF2B5EF4-FFF2-40B4-BE49-F238E27FC236}">
                <a16:creationId xmlns:a16="http://schemas.microsoft.com/office/drawing/2014/main" id="{7F0F34B2-DE9C-5533-4B8E-DFA32FEB89D2}"/>
              </a:ext>
            </a:extLst>
          </p:cNvPr>
          <p:cNvSpPr txBox="1"/>
          <p:nvPr/>
        </p:nvSpPr>
        <p:spPr>
          <a:xfrm>
            <a:off x="4427461" y="2110651"/>
            <a:ext cx="2140714" cy="369332"/>
          </a:xfrm>
          <a:prstGeom prst="rect">
            <a:avLst/>
          </a:prstGeom>
          <a:noFill/>
        </p:spPr>
        <p:txBody>
          <a:bodyPr wrap="none" rtlCol="0">
            <a:spAutoFit/>
          </a:bodyPr>
          <a:lstStyle/>
          <a:p>
            <a:r>
              <a:rPr lang="en-GB" dirty="0" err="1">
                <a:solidFill>
                  <a:schemeClr val="bg1"/>
                </a:solidFill>
              </a:rPr>
              <a:t>Artificiell</a:t>
            </a:r>
            <a:r>
              <a:rPr lang="en-GB" dirty="0">
                <a:solidFill>
                  <a:schemeClr val="bg1"/>
                </a:solidFill>
              </a:rPr>
              <a:t> </a:t>
            </a:r>
            <a:r>
              <a:rPr lang="en-GB" dirty="0" err="1">
                <a:solidFill>
                  <a:schemeClr val="bg1"/>
                </a:solidFill>
              </a:rPr>
              <a:t>Intelligens</a:t>
            </a:r>
            <a:endParaRPr lang="en-SE" dirty="0">
              <a:solidFill>
                <a:schemeClr val="bg1"/>
              </a:solidFill>
            </a:endParaRPr>
          </a:p>
        </p:txBody>
      </p:sp>
      <p:sp>
        <p:nvSpPr>
          <p:cNvPr id="7" name="Ellips 6">
            <a:extLst>
              <a:ext uri="{FF2B5EF4-FFF2-40B4-BE49-F238E27FC236}">
                <a16:creationId xmlns:a16="http://schemas.microsoft.com/office/drawing/2014/main" id="{5003082F-9DB2-1380-F400-3EB3C46CD704}"/>
              </a:ext>
            </a:extLst>
          </p:cNvPr>
          <p:cNvSpPr/>
          <p:nvPr/>
        </p:nvSpPr>
        <p:spPr>
          <a:xfrm>
            <a:off x="4721629" y="2806131"/>
            <a:ext cx="3424843" cy="3424843"/>
          </a:xfrm>
          <a:prstGeom prst="ellipse">
            <a:avLst/>
          </a:prstGeom>
          <a:solidFill>
            <a:schemeClr val="accent1">
              <a:lumMod val="50000"/>
            </a:schemeClr>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8" name="textruta 7">
            <a:extLst>
              <a:ext uri="{FF2B5EF4-FFF2-40B4-BE49-F238E27FC236}">
                <a16:creationId xmlns:a16="http://schemas.microsoft.com/office/drawing/2014/main" id="{E17FBB48-57DC-3171-A2E9-83BCF12A000F}"/>
              </a:ext>
            </a:extLst>
          </p:cNvPr>
          <p:cNvSpPr txBox="1"/>
          <p:nvPr/>
        </p:nvSpPr>
        <p:spPr>
          <a:xfrm>
            <a:off x="5213968" y="3751613"/>
            <a:ext cx="1946943" cy="369332"/>
          </a:xfrm>
          <a:prstGeom prst="rect">
            <a:avLst/>
          </a:prstGeom>
          <a:noFill/>
        </p:spPr>
        <p:txBody>
          <a:bodyPr wrap="none" rtlCol="0">
            <a:spAutoFit/>
          </a:bodyPr>
          <a:lstStyle/>
          <a:p>
            <a:r>
              <a:rPr lang="en-GB" dirty="0">
                <a:solidFill>
                  <a:schemeClr val="bg1"/>
                </a:solidFill>
              </a:rPr>
              <a:t>Machine Learning</a:t>
            </a:r>
            <a:endParaRPr lang="en-SE" dirty="0">
              <a:solidFill>
                <a:schemeClr val="bg1"/>
              </a:solidFill>
            </a:endParaRPr>
          </a:p>
        </p:txBody>
      </p:sp>
      <p:sp>
        <p:nvSpPr>
          <p:cNvPr id="9" name="Ellips 8">
            <a:extLst>
              <a:ext uri="{FF2B5EF4-FFF2-40B4-BE49-F238E27FC236}">
                <a16:creationId xmlns:a16="http://schemas.microsoft.com/office/drawing/2014/main" id="{3B6DEDCF-7C96-871A-1033-591C335F5E15}"/>
              </a:ext>
            </a:extLst>
          </p:cNvPr>
          <p:cNvSpPr/>
          <p:nvPr/>
        </p:nvSpPr>
        <p:spPr>
          <a:xfrm>
            <a:off x="5904807" y="4388827"/>
            <a:ext cx="1643149" cy="1643149"/>
          </a:xfrm>
          <a:prstGeom prst="ellipse">
            <a:avLst/>
          </a:prstGeom>
          <a:solidFill>
            <a:schemeClr val="accent1">
              <a:lumMod val="75000"/>
            </a:schemeClr>
          </a:solidFill>
          <a:ln w="381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0" name="textruta 9">
            <a:extLst>
              <a:ext uri="{FF2B5EF4-FFF2-40B4-BE49-F238E27FC236}">
                <a16:creationId xmlns:a16="http://schemas.microsoft.com/office/drawing/2014/main" id="{5B6DA30E-25A8-6CAE-25F4-687EEEBC0EA7}"/>
              </a:ext>
            </a:extLst>
          </p:cNvPr>
          <p:cNvSpPr txBox="1"/>
          <p:nvPr/>
        </p:nvSpPr>
        <p:spPr>
          <a:xfrm>
            <a:off x="5994994" y="5041124"/>
            <a:ext cx="1462773" cy="338554"/>
          </a:xfrm>
          <a:prstGeom prst="rect">
            <a:avLst/>
          </a:prstGeom>
          <a:noFill/>
        </p:spPr>
        <p:txBody>
          <a:bodyPr wrap="none" rtlCol="0">
            <a:spAutoFit/>
          </a:bodyPr>
          <a:lstStyle/>
          <a:p>
            <a:pPr algn="ctr"/>
            <a:r>
              <a:rPr lang="en-GB" sz="1600" dirty="0">
                <a:solidFill>
                  <a:schemeClr val="bg1"/>
                </a:solidFill>
              </a:rPr>
              <a:t>Deep Learning</a:t>
            </a:r>
            <a:endParaRPr lang="en-SE" sz="1600" dirty="0">
              <a:solidFill>
                <a:schemeClr val="bg1"/>
              </a:solidFill>
            </a:endParaRPr>
          </a:p>
        </p:txBody>
      </p:sp>
    </p:spTree>
    <p:extLst>
      <p:ext uri="{BB962C8B-B14F-4D97-AF65-F5344CB8AC3E}">
        <p14:creationId xmlns:p14="http://schemas.microsoft.com/office/powerpoint/2010/main" val="23089504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63438-CFC3-2F6A-7E88-70CFF505AB58}"/>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65DC1905-75F1-4ACB-F93F-088F2BF22EF4}"/>
              </a:ext>
            </a:extLst>
          </p:cNvPr>
          <p:cNvSpPr txBox="1"/>
          <p:nvPr/>
        </p:nvSpPr>
        <p:spPr>
          <a:xfrm>
            <a:off x="2320965" y="122735"/>
            <a:ext cx="7550080" cy="830997"/>
          </a:xfrm>
          <a:prstGeom prst="rect">
            <a:avLst/>
          </a:prstGeom>
          <a:noFill/>
        </p:spPr>
        <p:txBody>
          <a:bodyPr wrap="none" rtlCol="0">
            <a:spAutoFit/>
          </a:bodyPr>
          <a:lstStyle/>
          <a:p>
            <a:pPr algn="ctr"/>
            <a:r>
              <a:rPr lang="sv-SE" sz="4800" noProof="0" dirty="0">
                <a:solidFill>
                  <a:schemeClr val="bg1"/>
                </a:solidFill>
              </a:rPr>
              <a:t>Kärnidén i </a:t>
            </a:r>
            <a:r>
              <a:rPr lang="sv-SE" sz="4800" noProof="0" dirty="0" err="1">
                <a:solidFill>
                  <a:schemeClr val="bg1"/>
                </a:solidFill>
              </a:rPr>
              <a:t>machine</a:t>
            </a:r>
            <a:r>
              <a:rPr lang="sv-SE" sz="4800" noProof="0" dirty="0">
                <a:solidFill>
                  <a:schemeClr val="bg1"/>
                </a:solidFill>
              </a:rPr>
              <a:t> </a:t>
            </a:r>
            <a:r>
              <a:rPr lang="sv-SE" sz="4800" noProof="0" dirty="0" err="1">
                <a:solidFill>
                  <a:schemeClr val="bg1"/>
                </a:solidFill>
              </a:rPr>
              <a:t>learning</a:t>
            </a:r>
            <a:endParaRPr lang="sv-SE" sz="4800" noProof="0" dirty="0">
              <a:solidFill>
                <a:schemeClr val="bg1"/>
              </a:solidFill>
            </a:endParaRPr>
          </a:p>
        </p:txBody>
      </p:sp>
      <p:sp>
        <p:nvSpPr>
          <p:cNvPr id="3" name="Rektangel: rundade hörn 2">
            <a:extLst>
              <a:ext uri="{FF2B5EF4-FFF2-40B4-BE49-F238E27FC236}">
                <a16:creationId xmlns:a16="http://schemas.microsoft.com/office/drawing/2014/main" id="{C639B65C-CFEC-CE11-3BF7-DCDC8FC7CD4C}"/>
              </a:ext>
            </a:extLst>
          </p:cNvPr>
          <p:cNvSpPr/>
          <p:nvPr/>
        </p:nvSpPr>
        <p:spPr>
          <a:xfrm>
            <a:off x="532014" y="3260667"/>
            <a:ext cx="1722449" cy="706582"/>
          </a:xfrm>
          <a:prstGeom prst="roundRect">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Inputdata</a:t>
            </a:r>
            <a:endParaRPr lang="en-SE" dirty="0"/>
          </a:p>
        </p:txBody>
      </p:sp>
      <p:sp>
        <p:nvSpPr>
          <p:cNvPr id="4" name="Rektangel: rundade hörn 3">
            <a:extLst>
              <a:ext uri="{FF2B5EF4-FFF2-40B4-BE49-F238E27FC236}">
                <a16:creationId xmlns:a16="http://schemas.microsoft.com/office/drawing/2014/main" id="{154B0D23-9D6C-9D53-788B-F2A581DA1C6A}"/>
              </a:ext>
            </a:extLst>
          </p:cNvPr>
          <p:cNvSpPr/>
          <p:nvPr/>
        </p:nvSpPr>
        <p:spPr>
          <a:xfrm>
            <a:off x="2883395" y="3260667"/>
            <a:ext cx="1722449" cy="706582"/>
          </a:xfrm>
          <a:prstGeom prst="roundRect">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Modell</a:t>
            </a:r>
            <a:endParaRPr lang="en-SE" dirty="0"/>
          </a:p>
        </p:txBody>
      </p:sp>
      <p:sp>
        <p:nvSpPr>
          <p:cNvPr id="5" name="Rektangel: rundade hörn 4">
            <a:extLst>
              <a:ext uri="{FF2B5EF4-FFF2-40B4-BE49-F238E27FC236}">
                <a16:creationId xmlns:a16="http://schemas.microsoft.com/office/drawing/2014/main" id="{79386A38-1BB2-DAAE-8693-94FBCE87B470}"/>
              </a:ext>
            </a:extLst>
          </p:cNvPr>
          <p:cNvSpPr/>
          <p:nvPr/>
        </p:nvSpPr>
        <p:spPr>
          <a:xfrm>
            <a:off x="5234776" y="3260667"/>
            <a:ext cx="1722449" cy="706582"/>
          </a:xfrm>
          <a:prstGeom prst="roundRect">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Prediktion</a:t>
            </a:r>
            <a:endParaRPr lang="en-SE" dirty="0"/>
          </a:p>
        </p:txBody>
      </p:sp>
      <p:sp>
        <p:nvSpPr>
          <p:cNvPr id="7" name="Rektangel: rundade hörn 6">
            <a:extLst>
              <a:ext uri="{FF2B5EF4-FFF2-40B4-BE49-F238E27FC236}">
                <a16:creationId xmlns:a16="http://schemas.microsoft.com/office/drawing/2014/main" id="{63D4E423-C927-0987-186C-2DF9B8016B6C}"/>
              </a:ext>
            </a:extLst>
          </p:cNvPr>
          <p:cNvSpPr/>
          <p:nvPr/>
        </p:nvSpPr>
        <p:spPr>
          <a:xfrm>
            <a:off x="7586157" y="3260667"/>
            <a:ext cx="1722449" cy="706582"/>
          </a:xfrm>
          <a:prstGeom prst="roundRect">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Jämförelse</a:t>
            </a:r>
            <a:endParaRPr lang="en-SE" dirty="0"/>
          </a:p>
        </p:txBody>
      </p:sp>
      <p:sp>
        <p:nvSpPr>
          <p:cNvPr id="8" name="Rektangel: rundade hörn 7">
            <a:extLst>
              <a:ext uri="{FF2B5EF4-FFF2-40B4-BE49-F238E27FC236}">
                <a16:creationId xmlns:a16="http://schemas.microsoft.com/office/drawing/2014/main" id="{7E74857B-ADD2-ADE4-93D3-3940C4174CB4}"/>
              </a:ext>
            </a:extLst>
          </p:cNvPr>
          <p:cNvSpPr/>
          <p:nvPr/>
        </p:nvSpPr>
        <p:spPr>
          <a:xfrm>
            <a:off x="9937537" y="3260667"/>
            <a:ext cx="1722449" cy="706582"/>
          </a:xfrm>
          <a:prstGeom prst="roundRect">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Förbättring</a:t>
            </a:r>
            <a:endParaRPr lang="en-SE" dirty="0"/>
          </a:p>
        </p:txBody>
      </p:sp>
      <p:cxnSp>
        <p:nvCxnSpPr>
          <p:cNvPr id="10" name="Rak pilkoppling 9">
            <a:extLst>
              <a:ext uri="{FF2B5EF4-FFF2-40B4-BE49-F238E27FC236}">
                <a16:creationId xmlns:a16="http://schemas.microsoft.com/office/drawing/2014/main" id="{0623831F-4E6F-CA4E-335A-ACAE1EFE35EC}"/>
              </a:ext>
            </a:extLst>
          </p:cNvPr>
          <p:cNvCxnSpPr>
            <a:stCxn id="3" idx="3"/>
            <a:endCxn id="4" idx="1"/>
          </p:cNvCxnSpPr>
          <p:nvPr/>
        </p:nvCxnSpPr>
        <p:spPr>
          <a:xfrm>
            <a:off x="2254463" y="3613958"/>
            <a:ext cx="62893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Rak pilkoppling 11">
            <a:extLst>
              <a:ext uri="{FF2B5EF4-FFF2-40B4-BE49-F238E27FC236}">
                <a16:creationId xmlns:a16="http://schemas.microsoft.com/office/drawing/2014/main" id="{B15671C6-AE69-2D56-798B-85A4C158942E}"/>
              </a:ext>
            </a:extLst>
          </p:cNvPr>
          <p:cNvCxnSpPr>
            <a:stCxn id="4" idx="3"/>
            <a:endCxn id="5" idx="1"/>
          </p:cNvCxnSpPr>
          <p:nvPr/>
        </p:nvCxnSpPr>
        <p:spPr>
          <a:xfrm>
            <a:off x="4605844" y="3613958"/>
            <a:ext cx="62893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Rak pilkoppling 13">
            <a:extLst>
              <a:ext uri="{FF2B5EF4-FFF2-40B4-BE49-F238E27FC236}">
                <a16:creationId xmlns:a16="http://schemas.microsoft.com/office/drawing/2014/main" id="{7BD3DD28-8D7E-7107-C758-0DC095871C3E}"/>
              </a:ext>
            </a:extLst>
          </p:cNvPr>
          <p:cNvCxnSpPr>
            <a:stCxn id="5" idx="3"/>
            <a:endCxn id="7" idx="1"/>
          </p:cNvCxnSpPr>
          <p:nvPr/>
        </p:nvCxnSpPr>
        <p:spPr>
          <a:xfrm>
            <a:off x="6957225" y="3613958"/>
            <a:ext cx="62893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Rak pilkoppling 19">
            <a:extLst>
              <a:ext uri="{FF2B5EF4-FFF2-40B4-BE49-F238E27FC236}">
                <a16:creationId xmlns:a16="http://schemas.microsoft.com/office/drawing/2014/main" id="{96E136E3-C29E-A02F-8D24-99DF7CA510C0}"/>
              </a:ext>
            </a:extLst>
          </p:cNvPr>
          <p:cNvCxnSpPr>
            <a:stCxn id="7" idx="3"/>
            <a:endCxn id="8" idx="1"/>
          </p:cNvCxnSpPr>
          <p:nvPr/>
        </p:nvCxnSpPr>
        <p:spPr>
          <a:xfrm>
            <a:off x="9308606" y="3613958"/>
            <a:ext cx="62893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50716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C50D0-DEB2-6F3C-B1C4-0C3FD1FAF44E}"/>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DE1EA8E5-39D0-395A-7212-218C4990D046}"/>
              </a:ext>
            </a:extLst>
          </p:cNvPr>
          <p:cNvSpPr txBox="1"/>
          <p:nvPr/>
        </p:nvSpPr>
        <p:spPr>
          <a:xfrm>
            <a:off x="2613839" y="122735"/>
            <a:ext cx="6964343" cy="830997"/>
          </a:xfrm>
          <a:prstGeom prst="rect">
            <a:avLst/>
          </a:prstGeom>
          <a:noFill/>
        </p:spPr>
        <p:txBody>
          <a:bodyPr wrap="none" rtlCol="0">
            <a:spAutoFit/>
          </a:bodyPr>
          <a:lstStyle/>
          <a:p>
            <a:pPr algn="ctr"/>
            <a:r>
              <a:rPr lang="sv-SE" sz="4800" noProof="0" dirty="0">
                <a:solidFill>
                  <a:schemeClr val="bg1"/>
                </a:solidFill>
              </a:rPr>
              <a:t>Vad tillför Deep Learning?</a:t>
            </a:r>
          </a:p>
        </p:txBody>
      </p:sp>
      <p:sp>
        <p:nvSpPr>
          <p:cNvPr id="11" name="Rektangel: rundade hörn 10">
            <a:extLst>
              <a:ext uri="{FF2B5EF4-FFF2-40B4-BE49-F238E27FC236}">
                <a16:creationId xmlns:a16="http://schemas.microsoft.com/office/drawing/2014/main" id="{BA70F2CF-2995-35F8-83D3-445074B3B6FD}"/>
              </a:ext>
            </a:extLst>
          </p:cNvPr>
          <p:cNvSpPr/>
          <p:nvPr/>
        </p:nvSpPr>
        <p:spPr>
          <a:xfrm>
            <a:off x="1210483" y="2884515"/>
            <a:ext cx="1920240" cy="1379509"/>
          </a:xfrm>
          <a:prstGeom prst="roundRect">
            <a:avLst>
              <a:gd name="adj" fmla="val 7233"/>
            </a:avLst>
          </a:prstGeom>
          <a:solidFill>
            <a:srgbClr val="0B3041"/>
          </a:solidFill>
          <a:ln>
            <a:solidFill>
              <a:srgbClr val="0B30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5" name="Rektangel: rundade hörn 14">
            <a:extLst>
              <a:ext uri="{FF2B5EF4-FFF2-40B4-BE49-F238E27FC236}">
                <a16:creationId xmlns:a16="http://schemas.microsoft.com/office/drawing/2014/main" id="{B8A0D8D0-1F8E-C705-87F0-76D449B22EB1}"/>
              </a:ext>
            </a:extLst>
          </p:cNvPr>
          <p:cNvSpPr/>
          <p:nvPr/>
        </p:nvSpPr>
        <p:spPr>
          <a:xfrm>
            <a:off x="3642533" y="2884515"/>
            <a:ext cx="1948642" cy="1379509"/>
          </a:xfrm>
          <a:prstGeom prst="roundRect">
            <a:avLst>
              <a:gd name="adj" fmla="val 7233"/>
            </a:avLst>
          </a:prstGeom>
          <a:solidFill>
            <a:srgbClr val="0B3041"/>
          </a:solidFill>
          <a:ln>
            <a:solidFill>
              <a:srgbClr val="0B30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6" name="Rektangel: rundade hörn 15">
            <a:extLst>
              <a:ext uri="{FF2B5EF4-FFF2-40B4-BE49-F238E27FC236}">
                <a16:creationId xmlns:a16="http://schemas.microsoft.com/office/drawing/2014/main" id="{53377410-3145-8CB8-74F6-49524A6A77FD}"/>
              </a:ext>
            </a:extLst>
          </p:cNvPr>
          <p:cNvSpPr/>
          <p:nvPr/>
        </p:nvSpPr>
        <p:spPr>
          <a:xfrm>
            <a:off x="6096000" y="2884514"/>
            <a:ext cx="1948642" cy="1379509"/>
          </a:xfrm>
          <a:prstGeom prst="roundRect">
            <a:avLst>
              <a:gd name="adj" fmla="val 7233"/>
            </a:avLst>
          </a:prstGeom>
          <a:solidFill>
            <a:srgbClr val="0B3041"/>
          </a:solidFill>
          <a:ln>
            <a:solidFill>
              <a:srgbClr val="0B30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7" name="Rektangel: rundade hörn 16">
            <a:extLst>
              <a:ext uri="{FF2B5EF4-FFF2-40B4-BE49-F238E27FC236}">
                <a16:creationId xmlns:a16="http://schemas.microsoft.com/office/drawing/2014/main" id="{346F74A3-85D5-30D0-574C-26CE404F4610}"/>
              </a:ext>
            </a:extLst>
          </p:cNvPr>
          <p:cNvSpPr/>
          <p:nvPr/>
        </p:nvSpPr>
        <p:spPr>
          <a:xfrm>
            <a:off x="8623299" y="2884513"/>
            <a:ext cx="2358217" cy="1379509"/>
          </a:xfrm>
          <a:prstGeom prst="roundRect">
            <a:avLst>
              <a:gd name="adj" fmla="val 7233"/>
            </a:avLst>
          </a:prstGeom>
          <a:solidFill>
            <a:srgbClr val="0B3041"/>
          </a:solidFill>
          <a:ln>
            <a:solidFill>
              <a:srgbClr val="0B30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9" name="Bildobjekt 8">
            <a:extLst>
              <a:ext uri="{FF2B5EF4-FFF2-40B4-BE49-F238E27FC236}">
                <a16:creationId xmlns:a16="http://schemas.microsoft.com/office/drawing/2014/main" id="{295DB0EA-B4E6-6ED3-F396-A5A82A6273BA}"/>
              </a:ext>
            </a:extLst>
          </p:cNvPr>
          <p:cNvPicPr>
            <a:picLocks noChangeAspect="1"/>
          </p:cNvPicPr>
          <p:nvPr/>
        </p:nvPicPr>
        <p:blipFill>
          <a:blip r:embed="rId3">
            <a:extLst>
              <a:ext uri="{28A0092B-C50C-407E-A947-70E740481C1C}">
                <a14:useLocalDpi xmlns:a14="http://schemas.microsoft.com/office/drawing/2010/main" val="0"/>
              </a:ext>
            </a:extLst>
          </a:blip>
          <a:srcRect l="2862" t="35398" r="4165" b="43854"/>
          <a:stretch>
            <a:fillRect/>
          </a:stretch>
        </p:blipFill>
        <p:spPr>
          <a:xfrm>
            <a:off x="1179022" y="2851265"/>
            <a:ext cx="9833956" cy="1463040"/>
          </a:xfrm>
          <a:prstGeom prst="rect">
            <a:avLst/>
          </a:prstGeom>
        </p:spPr>
      </p:pic>
      <p:sp>
        <p:nvSpPr>
          <p:cNvPr id="18" name="Rektangel: rundade hörn 17">
            <a:extLst>
              <a:ext uri="{FF2B5EF4-FFF2-40B4-BE49-F238E27FC236}">
                <a16:creationId xmlns:a16="http://schemas.microsoft.com/office/drawing/2014/main" id="{402179AA-61A6-A480-DB7E-B8C1B2A94E80}"/>
              </a:ext>
            </a:extLst>
          </p:cNvPr>
          <p:cNvSpPr/>
          <p:nvPr/>
        </p:nvSpPr>
        <p:spPr>
          <a:xfrm>
            <a:off x="8728364" y="3000895"/>
            <a:ext cx="2152996" cy="1155469"/>
          </a:xfrm>
          <a:prstGeom prst="roundRect">
            <a:avLst>
              <a:gd name="adj" fmla="val 10912"/>
            </a:avLst>
          </a:prstGeom>
          <a:solidFill>
            <a:srgbClr val="0B3041"/>
          </a:solidFill>
          <a:ln>
            <a:solidFill>
              <a:srgbClr val="0B30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Katt: 0.92</a:t>
            </a:r>
          </a:p>
          <a:p>
            <a:r>
              <a:rPr lang="en-US" dirty="0"/>
              <a:t>Hund: 0.06</a:t>
            </a:r>
          </a:p>
          <a:p>
            <a:r>
              <a:rPr lang="en-US" dirty="0" err="1"/>
              <a:t>Annat</a:t>
            </a:r>
            <a:r>
              <a:rPr lang="en-US" dirty="0"/>
              <a:t>: 0.02</a:t>
            </a:r>
            <a:endParaRPr lang="en-SE" dirty="0"/>
          </a:p>
        </p:txBody>
      </p:sp>
      <p:sp>
        <p:nvSpPr>
          <p:cNvPr id="19" name="textruta 18">
            <a:extLst>
              <a:ext uri="{FF2B5EF4-FFF2-40B4-BE49-F238E27FC236}">
                <a16:creationId xmlns:a16="http://schemas.microsoft.com/office/drawing/2014/main" id="{633970F0-D1A5-660F-77D3-5BA945A56A1B}"/>
              </a:ext>
            </a:extLst>
          </p:cNvPr>
          <p:cNvSpPr txBox="1"/>
          <p:nvPr/>
        </p:nvSpPr>
        <p:spPr>
          <a:xfrm>
            <a:off x="1567936" y="4310035"/>
            <a:ext cx="1205331" cy="426207"/>
          </a:xfrm>
          <a:prstGeom prst="rect">
            <a:avLst/>
          </a:prstGeom>
          <a:noFill/>
        </p:spPr>
        <p:txBody>
          <a:bodyPr wrap="none" rtlCol="0">
            <a:spAutoFit/>
          </a:bodyPr>
          <a:lstStyle/>
          <a:p>
            <a:pPr algn="ctr">
              <a:lnSpc>
                <a:spcPct val="150000"/>
              </a:lnSpc>
            </a:pPr>
            <a:r>
              <a:rPr lang="en-US" sz="1600" dirty="0" err="1">
                <a:solidFill>
                  <a:schemeClr val="bg1"/>
                </a:solidFill>
              </a:rPr>
              <a:t>Pixelvärden</a:t>
            </a:r>
            <a:endParaRPr lang="sv-SE" sz="1600" noProof="0" dirty="0">
              <a:solidFill>
                <a:schemeClr val="bg1"/>
              </a:solidFill>
            </a:endParaRPr>
          </a:p>
        </p:txBody>
      </p:sp>
      <p:sp>
        <p:nvSpPr>
          <p:cNvPr id="21" name="textruta 20">
            <a:extLst>
              <a:ext uri="{FF2B5EF4-FFF2-40B4-BE49-F238E27FC236}">
                <a16:creationId xmlns:a16="http://schemas.microsoft.com/office/drawing/2014/main" id="{02B60A8D-0D16-D024-5A59-D521306A715A}"/>
              </a:ext>
            </a:extLst>
          </p:cNvPr>
          <p:cNvSpPr txBox="1"/>
          <p:nvPr/>
        </p:nvSpPr>
        <p:spPr>
          <a:xfrm>
            <a:off x="3466576" y="4310035"/>
            <a:ext cx="2300565" cy="426207"/>
          </a:xfrm>
          <a:prstGeom prst="rect">
            <a:avLst/>
          </a:prstGeom>
          <a:noFill/>
        </p:spPr>
        <p:txBody>
          <a:bodyPr wrap="none" rtlCol="0">
            <a:spAutoFit/>
          </a:bodyPr>
          <a:lstStyle/>
          <a:p>
            <a:pPr algn="ctr">
              <a:lnSpc>
                <a:spcPct val="150000"/>
              </a:lnSpc>
            </a:pPr>
            <a:r>
              <a:rPr lang="en-US" sz="1600" dirty="0">
                <a:solidFill>
                  <a:schemeClr val="bg1"/>
                </a:solidFill>
              </a:rPr>
              <a:t>Kanter och </a:t>
            </a:r>
            <a:r>
              <a:rPr lang="en-US" sz="1600" dirty="0" err="1">
                <a:solidFill>
                  <a:schemeClr val="bg1"/>
                </a:solidFill>
              </a:rPr>
              <a:t>enkla</a:t>
            </a:r>
            <a:r>
              <a:rPr lang="en-US" sz="1600" dirty="0">
                <a:solidFill>
                  <a:schemeClr val="bg1"/>
                </a:solidFill>
              </a:rPr>
              <a:t> former</a:t>
            </a:r>
            <a:endParaRPr lang="sv-SE" sz="1600" noProof="0" dirty="0">
              <a:solidFill>
                <a:schemeClr val="bg1"/>
              </a:solidFill>
            </a:endParaRPr>
          </a:p>
        </p:txBody>
      </p:sp>
      <p:sp>
        <p:nvSpPr>
          <p:cNvPr id="22" name="textruta 21">
            <a:extLst>
              <a:ext uri="{FF2B5EF4-FFF2-40B4-BE49-F238E27FC236}">
                <a16:creationId xmlns:a16="http://schemas.microsoft.com/office/drawing/2014/main" id="{5C29FF44-E911-9266-FE21-C5F51F5687BA}"/>
              </a:ext>
            </a:extLst>
          </p:cNvPr>
          <p:cNvSpPr txBox="1"/>
          <p:nvPr/>
        </p:nvSpPr>
        <p:spPr>
          <a:xfrm>
            <a:off x="6093186" y="4310035"/>
            <a:ext cx="1952266" cy="426207"/>
          </a:xfrm>
          <a:prstGeom prst="rect">
            <a:avLst/>
          </a:prstGeom>
          <a:noFill/>
        </p:spPr>
        <p:txBody>
          <a:bodyPr wrap="none" rtlCol="0">
            <a:spAutoFit/>
          </a:bodyPr>
          <a:lstStyle/>
          <a:p>
            <a:pPr algn="ctr">
              <a:lnSpc>
                <a:spcPct val="150000"/>
              </a:lnSpc>
            </a:pPr>
            <a:r>
              <a:rPr lang="en-US" sz="1600" dirty="0" err="1">
                <a:solidFill>
                  <a:schemeClr val="bg1"/>
                </a:solidFill>
              </a:rPr>
              <a:t>Delar</a:t>
            </a:r>
            <a:r>
              <a:rPr lang="en-US" sz="1600" dirty="0">
                <a:solidFill>
                  <a:schemeClr val="bg1"/>
                </a:solidFill>
              </a:rPr>
              <a:t> och </a:t>
            </a:r>
            <a:r>
              <a:rPr lang="en-US" sz="1600" dirty="0" err="1">
                <a:solidFill>
                  <a:schemeClr val="bg1"/>
                </a:solidFill>
              </a:rPr>
              <a:t>strukturer</a:t>
            </a:r>
            <a:endParaRPr lang="sv-SE" sz="1600" noProof="0" dirty="0">
              <a:solidFill>
                <a:schemeClr val="bg1"/>
              </a:solidFill>
            </a:endParaRPr>
          </a:p>
        </p:txBody>
      </p:sp>
      <p:sp>
        <p:nvSpPr>
          <p:cNvPr id="23" name="textruta 22">
            <a:extLst>
              <a:ext uri="{FF2B5EF4-FFF2-40B4-BE49-F238E27FC236}">
                <a16:creationId xmlns:a16="http://schemas.microsoft.com/office/drawing/2014/main" id="{8DD94D9B-E071-6095-E2A5-4ED1CCDFAEE1}"/>
              </a:ext>
            </a:extLst>
          </p:cNvPr>
          <p:cNvSpPr txBox="1"/>
          <p:nvPr/>
        </p:nvSpPr>
        <p:spPr>
          <a:xfrm>
            <a:off x="8592627" y="4310035"/>
            <a:ext cx="2419573" cy="426207"/>
          </a:xfrm>
          <a:prstGeom prst="rect">
            <a:avLst/>
          </a:prstGeom>
          <a:noFill/>
        </p:spPr>
        <p:txBody>
          <a:bodyPr wrap="none" rtlCol="0">
            <a:spAutoFit/>
          </a:bodyPr>
          <a:lstStyle/>
          <a:p>
            <a:pPr algn="ctr">
              <a:lnSpc>
                <a:spcPct val="150000"/>
              </a:lnSpc>
            </a:pPr>
            <a:r>
              <a:rPr lang="en-US" sz="1600" dirty="0" err="1">
                <a:solidFill>
                  <a:schemeClr val="bg1"/>
                </a:solidFill>
              </a:rPr>
              <a:t>Prediktion</a:t>
            </a:r>
            <a:r>
              <a:rPr lang="en-US" sz="1600" dirty="0">
                <a:solidFill>
                  <a:schemeClr val="bg1"/>
                </a:solidFill>
              </a:rPr>
              <a:t> / </a:t>
            </a:r>
            <a:r>
              <a:rPr lang="en-US" sz="1600" dirty="0" err="1">
                <a:solidFill>
                  <a:schemeClr val="bg1"/>
                </a:solidFill>
              </a:rPr>
              <a:t>Klassificering</a:t>
            </a:r>
            <a:endParaRPr lang="sv-SE" sz="1600" noProof="0" dirty="0">
              <a:solidFill>
                <a:schemeClr val="bg1"/>
              </a:solidFill>
            </a:endParaRPr>
          </a:p>
        </p:txBody>
      </p:sp>
    </p:spTree>
    <p:extLst>
      <p:ext uri="{BB962C8B-B14F-4D97-AF65-F5344CB8AC3E}">
        <p14:creationId xmlns:p14="http://schemas.microsoft.com/office/powerpoint/2010/main" val="39970826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C93E0-7CE9-2A45-C3D6-5CBF236667D2}"/>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33F7F7D7-B7EA-3523-1B59-D78AA50F5D9A}"/>
              </a:ext>
            </a:extLst>
          </p:cNvPr>
          <p:cNvSpPr txBox="1"/>
          <p:nvPr/>
        </p:nvSpPr>
        <p:spPr>
          <a:xfrm>
            <a:off x="1519830" y="122735"/>
            <a:ext cx="9152378" cy="830997"/>
          </a:xfrm>
          <a:prstGeom prst="rect">
            <a:avLst/>
          </a:prstGeom>
          <a:noFill/>
        </p:spPr>
        <p:txBody>
          <a:bodyPr wrap="none" rtlCol="0">
            <a:spAutoFit/>
          </a:bodyPr>
          <a:lstStyle/>
          <a:p>
            <a:pPr algn="ctr"/>
            <a:r>
              <a:rPr lang="sv-SE" sz="4800" noProof="0" dirty="0">
                <a:solidFill>
                  <a:schemeClr val="bg1"/>
                </a:solidFill>
              </a:rPr>
              <a:t>Varför blev </a:t>
            </a:r>
            <a:r>
              <a:rPr lang="sv-SE" sz="4800" noProof="0" dirty="0" err="1">
                <a:solidFill>
                  <a:schemeClr val="bg1"/>
                </a:solidFill>
              </a:rPr>
              <a:t>deep</a:t>
            </a:r>
            <a:r>
              <a:rPr lang="sv-SE" sz="4800" noProof="0" dirty="0">
                <a:solidFill>
                  <a:schemeClr val="bg1"/>
                </a:solidFill>
              </a:rPr>
              <a:t> </a:t>
            </a:r>
            <a:r>
              <a:rPr lang="sv-SE" sz="4800" noProof="0" dirty="0" err="1">
                <a:solidFill>
                  <a:schemeClr val="bg1"/>
                </a:solidFill>
              </a:rPr>
              <a:t>learning</a:t>
            </a:r>
            <a:r>
              <a:rPr lang="sv-SE" sz="4800" noProof="0" dirty="0">
                <a:solidFill>
                  <a:schemeClr val="bg1"/>
                </a:solidFill>
              </a:rPr>
              <a:t> så stort?</a:t>
            </a:r>
          </a:p>
        </p:txBody>
      </p:sp>
      <p:sp>
        <p:nvSpPr>
          <p:cNvPr id="3" name="textruta 2">
            <a:extLst>
              <a:ext uri="{FF2B5EF4-FFF2-40B4-BE49-F238E27FC236}">
                <a16:creationId xmlns:a16="http://schemas.microsoft.com/office/drawing/2014/main" id="{FA89F89D-87DC-5E1D-6F72-C67EBE261878}"/>
              </a:ext>
            </a:extLst>
          </p:cNvPr>
          <p:cNvSpPr txBox="1"/>
          <p:nvPr/>
        </p:nvSpPr>
        <p:spPr>
          <a:xfrm>
            <a:off x="1354032" y="2444403"/>
            <a:ext cx="6351354" cy="2615524"/>
          </a:xfrm>
          <a:prstGeom prst="rect">
            <a:avLst/>
          </a:prstGeom>
          <a:noFill/>
        </p:spPr>
        <p:txBody>
          <a:bodyPr wrap="none" rtlCol="0">
            <a:spAutoFit/>
          </a:bodyPr>
          <a:lstStyle/>
          <a:p>
            <a:pPr marL="571500" indent="-571500">
              <a:lnSpc>
                <a:spcPct val="150000"/>
              </a:lnSpc>
              <a:buFont typeface="Arial" panose="020B0604020202020204" pitchFamily="34" charset="0"/>
              <a:buChar char="•"/>
            </a:pPr>
            <a:r>
              <a:rPr lang="en-US" sz="2800" noProof="0" dirty="0">
                <a:solidFill>
                  <a:schemeClr val="bg1"/>
                </a:solidFill>
              </a:rPr>
              <a:t>Mer data</a:t>
            </a:r>
          </a:p>
          <a:p>
            <a:pPr marL="571500" indent="-571500">
              <a:lnSpc>
                <a:spcPct val="150000"/>
              </a:lnSpc>
              <a:buFont typeface="Arial" panose="020B0604020202020204" pitchFamily="34" charset="0"/>
              <a:buChar char="•"/>
            </a:pPr>
            <a:r>
              <a:rPr lang="en-US" sz="2800" dirty="0" err="1">
                <a:solidFill>
                  <a:schemeClr val="bg1"/>
                </a:solidFill>
              </a:rPr>
              <a:t>Bättre</a:t>
            </a:r>
            <a:r>
              <a:rPr lang="en-US" sz="2800" dirty="0">
                <a:solidFill>
                  <a:schemeClr val="bg1"/>
                </a:solidFill>
              </a:rPr>
              <a:t> </a:t>
            </a:r>
            <a:r>
              <a:rPr lang="en-US" sz="2800" dirty="0" err="1">
                <a:solidFill>
                  <a:schemeClr val="bg1"/>
                </a:solidFill>
              </a:rPr>
              <a:t>hårdvara</a:t>
            </a:r>
            <a:endParaRPr lang="en-US" sz="2800" dirty="0">
              <a:solidFill>
                <a:schemeClr val="bg1"/>
              </a:solidFill>
            </a:endParaRPr>
          </a:p>
          <a:p>
            <a:pPr marL="571500" indent="-571500">
              <a:lnSpc>
                <a:spcPct val="150000"/>
              </a:lnSpc>
              <a:buFont typeface="Arial" panose="020B0604020202020204" pitchFamily="34" charset="0"/>
              <a:buChar char="•"/>
            </a:pPr>
            <a:r>
              <a:rPr lang="en-US" sz="2800" noProof="0" dirty="0" err="1">
                <a:solidFill>
                  <a:schemeClr val="bg1"/>
                </a:solidFill>
              </a:rPr>
              <a:t>Bättre</a:t>
            </a:r>
            <a:r>
              <a:rPr lang="en-US" sz="2800" noProof="0" dirty="0">
                <a:solidFill>
                  <a:schemeClr val="bg1"/>
                </a:solidFill>
              </a:rPr>
              <a:t> </a:t>
            </a:r>
            <a:r>
              <a:rPr lang="en-US" sz="2800" noProof="0" dirty="0" err="1">
                <a:solidFill>
                  <a:schemeClr val="bg1"/>
                </a:solidFill>
              </a:rPr>
              <a:t>träningsmetoder</a:t>
            </a:r>
            <a:endParaRPr lang="en-US" sz="2800" noProof="0" dirty="0">
              <a:solidFill>
                <a:schemeClr val="bg1"/>
              </a:solidFill>
            </a:endParaRPr>
          </a:p>
          <a:p>
            <a:pPr marL="571500" indent="-571500">
              <a:lnSpc>
                <a:spcPct val="150000"/>
              </a:lnSpc>
              <a:buFont typeface="Arial" panose="020B0604020202020204" pitchFamily="34" charset="0"/>
              <a:buChar char="•"/>
            </a:pPr>
            <a:r>
              <a:rPr lang="en-US" sz="2800" dirty="0">
                <a:solidFill>
                  <a:schemeClr val="bg1"/>
                </a:solidFill>
              </a:rPr>
              <a:t>Starka </a:t>
            </a:r>
            <a:r>
              <a:rPr lang="en-US" sz="2800" dirty="0" err="1">
                <a:solidFill>
                  <a:schemeClr val="bg1"/>
                </a:solidFill>
              </a:rPr>
              <a:t>resultat</a:t>
            </a:r>
            <a:r>
              <a:rPr lang="en-US" sz="2800" dirty="0">
                <a:solidFill>
                  <a:schemeClr val="bg1"/>
                </a:solidFill>
              </a:rPr>
              <a:t> </a:t>
            </a:r>
            <a:r>
              <a:rPr lang="en-US" sz="2800" dirty="0" err="1">
                <a:solidFill>
                  <a:schemeClr val="bg1"/>
                </a:solidFill>
              </a:rPr>
              <a:t>i</a:t>
            </a:r>
            <a:r>
              <a:rPr lang="en-US" sz="2800" dirty="0">
                <a:solidFill>
                  <a:schemeClr val="bg1"/>
                </a:solidFill>
              </a:rPr>
              <a:t> </a:t>
            </a:r>
            <a:r>
              <a:rPr lang="en-US" sz="2800" dirty="0" err="1">
                <a:solidFill>
                  <a:schemeClr val="bg1"/>
                </a:solidFill>
              </a:rPr>
              <a:t>viktiga</a:t>
            </a:r>
            <a:r>
              <a:rPr lang="en-US" sz="2800" dirty="0">
                <a:solidFill>
                  <a:schemeClr val="bg1"/>
                </a:solidFill>
              </a:rPr>
              <a:t> </a:t>
            </a:r>
            <a:r>
              <a:rPr lang="en-US" sz="2800" dirty="0" err="1">
                <a:solidFill>
                  <a:schemeClr val="bg1"/>
                </a:solidFill>
              </a:rPr>
              <a:t>tillämpningar</a:t>
            </a:r>
            <a:endParaRPr lang="sv-SE" sz="2800" noProof="0" dirty="0">
              <a:solidFill>
                <a:schemeClr val="bg1"/>
              </a:solidFill>
            </a:endParaRPr>
          </a:p>
        </p:txBody>
      </p:sp>
    </p:spTree>
    <p:extLst>
      <p:ext uri="{BB962C8B-B14F-4D97-AF65-F5344CB8AC3E}">
        <p14:creationId xmlns:p14="http://schemas.microsoft.com/office/powerpoint/2010/main" val="25757534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99584-0743-E7F6-2739-C3DC47142206}"/>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9B3A24BC-F042-4659-6A28-E561BE9DAE48}"/>
              </a:ext>
            </a:extLst>
          </p:cNvPr>
          <p:cNvSpPr txBox="1"/>
          <p:nvPr/>
        </p:nvSpPr>
        <p:spPr>
          <a:xfrm>
            <a:off x="2537197" y="122735"/>
            <a:ext cx="7117654" cy="830997"/>
          </a:xfrm>
          <a:prstGeom prst="rect">
            <a:avLst/>
          </a:prstGeom>
          <a:noFill/>
        </p:spPr>
        <p:txBody>
          <a:bodyPr wrap="none" rtlCol="0">
            <a:spAutoFit/>
          </a:bodyPr>
          <a:lstStyle/>
          <a:p>
            <a:pPr algn="ctr"/>
            <a:r>
              <a:rPr lang="sv-SE" sz="4800" noProof="0" dirty="0">
                <a:solidFill>
                  <a:schemeClr val="bg1"/>
                </a:solidFill>
              </a:rPr>
              <a:t>När passar </a:t>
            </a:r>
            <a:r>
              <a:rPr lang="sv-SE" sz="4800" noProof="0" dirty="0" err="1">
                <a:solidFill>
                  <a:schemeClr val="bg1"/>
                </a:solidFill>
              </a:rPr>
              <a:t>deep</a:t>
            </a:r>
            <a:r>
              <a:rPr lang="sv-SE" sz="4800" noProof="0" dirty="0">
                <a:solidFill>
                  <a:schemeClr val="bg1"/>
                </a:solidFill>
              </a:rPr>
              <a:t> </a:t>
            </a:r>
            <a:r>
              <a:rPr lang="sv-SE" sz="4800" noProof="0" dirty="0" err="1">
                <a:solidFill>
                  <a:schemeClr val="bg1"/>
                </a:solidFill>
              </a:rPr>
              <a:t>learning</a:t>
            </a:r>
            <a:r>
              <a:rPr lang="sv-SE" sz="4800" noProof="0" dirty="0">
                <a:solidFill>
                  <a:schemeClr val="bg1"/>
                </a:solidFill>
              </a:rPr>
              <a:t>?</a:t>
            </a:r>
          </a:p>
        </p:txBody>
      </p:sp>
      <p:sp>
        <p:nvSpPr>
          <p:cNvPr id="3" name="textruta 2">
            <a:extLst>
              <a:ext uri="{FF2B5EF4-FFF2-40B4-BE49-F238E27FC236}">
                <a16:creationId xmlns:a16="http://schemas.microsoft.com/office/drawing/2014/main" id="{73521040-F222-34B0-654A-2F14B8F18447}"/>
              </a:ext>
            </a:extLst>
          </p:cNvPr>
          <p:cNvSpPr txBox="1"/>
          <p:nvPr/>
        </p:nvSpPr>
        <p:spPr>
          <a:xfrm>
            <a:off x="1354032" y="2444403"/>
            <a:ext cx="9700797" cy="2893100"/>
          </a:xfrm>
          <a:prstGeom prst="rect">
            <a:avLst/>
          </a:prstGeom>
          <a:noFill/>
        </p:spPr>
        <p:txBody>
          <a:bodyPr wrap="none" rtlCol="0">
            <a:spAutoFit/>
          </a:bodyPr>
          <a:lstStyle/>
          <a:p>
            <a:pPr marL="571500" indent="-571500">
              <a:lnSpc>
                <a:spcPct val="150000"/>
              </a:lnSpc>
              <a:buFont typeface="Arial" panose="020B0604020202020204" pitchFamily="34" charset="0"/>
              <a:buChar char="•"/>
            </a:pPr>
            <a:r>
              <a:rPr lang="en-US" sz="2800" noProof="0" dirty="0" err="1">
                <a:solidFill>
                  <a:schemeClr val="bg1"/>
                </a:solidFill>
              </a:rPr>
              <a:t>Ofta</a:t>
            </a:r>
            <a:r>
              <a:rPr lang="en-US" sz="2800" noProof="0" dirty="0">
                <a:solidFill>
                  <a:schemeClr val="bg1"/>
                </a:solidFill>
              </a:rPr>
              <a:t> </a:t>
            </a:r>
            <a:r>
              <a:rPr lang="en-US" sz="2800" noProof="0" dirty="0" err="1">
                <a:solidFill>
                  <a:schemeClr val="bg1"/>
                </a:solidFill>
              </a:rPr>
              <a:t>starkt</a:t>
            </a:r>
            <a:r>
              <a:rPr lang="en-US" sz="2800" noProof="0" dirty="0">
                <a:solidFill>
                  <a:schemeClr val="bg1"/>
                </a:solidFill>
              </a:rPr>
              <a:t> för:</a:t>
            </a:r>
          </a:p>
          <a:p>
            <a:pPr marL="1028700" lvl="1" indent="-571500">
              <a:buFont typeface="Arial" panose="020B0604020202020204" pitchFamily="34" charset="0"/>
              <a:buChar char="•"/>
            </a:pPr>
            <a:r>
              <a:rPr lang="en-US" sz="2800" dirty="0">
                <a:solidFill>
                  <a:schemeClr val="bg1"/>
                </a:solidFill>
              </a:rPr>
              <a:t>Bilder, </a:t>
            </a:r>
            <a:r>
              <a:rPr lang="en-US" sz="2800" dirty="0" err="1">
                <a:solidFill>
                  <a:schemeClr val="bg1"/>
                </a:solidFill>
              </a:rPr>
              <a:t>ljud</a:t>
            </a:r>
            <a:r>
              <a:rPr lang="en-US" sz="2800" dirty="0">
                <a:solidFill>
                  <a:schemeClr val="bg1"/>
                </a:solidFill>
              </a:rPr>
              <a:t>, text, </a:t>
            </a:r>
            <a:r>
              <a:rPr lang="en-US" sz="2800" dirty="0" err="1">
                <a:solidFill>
                  <a:schemeClr val="bg1"/>
                </a:solidFill>
              </a:rPr>
              <a:t>sekvenser</a:t>
            </a:r>
            <a:endParaRPr lang="en-US" sz="2800" dirty="0">
              <a:solidFill>
                <a:schemeClr val="bg1"/>
              </a:solidFill>
            </a:endParaRPr>
          </a:p>
          <a:p>
            <a:pPr marL="571500" indent="-571500">
              <a:lnSpc>
                <a:spcPct val="150000"/>
              </a:lnSpc>
              <a:buFont typeface="Arial" panose="020B0604020202020204" pitchFamily="34" charset="0"/>
              <a:buChar char="•"/>
            </a:pPr>
            <a:endParaRPr lang="en-US" sz="2800" noProof="0" dirty="0">
              <a:solidFill>
                <a:schemeClr val="bg1"/>
              </a:solidFill>
            </a:endParaRPr>
          </a:p>
          <a:p>
            <a:pPr marL="571500" indent="-571500">
              <a:lnSpc>
                <a:spcPct val="150000"/>
              </a:lnSpc>
              <a:buFont typeface="Arial" panose="020B0604020202020204" pitchFamily="34" charset="0"/>
              <a:buChar char="•"/>
            </a:pPr>
            <a:r>
              <a:rPr lang="en-US" sz="2800" dirty="0">
                <a:solidFill>
                  <a:schemeClr val="bg1"/>
                </a:solidFill>
              </a:rPr>
              <a:t>Inte </a:t>
            </a:r>
            <a:r>
              <a:rPr lang="en-US" sz="2800" dirty="0" err="1">
                <a:solidFill>
                  <a:schemeClr val="bg1"/>
                </a:solidFill>
              </a:rPr>
              <a:t>automatiskt</a:t>
            </a:r>
            <a:r>
              <a:rPr lang="en-US" sz="2800" dirty="0">
                <a:solidFill>
                  <a:schemeClr val="bg1"/>
                </a:solidFill>
              </a:rPr>
              <a:t> </a:t>
            </a:r>
            <a:r>
              <a:rPr lang="en-US" sz="2800" dirty="0" err="1">
                <a:solidFill>
                  <a:schemeClr val="bg1"/>
                </a:solidFill>
              </a:rPr>
              <a:t>bäst</a:t>
            </a:r>
            <a:r>
              <a:rPr lang="en-US" sz="2800" dirty="0">
                <a:solidFill>
                  <a:schemeClr val="bg1"/>
                </a:solidFill>
              </a:rPr>
              <a:t> för:</a:t>
            </a:r>
          </a:p>
          <a:p>
            <a:pPr marL="1028700" lvl="1" indent="-571500">
              <a:buFont typeface="Arial" panose="020B0604020202020204" pitchFamily="34" charset="0"/>
              <a:buChar char="•"/>
            </a:pPr>
            <a:r>
              <a:rPr lang="en-US" sz="2800" noProof="0" dirty="0">
                <a:solidFill>
                  <a:schemeClr val="bg1"/>
                </a:solidFill>
              </a:rPr>
              <a:t>Liten </a:t>
            </a:r>
            <a:r>
              <a:rPr lang="en-US" sz="2800" noProof="0" dirty="0" err="1">
                <a:solidFill>
                  <a:schemeClr val="bg1"/>
                </a:solidFill>
              </a:rPr>
              <a:t>tabulär</a:t>
            </a:r>
            <a:r>
              <a:rPr lang="en-US" sz="2800" noProof="0" dirty="0">
                <a:solidFill>
                  <a:schemeClr val="bg1"/>
                </a:solidFill>
              </a:rPr>
              <a:t> data, </a:t>
            </a:r>
            <a:r>
              <a:rPr lang="en-US" sz="2800" noProof="0" dirty="0" err="1">
                <a:solidFill>
                  <a:schemeClr val="bg1"/>
                </a:solidFill>
              </a:rPr>
              <a:t>enklare</a:t>
            </a:r>
            <a:r>
              <a:rPr lang="en-US" sz="2800" noProof="0" dirty="0">
                <a:solidFill>
                  <a:schemeClr val="bg1"/>
                </a:solidFill>
              </a:rPr>
              <a:t> problem, </a:t>
            </a:r>
            <a:r>
              <a:rPr lang="en-US" sz="2800" noProof="0" dirty="0" err="1">
                <a:solidFill>
                  <a:schemeClr val="bg1"/>
                </a:solidFill>
              </a:rPr>
              <a:t>höga</a:t>
            </a:r>
            <a:r>
              <a:rPr lang="en-US" sz="2800" noProof="0" dirty="0">
                <a:solidFill>
                  <a:schemeClr val="bg1"/>
                </a:solidFill>
              </a:rPr>
              <a:t> </a:t>
            </a:r>
            <a:r>
              <a:rPr lang="en-US" sz="2800" noProof="0" dirty="0" err="1">
                <a:solidFill>
                  <a:schemeClr val="bg1"/>
                </a:solidFill>
              </a:rPr>
              <a:t>tolkningskrav</a:t>
            </a:r>
            <a:endParaRPr lang="sv-SE" sz="2800" noProof="0" dirty="0">
              <a:solidFill>
                <a:schemeClr val="bg1"/>
              </a:solidFill>
            </a:endParaRPr>
          </a:p>
        </p:txBody>
      </p:sp>
    </p:spTree>
    <p:extLst>
      <p:ext uri="{BB962C8B-B14F-4D97-AF65-F5344CB8AC3E}">
        <p14:creationId xmlns:p14="http://schemas.microsoft.com/office/powerpoint/2010/main" val="19654135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6900B-2E24-98D7-B019-4B34D9D3BE49}"/>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C6F16270-6BC6-A3D2-D5AF-05E6974EC966}"/>
              </a:ext>
            </a:extLst>
          </p:cNvPr>
          <p:cNvSpPr txBox="1"/>
          <p:nvPr/>
        </p:nvSpPr>
        <p:spPr>
          <a:xfrm>
            <a:off x="2944007" y="122735"/>
            <a:ext cx="6304034" cy="830997"/>
          </a:xfrm>
          <a:prstGeom prst="rect">
            <a:avLst/>
          </a:prstGeom>
          <a:noFill/>
        </p:spPr>
        <p:txBody>
          <a:bodyPr wrap="none" rtlCol="0">
            <a:spAutoFit/>
          </a:bodyPr>
          <a:lstStyle/>
          <a:p>
            <a:pPr algn="ctr"/>
            <a:r>
              <a:rPr lang="sv-SE" sz="4800" noProof="0" dirty="0">
                <a:solidFill>
                  <a:schemeClr val="bg1"/>
                </a:solidFill>
              </a:rPr>
              <a:t>Vad ska vi fokusera på?</a:t>
            </a:r>
          </a:p>
        </p:txBody>
      </p:sp>
      <p:sp>
        <p:nvSpPr>
          <p:cNvPr id="3" name="textruta 2">
            <a:extLst>
              <a:ext uri="{FF2B5EF4-FFF2-40B4-BE49-F238E27FC236}">
                <a16:creationId xmlns:a16="http://schemas.microsoft.com/office/drawing/2014/main" id="{11AEBA99-AF86-8456-2D4E-BADE22DC3FCF}"/>
              </a:ext>
            </a:extLst>
          </p:cNvPr>
          <p:cNvSpPr txBox="1"/>
          <p:nvPr/>
        </p:nvSpPr>
        <p:spPr>
          <a:xfrm>
            <a:off x="1354032" y="1995516"/>
            <a:ext cx="5198731" cy="3261855"/>
          </a:xfrm>
          <a:prstGeom prst="rect">
            <a:avLst/>
          </a:prstGeom>
          <a:noFill/>
        </p:spPr>
        <p:txBody>
          <a:bodyPr wrap="none" rtlCol="0">
            <a:spAutoFit/>
          </a:bodyPr>
          <a:lstStyle/>
          <a:p>
            <a:pPr marL="571500" indent="-571500">
              <a:lnSpc>
                <a:spcPct val="150000"/>
              </a:lnSpc>
              <a:buFont typeface="Arial" panose="020B0604020202020204" pitchFamily="34" charset="0"/>
              <a:buChar char="•"/>
            </a:pPr>
            <a:r>
              <a:rPr lang="en-US" sz="2800" noProof="0" dirty="0" err="1">
                <a:solidFill>
                  <a:schemeClr val="bg1"/>
                </a:solidFill>
              </a:rPr>
              <a:t>Neurala</a:t>
            </a:r>
            <a:r>
              <a:rPr lang="en-US" sz="2800" noProof="0" dirty="0">
                <a:solidFill>
                  <a:schemeClr val="bg1"/>
                </a:solidFill>
              </a:rPr>
              <a:t> </a:t>
            </a:r>
            <a:r>
              <a:rPr lang="en-US" sz="2800" noProof="0" dirty="0" err="1">
                <a:solidFill>
                  <a:schemeClr val="bg1"/>
                </a:solidFill>
              </a:rPr>
              <a:t>nätverk</a:t>
            </a:r>
            <a:endParaRPr lang="en-US" sz="2800" noProof="0" dirty="0">
              <a:solidFill>
                <a:schemeClr val="bg1"/>
              </a:solidFill>
            </a:endParaRPr>
          </a:p>
          <a:p>
            <a:pPr marL="571500" indent="-571500">
              <a:lnSpc>
                <a:spcPct val="150000"/>
              </a:lnSpc>
              <a:buFont typeface="Arial" panose="020B0604020202020204" pitchFamily="34" charset="0"/>
              <a:buChar char="•"/>
            </a:pPr>
            <a:r>
              <a:rPr lang="en-US" sz="2800" dirty="0">
                <a:solidFill>
                  <a:schemeClr val="bg1"/>
                </a:solidFill>
              </a:rPr>
              <a:t>Träning</a:t>
            </a:r>
          </a:p>
          <a:p>
            <a:pPr marL="571500" indent="-571500">
              <a:lnSpc>
                <a:spcPct val="150000"/>
              </a:lnSpc>
              <a:buFont typeface="Arial" panose="020B0604020202020204" pitchFamily="34" charset="0"/>
              <a:buChar char="•"/>
            </a:pPr>
            <a:r>
              <a:rPr lang="en-US" sz="2800" noProof="0" dirty="0">
                <a:solidFill>
                  <a:schemeClr val="bg1"/>
                </a:solidFill>
              </a:rPr>
              <a:t>Overfitting</a:t>
            </a:r>
          </a:p>
          <a:p>
            <a:pPr marL="571500" indent="-571500">
              <a:lnSpc>
                <a:spcPct val="150000"/>
              </a:lnSpc>
              <a:buFont typeface="Arial" panose="020B0604020202020204" pitchFamily="34" charset="0"/>
              <a:buChar char="•"/>
            </a:pPr>
            <a:r>
              <a:rPr lang="en-US" sz="2800" dirty="0" err="1">
                <a:solidFill>
                  <a:schemeClr val="bg1"/>
                </a:solidFill>
              </a:rPr>
              <a:t>Bilddata</a:t>
            </a:r>
            <a:r>
              <a:rPr lang="en-US" sz="2800" dirty="0">
                <a:solidFill>
                  <a:schemeClr val="bg1"/>
                </a:solidFill>
              </a:rPr>
              <a:t> och CNN</a:t>
            </a:r>
          </a:p>
          <a:p>
            <a:pPr marL="571500" indent="-571500">
              <a:lnSpc>
                <a:spcPct val="150000"/>
              </a:lnSpc>
              <a:buFont typeface="Arial" panose="020B0604020202020204" pitchFamily="34" charset="0"/>
              <a:buChar char="•"/>
            </a:pPr>
            <a:r>
              <a:rPr lang="en-US" sz="2800" noProof="0" dirty="0" err="1">
                <a:solidFill>
                  <a:schemeClr val="bg1"/>
                </a:solidFill>
              </a:rPr>
              <a:t>Modellval</a:t>
            </a:r>
            <a:r>
              <a:rPr lang="en-US" sz="2800" noProof="0" dirty="0">
                <a:solidFill>
                  <a:schemeClr val="bg1"/>
                </a:solidFill>
              </a:rPr>
              <a:t> och </a:t>
            </a:r>
            <a:r>
              <a:rPr lang="en-US" sz="2800" noProof="0" dirty="0" err="1">
                <a:solidFill>
                  <a:schemeClr val="bg1"/>
                </a:solidFill>
              </a:rPr>
              <a:t>begränsningar</a:t>
            </a:r>
            <a:endParaRPr lang="sv-SE" sz="2800" noProof="0" dirty="0">
              <a:solidFill>
                <a:schemeClr val="bg1"/>
              </a:solidFill>
            </a:endParaRPr>
          </a:p>
        </p:txBody>
      </p:sp>
    </p:spTree>
    <p:extLst>
      <p:ext uri="{BB962C8B-B14F-4D97-AF65-F5344CB8AC3E}">
        <p14:creationId xmlns:p14="http://schemas.microsoft.com/office/powerpoint/2010/main" val="16635871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C8A69-3BE9-4B45-1CBE-EA2ACE3DCAF3}"/>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F83992B6-8EDB-07EB-65A9-91E824AACE7B}"/>
              </a:ext>
            </a:extLst>
          </p:cNvPr>
          <p:cNvSpPr txBox="1"/>
          <p:nvPr/>
        </p:nvSpPr>
        <p:spPr>
          <a:xfrm>
            <a:off x="3226555" y="122735"/>
            <a:ext cx="5738942" cy="830997"/>
          </a:xfrm>
          <a:prstGeom prst="rect">
            <a:avLst/>
          </a:prstGeom>
          <a:noFill/>
        </p:spPr>
        <p:txBody>
          <a:bodyPr wrap="none" rtlCol="0">
            <a:spAutoFit/>
          </a:bodyPr>
          <a:lstStyle/>
          <a:p>
            <a:pPr algn="ctr"/>
            <a:r>
              <a:rPr lang="sv-SE" sz="4800" noProof="0" dirty="0">
                <a:solidFill>
                  <a:schemeClr val="bg1"/>
                </a:solidFill>
              </a:rPr>
              <a:t>ML fortfarande viktigt</a:t>
            </a:r>
          </a:p>
        </p:txBody>
      </p:sp>
      <p:sp>
        <p:nvSpPr>
          <p:cNvPr id="3" name="textruta 2">
            <a:extLst>
              <a:ext uri="{FF2B5EF4-FFF2-40B4-BE49-F238E27FC236}">
                <a16:creationId xmlns:a16="http://schemas.microsoft.com/office/drawing/2014/main" id="{333CFC49-D6BB-190F-2390-6DE425CBCF2D}"/>
              </a:ext>
            </a:extLst>
          </p:cNvPr>
          <p:cNvSpPr txBox="1"/>
          <p:nvPr/>
        </p:nvSpPr>
        <p:spPr>
          <a:xfrm>
            <a:off x="1354032" y="1712883"/>
            <a:ext cx="4144276" cy="3908186"/>
          </a:xfrm>
          <a:prstGeom prst="rect">
            <a:avLst/>
          </a:prstGeom>
          <a:noFill/>
        </p:spPr>
        <p:txBody>
          <a:bodyPr wrap="none" rtlCol="0">
            <a:spAutoFit/>
          </a:bodyPr>
          <a:lstStyle/>
          <a:p>
            <a:pPr marL="571500" indent="-571500">
              <a:lnSpc>
                <a:spcPct val="150000"/>
              </a:lnSpc>
              <a:buFont typeface="Arial" panose="020B0604020202020204" pitchFamily="34" charset="0"/>
              <a:buChar char="•"/>
            </a:pPr>
            <a:r>
              <a:rPr lang="en-US" sz="2800" noProof="0" dirty="0">
                <a:solidFill>
                  <a:schemeClr val="bg1"/>
                </a:solidFill>
              </a:rPr>
              <a:t>Train / validation / test</a:t>
            </a:r>
          </a:p>
          <a:p>
            <a:pPr marL="571500" indent="-571500">
              <a:lnSpc>
                <a:spcPct val="150000"/>
              </a:lnSpc>
              <a:buFont typeface="Arial" panose="020B0604020202020204" pitchFamily="34" charset="0"/>
              <a:buChar char="•"/>
            </a:pPr>
            <a:r>
              <a:rPr lang="en-US" sz="2800" dirty="0" err="1">
                <a:solidFill>
                  <a:schemeClr val="bg1"/>
                </a:solidFill>
              </a:rPr>
              <a:t>Generalisering</a:t>
            </a:r>
            <a:endParaRPr lang="en-US" sz="2800" dirty="0">
              <a:solidFill>
                <a:schemeClr val="bg1"/>
              </a:solidFill>
            </a:endParaRPr>
          </a:p>
          <a:p>
            <a:pPr marL="571500" indent="-571500">
              <a:lnSpc>
                <a:spcPct val="150000"/>
              </a:lnSpc>
              <a:buFont typeface="Arial" panose="020B0604020202020204" pitchFamily="34" charset="0"/>
              <a:buChar char="•"/>
            </a:pPr>
            <a:r>
              <a:rPr lang="en-US" sz="2800" noProof="0" dirty="0">
                <a:solidFill>
                  <a:schemeClr val="bg1"/>
                </a:solidFill>
              </a:rPr>
              <a:t>Overfitting</a:t>
            </a:r>
          </a:p>
          <a:p>
            <a:pPr marL="571500" indent="-571500">
              <a:lnSpc>
                <a:spcPct val="150000"/>
              </a:lnSpc>
              <a:buFont typeface="Arial" panose="020B0604020202020204" pitchFamily="34" charset="0"/>
              <a:buChar char="•"/>
            </a:pPr>
            <a:r>
              <a:rPr lang="en-US" sz="2800" dirty="0">
                <a:solidFill>
                  <a:schemeClr val="bg1"/>
                </a:solidFill>
              </a:rPr>
              <a:t>Metrics</a:t>
            </a:r>
          </a:p>
          <a:p>
            <a:pPr marL="571500" indent="-571500">
              <a:lnSpc>
                <a:spcPct val="150000"/>
              </a:lnSpc>
              <a:buFont typeface="Arial" panose="020B0604020202020204" pitchFamily="34" charset="0"/>
              <a:buChar char="•"/>
            </a:pPr>
            <a:r>
              <a:rPr lang="en-US" sz="2800" noProof="0" dirty="0" err="1">
                <a:solidFill>
                  <a:schemeClr val="bg1"/>
                </a:solidFill>
              </a:rPr>
              <a:t>Datakvalitet</a:t>
            </a:r>
            <a:endParaRPr lang="en-US" sz="2800" noProof="0" dirty="0">
              <a:solidFill>
                <a:schemeClr val="bg1"/>
              </a:solidFill>
            </a:endParaRPr>
          </a:p>
          <a:p>
            <a:pPr marL="571500" indent="-571500">
              <a:lnSpc>
                <a:spcPct val="150000"/>
              </a:lnSpc>
              <a:buFont typeface="Arial" panose="020B0604020202020204" pitchFamily="34" charset="0"/>
              <a:buChar char="•"/>
            </a:pPr>
            <a:r>
              <a:rPr lang="en-US" sz="2800" dirty="0" err="1">
                <a:solidFill>
                  <a:schemeClr val="bg1"/>
                </a:solidFill>
              </a:rPr>
              <a:t>Problemformulering</a:t>
            </a:r>
            <a:endParaRPr lang="sv-SE" sz="2800" noProof="0" dirty="0">
              <a:solidFill>
                <a:schemeClr val="bg1"/>
              </a:solidFill>
            </a:endParaRPr>
          </a:p>
        </p:txBody>
      </p:sp>
    </p:spTree>
    <p:extLst>
      <p:ext uri="{BB962C8B-B14F-4D97-AF65-F5344CB8AC3E}">
        <p14:creationId xmlns:p14="http://schemas.microsoft.com/office/powerpoint/2010/main" val="15281706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5A8EE-E1B2-5416-12C9-069753EDF2D1}"/>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44EAAACF-3D4C-5FA9-6F3F-56AE8882FE07}"/>
              </a:ext>
            </a:extLst>
          </p:cNvPr>
          <p:cNvSpPr txBox="1"/>
          <p:nvPr/>
        </p:nvSpPr>
        <p:spPr>
          <a:xfrm>
            <a:off x="3908220" y="122735"/>
            <a:ext cx="4375621" cy="830997"/>
          </a:xfrm>
          <a:prstGeom prst="rect">
            <a:avLst/>
          </a:prstGeom>
          <a:noFill/>
        </p:spPr>
        <p:txBody>
          <a:bodyPr wrap="none" rtlCol="0">
            <a:spAutoFit/>
          </a:bodyPr>
          <a:lstStyle/>
          <a:p>
            <a:pPr algn="ctr"/>
            <a:r>
              <a:rPr lang="sv-SE" sz="4800" noProof="0" dirty="0">
                <a:solidFill>
                  <a:schemeClr val="bg1"/>
                </a:solidFill>
              </a:rPr>
              <a:t>Neurala nätverk</a:t>
            </a:r>
          </a:p>
        </p:txBody>
      </p:sp>
      <p:grpSp>
        <p:nvGrpSpPr>
          <p:cNvPr id="172" name="Grupp 171">
            <a:extLst>
              <a:ext uri="{FF2B5EF4-FFF2-40B4-BE49-F238E27FC236}">
                <a16:creationId xmlns:a16="http://schemas.microsoft.com/office/drawing/2014/main" id="{FA05A30D-F5CF-8036-DEAA-75B6E74C4FE5}"/>
              </a:ext>
            </a:extLst>
          </p:cNvPr>
          <p:cNvGrpSpPr/>
          <p:nvPr/>
        </p:nvGrpSpPr>
        <p:grpSpPr>
          <a:xfrm>
            <a:off x="2143299" y="2107277"/>
            <a:ext cx="7905402" cy="3391593"/>
            <a:chOff x="2143299" y="2107277"/>
            <a:chExt cx="7905402" cy="3391593"/>
          </a:xfrm>
        </p:grpSpPr>
        <p:sp>
          <p:nvSpPr>
            <p:cNvPr id="4" name="Ellips 3">
              <a:extLst>
                <a:ext uri="{FF2B5EF4-FFF2-40B4-BE49-F238E27FC236}">
                  <a16:creationId xmlns:a16="http://schemas.microsoft.com/office/drawing/2014/main" id="{A029864E-3D82-F95B-A2D2-F32AC99A6D40}"/>
                </a:ext>
              </a:extLst>
            </p:cNvPr>
            <p:cNvSpPr/>
            <p:nvPr/>
          </p:nvSpPr>
          <p:spPr>
            <a:xfrm>
              <a:off x="2143299" y="2553393"/>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5" name="Ellips 4">
              <a:extLst>
                <a:ext uri="{FF2B5EF4-FFF2-40B4-BE49-F238E27FC236}">
                  <a16:creationId xmlns:a16="http://schemas.microsoft.com/office/drawing/2014/main" id="{0A51BDD8-F65A-0409-6342-BD852CC4A441}"/>
                </a:ext>
              </a:extLst>
            </p:cNvPr>
            <p:cNvSpPr/>
            <p:nvPr/>
          </p:nvSpPr>
          <p:spPr>
            <a:xfrm>
              <a:off x="2143299" y="3470564"/>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6" name="Ellips 5">
              <a:extLst>
                <a:ext uri="{FF2B5EF4-FFF2-40B4-BE49-F238E27FC236}">
                  <a16:creationId xmlns:a16="http://schemas.microsoft.com/office/drawing/2014/main" id="{702FA20D-7B58-B8A1-F004-B4D9FE5B22B7}"/>
                </a:ext>
              </a:extLst>
            </p:cNvPr>
            <p:cNvSpPr/>
            <p:nvPr/>
          </p:nvSpPr>
          <p:spPr>
            <a:xfrm>
              <a:off x="2143299" y="4387735"/>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7" name="Ellips 6">
              <a:extLst>
                <a:ext uri="{FF2B5EF4-FFF2-40B4-BE49-F238E27FC236}">
                  <a16:creationId xmlns:a16="http://schemas.microsoft.com/office/drawing/2014/main" id="{E2085B39-3527-264B-D3E2-510BB947914D}"/>
                </a:ext>
              </a:extLst>
            </p:cNvPr>
            <p:cNvSpPr/>
            <p:nvPr/>
          </p:nvSpPr>
          <p:spPr>
            <a:xfrm>
              <a:off x="4565073" y="2107277"/>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8" name="Ellips 7">
              <a:extLst>
                <a:ext uri="{FF2B5EF4-FFF2-40B4-BE49-F238E27FC236}">
                  <a16:creationId xmlns:a16="http://schemas.microsoft.com/office/drawing/2014/main" id="{FB74C729-A380-4027-019C-DAABCA343BA9}"/>
                </a:ext>
              </a:extLst>
            </p:cNvPr>
            <p:cNvSpPr/>
            <p:nvPr/>
          </p:nvSpPr>
          <p:spPr>
            <a:xfrm>
              <a:off x="4565073" y="3024448"/>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 name="Ellips 8">
              <a:extLst>
                <a:ext uri="{FF2B5EF4-FFF2-40B4-BE49-F238E27FC236}">
                  <a16:creationId xmlns:a16="http://schemas.microsoft.com/office/drawing/2014/main" id="{60E1EF57-0604-FE6F-75FA-7DCD70D37511}"/>
                </a:ext>
              </a:extLst>
            </p:cNvPr>
            <p:cNvSpPr/>
            <p:nvPr/>
          </p:nvSpPr>
          <p:spPr>
            <a:xfrm>
              <a:off x="4565073" y="3941619"/>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0" name="Ellips 9">
              <a:extLst>
                <a:ext uri="{FF2B5EF4-FFF2-40B4-BE49-F238E27FC236}">
                  <a16:creationId xmlns:a16="http://schemas.microsoft.com/office/drawing/2014/main" id="{1849A127-ABCA-978E-DE8F-21FDF293492F}"/>
                </a:ext>
              </a:extLst>
            </p:cNvPr>
            <p:cNvSpPr/>
            <p:nvPr/>
          </p:nvSpPr>
          <p:spPr>
            <a:xfrm>
              <a:off x="4565073" y="4858790"/>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1" name="Ellips 10">
              <a:extLst>
                <a:ext uri="{FF2B5EF4-FFF2-40B4-BE49-F238E27FC236}">
                  <a16:creationId xmlns:a16="http://schemas.microsoft.com/office/drawing/2014/main" id="{591E1518-5571-AE56-EE50-C69FAFF31492}"/>
                </a:ext>
              </a:extLst>
            </p:cNvPr>
            <p:cNvSpPr/>
            <p:nvPr/>
          </p:nvSpPr>
          <p:spPr>
            <a:xfrm>
              <a:off x="6986847" y="2107277"/>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2" name="Ellips 11">
              <a:extLst>
                <a:ext uri="{FF2B5EF4-FFF2-40B4-BE49-F238E27FC236}">
                  <a16:creationId xmlns:a16="http://schemas.microsoft.com/office/drawing/2014/main" id="{76C96DD5-805D-9F00-1326-2D15239AB141}"/>
                </a:ext>
              </a:extLst>
            </p:cNvPr>
            <p:cNvSpPr/>
            <p:nvPr/>
          </p:nvSpPr>
          <p:spPr>
            <a:xfrm>
              <a:off x="6986847" y="3024448"/>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3" name="Ellips 12">
              <a:extLst>
                <a:ext uri="{FF2B5EF4-FFF2-40B4-BE49-F238E27FC236}">
                  <a16:creationId xmlns:a16="http://schemas.microsoft.com/office/drawing/2014/main" id="{05D66B49-1432-C8E3-D084-91802CFE5D35}"/>
                </a:ext>
              </a:extLst>
            </p:cNvPr>
            <p:cNvSpPr/>
            <p:nvPr/>
          </p:nvSpPr>
          <p:spPr>
            <a:xfrm>
              <a:off x="6986847" y="3941619"/>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4" name="Ellips 13">
              <a:extLst>
                <a:ext uri="{FF2B5EF4-FFF2-40B4-BE49-F238E27FC236}">
                  <a16:creationId xmlns:a16="http://schemas.microsoft.com/office/drawing/2014/main" id="{4ADC111B-EB17-AD06-4C16-334400D3E583}"/>
                </a:ext>
              </a:extLst>
            </p:cNvPr>
            <p:cNvSpPr/>
            <p:nvPr/>
          </p:nvSpPr>
          <p:spPr>
            <a:xfrm>
              <a:off x="6986847" y="4858790"/>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5" name="Ellips 14">
              <a:extLst>
                <a:ext uri="{FF2B5EF4-FFF2-40B4-BE49-F238E27FC236}">
                  <a16:creationId xmlns:a16="http://schemas.microsoft.com/office/drawing/2014/main" id="{91DA8C7F-6377-EEF7-9444-E34CFF9BC638}"/>
                </a:ext>
              </a:extLst>
            </p:cNvPr>
            <p:cNvSpPr/>
            <p:nvPr/>
          </p:nvSpPr>
          <p:spPr>
            <a:xfrm>
              <a:off x="9408621" y="3470564"/>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cxnSp>
          <p:nvCxnSpPr>
            <p:cNvPr id="21" name="Rak pilkoppling 20">
              <a:extLst>
                <a:ext uri="{FF2B5EF4-FFF2-40B4-BE49-F238E27FC236}">
                  <a16:creationId xmlns:a16="http://schemas.microsoft.com/office/drawing/2014/main" id="{8CA877BF-BBEC-08B1-287F-85BAEA05D953}"/>
                </a:ext>
              </a:extLst>
            </p:cNvPr>
            <p:cNvCxnSpPr>
              <a:stCxn id="4" idx="6"/>
              <a:endCxn id="7" idx="2"/>
            </p:cNvCxnSpPr>
            <p:nvPr/>
          </p:nvCxnSpPr>
          <p:spPr>
            <a:xfrm flipV="1">
              <a:off x="2783379" y="2427317"/>
              <a:ext cx="1781694" cy="4461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Rak pilkoppling 22">
              <a:extLst>
                <a:ext uri="{FF2B5EF4-FFF2-40B4-BE49-F238E27FC236}">
                  <a16:creationId xmlns:a16="http://schemas.microsoft.com/office/drawing/2014/main" id="{65C1879D-11A2-5CDF-F672-D7681CCDA2CE}"/>
                </a:ext>
              </a:extLst>
            </p:cNvPr>
            <p:cNvCxnSpPr>
              <a:stCxn id="4" idx="6"/>
              <a:endCxn id="8" idx="2"/>
            </p:cNvCxnSpPr>
            <p:nvPr/>
          </p:nvCxnSpPr>
          <p:spPr>
            <a:xfrm>
              <a:off x="2783379" y="2873433"/>
              <a:ext cx="1781694" cy="471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Rak pilkoppling 24">
              <a:extLst>
                <a:ext uri="{FF2B5EF4-FFF2-40B4-BE49-F238E27FC236}">
                  <a16:creationId xmlns:a16="http://schemas.microsoft.com/office/drawing/2014/main" id="{EA33E005-6214-6BD9-4CA8-AF69D9564AD1}"/>
                </a:ext>
              </a:extLst>
            </p:cNvPr>
            <p:cNvCxnSpPr>
              <a:stCxn id="4" idx="6"/>
              <a:endCxn id="9" idx="2"/>
            </p:cNvCxnSpPr>
            <p:nvPr/>
          </p:nvCxnSpPr>
          <p:spPr>
            <a:xfrm>
              <a:off x="2783379" y="2873433"/>
              <a:ext cx="1781694" cy="13882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Rak pilkoppling 26">
              <a:extLst>
                <a:ext uri="{FF2B5EF4-FFF2-40B4-BE49-F238E27FC236}">
                  <a16:creationId xmlns:a16="http://schemas.microsoft.com/office/drawing/2014/main" id="{3897BDAB-9125-1AC4-2C10-B4870292935C}"/>
                </a:ext>
              </a:extLst>
            </p:cNvPr>
            <p:cNvCxnSpPr>
              <a:stCxn id="4" idx="6"/>
              <a:endCxn id="10" idx="2"/>
            </p:cNvCxnSpPr>
            <p:nvPr/>
          </p:nvCxnSpPr>
          <p:spPr>
            <a:xfrm>
              <a:off x="2783379" y="2873433"/>
              <a:ext cx="1781694" cy="23053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Rak pilkoppling 28">
              <a:extLst>
                <a:ext uri="{FF2B5EF4-FFF2-40B4-BE49-F238E27FC236}">
                  <a16:creationId xmlns:a16="http://schemas.microsoft.com/office/drawing/2014/main" id="{C9436C73-A58F-EA93-B173-92447D6AB687}"/>
                </a:ext>
              </a:extLst>
            </p:cNvPr>
            <p:cNvCxnSpPr>
              <a:stCxn id="5" idx="6"/>
              <a:endCxn id="7" idx="2"/>
            </p:cNvCxnSpPr>
            <p:nvPr/>
          </p:nvCxnSpPr>
          <p:spPr>
            <a:xfrm flipV="1">
              <a:off x="2783379" y="2427317"/>
              <a:ext cx="1781694" cy="13632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Rak pilkoppling 30">
              <a:extLst>
                <a:ext uri="{FF2B5EF4-FFF2-40B4-BE49-F238E27FC236}">
                  <a16:creationId xmlns:a16="http://schemas.microsoft.com/office/drawing/2014/main" id="{087C7647-E969-03FE-D6FD-6E62267F6DB7}"/>
                </a:ext>
              </a:extLst>
            </p:cNvPr>
            <p:cNvCxnSpPr>
              <a:stCxn id="5" idx="6"/>
              <a:endCxn id="8" idx="2"/>
            </p:cNvCxnSpPr>
            <p:nvPr/>
          </p:nvCxnSpPr>
          <p:spPr>
            <a:xfrm flipV="1">
              <a:off x="2783379" y="3344488"/>
              <a:ext cx="1781694" cy="4461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Rak pilkoppling 32">
              <a:extLst>
                <a:ext uri="{FF2B5EF4-FFF2-40B4-BE49-F238E27FC236}">
                  <a16:creationId xmlns:a16="http://schemas.microsoft.com/office/drawing/2014/main" id="{82F41553-E8FD-879B-826F-9DE046185FF9}"/>
                </a:ext>
              </a:extLst>
            </p:cNvPr>
            <p:cNvCxnSpPr>
              <a:stCxn id="5" idx="6"/>
              <a:endCxn id="9" idx="2"/>
            </p:cNvCxnSpPr>
            <p:nvPr/>
          </p:nvCxnSpPr>
          <p:spPr>
            <a:xfrm>
              <a:off x="2783379" y="3790604"/>
              <a:ext cx="1781694" cy="471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Rak pilkoppling 34">
              <a:extLst>
                <a:ext uri="{FF2B5EF4-FFF2-40B4-BE49-F238E27FC236}">
                  <a16:creationId xmlns:a16="http://schemas.microsoft.com/office/drawing/2014/main" id="{A372934E-DFDD-0C8D-7069-07B42A82A55E}"/>
                </a:ext>
              </a:extLst>
            </p:cNvPr>
            <p:cNvCxnSpPr>
              <a:stCxn id="5" idx="6"/>
              <a:endCxn id="10" idx="2"/>
            </p:cNvCxnSpPr>
            <p:nvPr/>
          </p:nvCxnSpPr>
          <p:spPr>
            <a:xfrm>
              <a:off x="2783379" y="3790604"/>
              <a:ext cx="1781694" cy="13882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Rak pilkoppling 36">
              <a:extLst>
                <a:ext uri="{FF2B5EF4-FFF2-40B4-BE49-F238E27FC236}">
                  <a16:creationId xmlns:a16="http://schemas.microsoft.com/office/drawing/2014/main" id="{7496F1DE-3B8F-3BB2-DDF1-21974E6A8A1E}"/>
                </a:ext>
              </a:extLst>
            </p:cNvPr>
            <p:cNvCxnSpPr>
              <a:stCxn id="6" idx="6"/>
              <a:endCxn id="7" idx="2"/>
            </p:cNvCxnSpPr>
            <p:nvPr/>
          </p:nvCxnSpPr>
          <p:spPr>
            <a:xfrm flipV="1">
              <a:off x="2783379" y="2427317"/>
              <a:ext cx="1781694" cy="22804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Rak pilkoppling 38">
              <a:extLst>
                <a:ext uri="{FF2B5EF4-FFF2-40B4-BE49-F238E27FC236}">
                  <a16:creationId xmlns:a16="http://schemas.microsoft.com/office/drawing/2014/main" id="{9768EE7A-3F40-7383-CA1E-05FE50564083}"/>
                </a:ext>
              </a:extLst>
            </p:cNvPr>
            <p:cNvCxnSpPr>
              <a:stCxn id="6" idx="6"/>
              <a:endCxn id="8" idx="2"/>
            </p:cNvCxnSpPr>
            <p:nvPr/>
          </p:nvCxnSpPr>
          <p:spPr>
            <a:xfrm flipV="1">
              <a:off x="2783379" y="3344488"/>
              <a:ext cx="1781694" cy="13632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Rak pilkoppling 40">
              <a:extLst>
                <a:ext uri="{FF2B5EF4-FFF2-40B4-BE49-F238E27FC236}">
                  <a16:creationId xmlns:a16="http://schemas.microsoft.com/office/drawing/2014/main" id="{EA96B2DC-453A-8272-6BB7-4704E541EB1C}"/>
                </a:ext>
              </a:extLst>
            </p:cNvPr>
            <p:cNvCxnSpPr>
              <a:stCxn id="6" idx="6"/>
              <a:endCxn id="9" idx="2"/>
            </p:cNvCxnSpPr>
            <p:nvPr/>
          </p:nvCxnSpPr>
          <p:spPr>
            <a:xfrm flipV="1">
              <a:off x="2783379" y="4261659"/>
              <a:ext cx="1781694" cy="4461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Rak pilkoppling 42">
              <a:extLst>
                <a:ext uri="{FF2B5EF4-FFF2-40B4-BE49-F238E27FC236}">
                  <a16:creationId xmlns:a16="http://schemas.microsoft.com/office/drawing/2014/main" id="{F229CEB8-DBA2-F3A7-6C90-18ADD701B39F}"/>
                </a:ext>
              </a:extLst>
            </p:cNvPr>
            <p:cNvCxnSpPr>
              <a:stCxn id="6" idx="6"/>
              <a:endCxn id="10" idx="2"/>
            </p:cNvCxnSpPr>
            <p:nvPr/>
          </p:nvCxnSpPr>
          <p:spPr>
            <a:xfrm>
              <a:off x="2783379" y="4707775"/>
              <a:ext cx="1781694" cy="471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Rak pilkoppling 44">
              <a:extLst>
                <a:ext uri="{FF2B5EF4-FFF2-40B4-BE49-F238E27FC236}">
                  <a16:creationId xmlns:a16="http://schemas.microsoft.com/office/drawing/2014/main" id="{FFF4D64C-DB20-7760-6A2A-CE386DD9A981}"/>
                </a:ext>
              </a:extLst>
            </p:cNvPr>
            <p:cNvCxnSpPr>
              <a:stCxn id="7" idx="6"/>
              <a:endCxn id="11" idx="2"/>
            </p:cNvCxnSpPr>
            <p:nvPr/>
          </p:nvCxnSpPr>
          <p:spPr>
            <a:xfrm>
              <a:off x="5205153" y="2427317"/>
              <a:ext cx="17816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Rak pilkoppling 46">
              <a:extLst>
                <a:ext uri="{FF2B5EF4-FFF2-40B4-BE49-F238E27FC236}">
                  <a16:creationId xmlns:a16="http://schemas.microsoft.com/office/drawing/2014/main" id="{4FF2C06E-897F-CD70-220C-E4A812917AED}"/>
                </a:ext>
              </a:extLst>
            </p:cNvPr>
            <p:cNvCxnSpPr>
              <a:stCxn id="7" idx="6"/>
              <a:endCxn id="12" idx="2"/>
            </p:cNvCxnSpPr>
            <p:nvPr/>
          </p:nvCxnSpPr>
          <p:spPr>
            <a:xfrm>
              <a:off x="5205153" y="2427317"/>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Rak pilkoppling 48">
              <a:extLst>
                <a:ext uri="{FF2B5EF4-FFF2-40B4-BE49-F238E27FC236}">
                  <a16:creationId xmlns:a16="http://schemas.microsoft.com/office/drawing/2014/main" id="{084881D6-36F4-F032-A800-DBFD05A0418C}"/>
                </a:ext>
              </a:extLst>
            </p:cNvPr>
            <p:cNvCxnSpPr>
              <a:stCxn id="7" idx="6"/>
              <a:endCxn id="13" idx="2"/>
            </p:cNvCxnSpPr>
            <p:nvPr/>
          </p:nvCxnSpPr>
          <p:spPr>
            <a:xfrm>
              <a:off x="5205153" y="2427317"/>
              <a:ext cx="1781694" cy="1834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Rak pilkoppling 50">
              <a:extLst>
                <a:ext uri="{FF2B5EF4-FFF2-40B4-BE49-F238E27FC236}">
                  <a16:creationId xmlns:a16="http://schemas.microsoft.com/office/drawing/2014/main" id="{D26E370D-97A7-A906-2A0E-805DEF06284D}"/>
                </a:ext>
              </a:extLst>
            </p:cNvPr>
            <p:cNvCxnSpPr>
              <a:stCxn id="7" idx="6"/>
              <a:endCxn id="14" idx="2"/>
            </p:cNvCxnSpPr>
            <p:nvPr/>
          </p:nvCxnSpPr>
          <p:spPr>
            <a:xfrm>
              <a:off x="5205153" y="2427317"/>
              <a:ext cx="1781694" cy="27515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Rak pilkoppling 52">
              <a:extLst>
                <a:ext uri="{FF2B5EF4-FFF2-40B4-BE49-F238E27FC236}">
                  <a16:creationId xmlns:a16="http://schemas.microsoft.com/office/drawing/2014/main" id="{993909AA-9583-7DF3-788A-B7539257AF01}"/>
                </a:ext>
              </a:extLst>
            </p:cNvPr>
            <p:cNvCxnSpPr>
              <a:stCxn id="8" idx="6"/>
              <a:endCxn id="11" idx="2"/>
            </p:cNvCxnSpPr>
            <p:nvPr/>
          </p:nvCxnSpPr>
          <p:spPr>
            <a:xfrm flipV="1">
              <a:off x="5205153" y="2427317"/>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Rak pilkoppling 54">
              <a:extLst>
                <a:ext uri="{FF2B5EF4-FFF2-40B4-BE49-F238E27FC236}">
                  <a16:creationId xmlns:a16="http://schemas.microsoft.com/office/drawing/2014/main" id="{C66958E7-20E9-27EB-7E08-869CB8D54A08}"/>
                </a:ext>
              </a:extLst>
            </p:cNvPr>
            <p:cNvCxnSpPr>
              <a:stCxn id="8" idx="6"/>
              <a:endCxn id="12" idx="2"/>
            </p:cNvCxnSpPr>
            <p:nvPr/>
          </p:nvCxnSpPr>
          <p:spPr>
            <a:xfrm>
              <a:off x="5205153" y="3344488"/>
              <a:ext cx="17816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Rak pilkoppling 56">
              <a:extLst>
                <a:ext uri="{FF2B5EF4-FFF2-40B4-BE49-F238E27FC236}">
                  <a16:creationId xmlns:a16="http://schemas.microsoft.com/office/drawing/2014/main" id="{F572E621-F7CE-FA7D-D52C-F6B7EF8AECB1}"/>
                </a:ext>
              </a:extLst>
            </p:cNvPr>
            <p:cNvCxnSpPr>
              <a:stCxn id="8" idx="6"/>
              <a:endCxn id="13" idx="2"/>
            </p:cNvCxnSpPr>
            <p:nvPr/>
          </p:nvCxnSpPr>
          <p:spPr>
            <a:xfrm>
              <a:off x="5205153" y="3344488"/>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Rak pilkoppling 58">
              <a:extLst>
                <a:ext uri="{FF2B5EF4-FFF2-40B4-BE49-F238E27FC236}">
                  <a16:creationId xmlns:a16="http://schemas.microsoft.com/office/drawing/2014/main" id="{1F9BD5F9-17C8-F2BF-E549-32AF77E1DFA1}"/>
                </a:ext>
              </a:extLst>
            </p:cNvPr>
            <p:cNvCxnSpPr>
              <a:stCxn id="8" idx="6"/>
              <a:endCxn id="14" idx="2"/>
            </p:cNvCxnSpPr>
            <p:nvPr/>
          </p:nvCxnSpPr>
          <p:spPr>
            <a:xfrm>
              <a:off x="5205153" y="3344488"/>
              <a:ext cx="1781694" cy="1834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Rak pilkoppling 60">
              <a:extLst>
                <a:ext uri="{FF2B5EF4-FFF2-40B4-BE49-F238E27FC236}">
                  <a16:creationId xmlns:a16="http://schemas.microsoft.com/office/drawing/2014/main" id="{C65F7D3E-2D4A-876B-BFF0-C10B11E53CBB}"/>
                </a:ext>
              </a:extLst>
            </p:cNvPr>
            <p:cNvCxnSpPr>
              <a:stCxn id="9" idx="6"/>
              <a:endCxn id="11" idx="2"/>
            </p:cNvCxnSpPr>
            <p:nvPr/>
          </p:nvCxnSpPr>
          <p:spPr>
            <a:xfrm flipV="1">
              <a:off x="5205153" y="2427317"/>
              <a:ext cx="1781694" cy="1834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3" name="Rak pilkoppling 62">
              <a:extLst>
                <a:ext uri="{FF2B5EF4-FFF2-40B4-BE49-F238E27FC236}">
                  <a16:creationId xmlns:a16="http://schemas.microsoft.com/office/drawing/2014/main" id="{A0A64B73-52E2-19E3-E3CE-414ADBF7532F}"/>
                </a:ext>
              </a:extLst>
            </p:cNvPr>
            <p:cNvCxnSpPr>
              <a:stCxn id="9" idx="6"/>
              <a:endCxn id="12" idx="2"/>
            </p:cNvCxnSpPr>
            <p:nvPr/>
          </p:nvCxnSpPr>
          <p:spPr>
            <a:xfrm flipV="1">
              <a:off x="5205153" y="3344488"/>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5" name="Rak pilkoppling 64">
              <a:extLst>
                <a:ext uri="{FF2B5EF4-FFF2-40B4-BE49-F238E27FC236}">
                  <a16:creationId xmlns:a16="http://schemas.microsoft.com/office/drawing/2014/main" id="{42E0B9E9-624C-EFF3-E17B-AAB1382215F5}"/>
                </a:ext>
              </a:extLst>
            </p:cNvPr>
            <p:cNvCxnSpPr>
              <a:stCxn id="9" idx="6"/>
              <a:endCxn id="13" idx="2"/>
            </p:cNvCxnSpPr>
            <p:nvPr/>
          </p:nvCxnSpPr>
          <p:spPr>
            <a:xfrm>
              <a:off x="5205153" y="4261659"/>
              <a:ext cx="17816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7" name="Rak pilkoppling 66">
              <a:extLst>
                <a:ext uri="{FF2B5EF4-FFF2-40B4-BE49-F238E27FC236}">
                  <a16:creationId xmlns:a16="http://schemas.microsoft.com/office/drawing/2014/main" id="{C63BF17B-39E6-7B8F-D645-C1D62102A415}"/>
                </a:ext>
              </a:extLst>
            </p:cNvPr>
            <p:cNvCxnSpPr>
              <a:stCxn id="9" idx="6"/>
              <a:endCxn id="14" idx="2"/>
            </p:cNvCxnSpPr>
            <p:nvPr/>
          </p:nvCxnSpPr>
          <p:spPr>
            <a:xfrm>
              <a:off x="5205153" y="4261659"/>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9" name="Rak pilkoppling 68">
              <a:extLst>
                <a:ext uri="{FF2B5EF4-FFF2-40B4-BE49-F238E27FC236}">
                  <a16:creationId xmlns:a16="http://schemas.microsoft.com/office/drawing/2014/main" id="{E1CAB6F0-7E55-C991-D91F-F8A23B3F1F00}"/>
                </a:ext>
              </a:extLst>
            </p:cNvPr>
            <p:cNvCxnSpPr>
              <a:stCxn id="10" idx="6"/>
              <a:endCxn id="11" idx="2"/>
            </p:cNvCxnSpPr>
            <p:nvPr/>
          </p:nvCxnSpPr>
          <p:spPr>
            <a:xfrm flipV="1">
              <a:off x="5205153" y="2427317"/>
              <a:ext cx="1781694" cy="27515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Rak pilkoppling 70">
              <a:extLst>
                <a:ext uri="{FF2B5EF4-FFF2-40B4-BE49-F238E27FC236}">
                  <a16:creationId xmlns:a16="http://schemas.microsoft.com/office/drawing/2014/main" id="{32DF665B-46AB-1CC3-4F4B-090122861EA4}"/>
                </a:ext>
              </a:extLst>
            </p:cNvPr>
            <p:cNvCxnSpPr>
              <a:stCxn id="10" idx="6"/>
              <a:endCxn id="12" idx="2"/>
            </p:cNvCxnSpPr>
            <p:nvPr/>
          </p:nvCxnSpPr>
          <p:spPr>
            <a:xfrm flipV="1">
              <a:off x="5205153" y="3344488"/>
              <a:ext cx="1781694" cy="1834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3" name="Rak pilkoppling 72">
              <a:extLst>
                <a:ext uri="{FF2B5EF4-FFF2-40B4-BE49-F238E27FC236}">
                  <a16:creationId xmlns:a16="http://schemas.microsoft.com/office/drawing/2014/main" id="{561F0067-F9F9-6749-F59B-9B2385CEE94F}"/>
                </a:ext>
              </a:extLst>
            </p:cNvPr>
            <p:cNvCxnSpPr>
              <a:cxnSpLocks/>
              <a:stCxn id="10" idx="6"/>
              <a:endCxn id="13" idx="2"/>
            </p:cNvCxnSpPr>
            <p:nvPr/>
          </p:nvCxnSpPr>
          <p:spPr>
            <a:xfrm flipV="1">
              <a:off x="5205153" y="4261659"/>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5" name="Rak pilkoppling 74">
              <a:extLst>
                <a:ext uri="{FF2B5EF4-FFF2-40B4-BE49-F238E27FC236}">
                  <a16:creationId xmlns:a16="http://schemas.microsoft.com/office/drawing/2014/main" id="{90CF646B-4C25-F93A-86BC-204AE674B4D2}"/>
                </a:ext>
              </a:extLst>
            </p:cNvPr>
            <p:cNvCxnSpPr>
              <a:stCxn id="10" idx="6"/>
              <a:endCxn id="14" idx="2"/>
            </p:cNvCxnSpPr>
            <p:nvPr/>
          </p:nvCxnSpPr>
          <p:spPr>
            <a:xfrm>
              <a:off x="5205153" y="5178830"/>
              <a:ext cx="17816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8" name="Rak pilkoppling 77">
              <a:extLst>
                <a:ext uri="{FF2B5EF4-FFF2-40B4-BE49-F238E27FC236}">
                  <a16:creationId xmlns:a16="http://schemas.microsoft.com/office/drawing/2014/main" id="{7E13DA3E-2B6F-F362-1F70-CF853F93AF14}"/>
                </a:ext>
              </a:extLst>
            </p:cNvPr>
            <p:cNvCxnSpPr>
              <a:stCxn id="11" idx="6"/>
              <a:endCxn id="15" idx="2"/>
            </p:cNvCxnSpPr>
            <p:nvPr/>
          </p:nvCxnSpPr>
          <p:spPr>
            <a:xfrm>
              <a:off x="7626927" y="2427317"/>
              <a:ext cx="1781694" cy="13632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0" name="Rak pilkoppling 79">
              <a:extLst>
                <a:ext uri="{FF2B5EF4-FFF2-40B4-BE49-F238E27FC236}">
                  <a16:creationId xmlns:a16="http://schemas.microsoft.com/office/drawing/2014/main" id="{07D1A443-D130-2866-5050-30ED71D72EC7}"/>
                </a:ext>
              </a:extLst>
            </p:cNvPr>
            <p:cNvCxnSpPr>
              <a:stCxn id="12" idx="6"/>
              <a:endCxn id="15" idx="2"/>
            </p:cNvCxnSpPr>
            <p:nvPr/>
          </p:nvCxnSpPr>
          <p:spPr>
            <a:xfrm>
              <a:off x="7626927" y="3344488"/>
              <a:ext cx="1781694" cy="4461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Rak pilkoppling 81">
              <a:extLst>
                <a:ext uri="{FF2B5EF4-FFF2-40B4-BE49-F238E27FC236}">
                  <a16:creationId xmlns:a16="http://schemas.microsoft.com/office/drawing/2014/main" id="{12B2A0B0-C3CB-EE9E-8D2A-4C6CA3AAF8AA}"/>
                </a:ext>
              </a:extLst>
            </p:cNvPr>
            <p:cNvCxnSpPr>
              <a:stCxn id="13" idx="6"/>
              <a:endCxn id="15" idx="2"/>
            </p:cNvCxnSpPr>
            <p:nvPr/>
          </p:nvCxnSpPr>
          <p:spPr>
            <a:xfrm flipV="1">
              <a:off x="7626927" y="3790604"/>
              <a:ext cx="1781694" cy="471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4" name="Rak pilkoppling 83">
              <a:extLst>
                <a:ext uri="{FF2B5EF4-FFF2-40B4-BE49-F238E27FC236}">
                  <a16:creationId xmlns:a16="http://schemas.microsoft.com/office/drawing/2014/main" id="{232088A7-9ED3-14A2-90E6-1FB1364E2303}"/>
                </a:ext>
              </a:extLst>
            </p:cNvPr>
            <p:cNvCxnSpPr>
              <a:stCxn id="14" idx="6"/>
              <a:endCxn id="15" idx="2"/>
            </p:cNvCxnSpPr>
            <p:nvPr/>
          </p:nvCxnSpPr>
          <p:spPr>
            <a:xfrm flipV="1">
              <a:off x="7626927" y="3790604"/>
              <a:ext cx="1781694" cy="13882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73" name="textruta 172">
            <a:extLst>
              <a:ext uri="{FF2B5EF4-FFF2-40B4-BE49-F238E27FC236}">
                <a16:creationId xmlns:a16="http://schemas.microsoft.com/office/drawing/2014/main" id="{AFEA7876-920A-4C97-262C-872569512137}"/>
              </a:ext>
            </a:extLst>
          </p:cNvPr>
          <p:cNvSpPr txBox="1"/>
          <p:nvPr/>
        </p:nvSpPr>
        <p:spPr>
          <a:xfrm>
            <a:off x="1670558" y="5153891"/>
            <a:ext cx="1585562" cy="593047"/>
          </a:xfrm>
          <a:prstGeom prst="rect">
            <a:avLst/>
          </a:prstGeom>
          <a:noFill/>
        </p:spPr>
        <p:txBody>
          <a:bodyPr wrap="none" rtlCol="0">
            <a:spAutoFit/>
          </a:bodyPr>
          <a:lstStyle/>
          <a:p>
            <a:pPr algn="ctr">
              <a:lnSpc>
                <a:spcPct val="150000"/>
              </a:lnSpc>
            </a:pPr>
            <a:r>
              <a:rPr lang="sv-SE" sz="2400" noProof="0" dirty="0">
                <a:solidFill>
                  <a:schemeClr val="bg1"/>
                </a:solidFill>
              </a:rPr>
              <a:t>Input </a:t>
            </a:r>
            <a:r>
              <a:rPr lang="sv-SE" sz="2400" noProof="0" dirty="0" err="1">
                <a:solidFill>
                  <a:schemeClr val="bg1"/>
                </a:solidFill>
              </a:rPr>
              <a:t>layer</a:t>
            </a:r>
            <a:endParaRPr lang="sv-SE" sz="2400" noProof="0" dirty="0">
              <a:solidFill>
                <a:schemeClr val="bg1"/>
              </a:solidFill>
            </a:endParaRPr>
          </a:p>
        </p:txBody>
      </p:sp>
      <p:sp>
        <p:nvSpPr>
          <p:cNvPr id="174" name="textruta 173">
            <a:extLst>
              <a:ext uri="{FF2B5EF4-FFF2-40B4-BE49-F238E27FC236}">
                <a16:creationId xmlns:a16="http://schemas.microsoft.com/office/drawing/2014/main" id="{120EF2C1-4B7C-3773-577C-178FB3987E2A}"/>
              </a:ext>
            </a:extLst>
          </p:cNvPr>
          <p:cNvSpPr txBox="1"/>
          <p:nvPr/>
        </p:nvSpPr>
        <p:spPr>
          <a:xfrm>
            <a:off x="3840663" y="5624945"/>
            <a:ext cx="2088906" cy="593047"/>
          </a:xfrm>
          <a:prstGeom prst="rect">
            <a:avLst/>
          </a:prstGeom>
          <a:noFill/>
        </p:spPr>
        <p:txBody>
          <a:bodyPr wrap="none" rtlCol="0">
            <a:spAutoFit/>
          </a:bodyPr>
          <a:lstStyle/>
          <a:p>
            <a:pPr algn="ctr">
              <a:lnSpc>
                <a:spcPct val="150000"/>
              </a:lnSpc>
            </a:pPr>
            <a:r>
              <a:rPr lang="sv-SE" sz="2400" noProof="0" dirty="0" err="1">
                <a:solidFill>
                  <a:schemeClr val="bg1"/>
                </a:solidFill>
              </a:rPr>
              <a:t>Hidden</a:t>
            </a:r>
            <a:r>
              <a:rPr lang="sv-SE" sz="2400" noProof="0" dirty="0">
                <a:solidFill>
                  <a:schemeClr val="bg1"/>
                </a:solidFill>
              </a:rPr>
              <a:t> </a:t>
            </a:r>
            <a:r>
              <a:rPr lang="sv-SE" sz="2400" noProof="0" dirty="0" err="1">
                <a:solidFill>
                  <a:schemeClr val="bg1"/>
                </a:solidFill>
              </a:rPr>
              <a:t>layer</a:t>
            </a:r>
            <a:r>
              <a:rPr lang="sv-SE" sz="2400" noProof="0" dirty="0">
                <a:solidFill>
                  <a:schemeClr val="bg1"/>
                </a:solidFill>
              </a:rPr>
              <a:t> 1</a:t>
            </a:r>
          </a:p>
        </p:txBody>
      </p:sp>
      <p:sp>
        <p:nvSpPr>
          <p:cNvPr id="175" name="textruta 174">
            <a:extLst>
              <a:ext uri="{FF2B5EF4-FFF2-40B4-BE49-F238E27FC236}">
                <a16:creationId xmlns:a16="http://schemas.microsoft.com/office/drawing/2014/main" id="{030DC9BE-0695-27FA-64EC-E0E1DF2C3AAD}"/>
              </a:ext>
            </a:extLst>
          </p:cNvPr>
          <p:cNvSpPr txBox="1"/>
          <p:nvPr/>
        </p:nvSpPr>
        <p:spPr>
          <a:xfrm>
            <a:off x="6262434" y="5624945"/>
            <a:ext cx="2088906" cy="593047"/>
          </a:xfrm>
          <a:prstGeom prst="rect">
            <a:avLst/>
          </a:prstGeom>
          <a:noFill/>
        </p:spPr>
        <p:txBody>
          <a:bodyPr wrap="none" rtlCol="0">
            <a:spAutoFit/>
          </a:bodyPr>
          <a:lstStyle/>
          <a:p>
            <a:pPr algn="ctr">
              <a:lnSpc>
                <a:spcPct val="150000"/>
              </a:lnSpc>
            </a:pPr>
            <a:r>
              <a:rPr lang="sv-SE" sz="2400" noProof="0" dirty="0" err="1">
                <a:solidFill>
                  <a:schemeClr val="bg1"/>
                </a:solidFill>
              </a:rPr>
              <a:t>Hidden</a:t>
            </a:r>
            <a:r>
              <a:rPr lang="sv-SE" sz="2400" noProof="0" dirty="0">
                <a:solidFill>
                  <a:schemeClr val="bg1"/>
                </a:solidFill>
              </a:rPr>
              <a:t> </a:t>
            </a:r>
            <a:r>
              <a:rPr lang="sv-SE" sz="2400" noProof="0" dirty="0" err="1">
                <a:solidFill>
                  <a:schemeClr val="bg1"/>
                </a:solidFill>
              </a:rPr>
              <a:t>layer</a:t>
            </a:r>
            <a:r>
              <a:rPr lang="sv-SE" sz="2400" noProof="0" dirty="0">
                <a:solidFill>
                  <a:schemeClr val="bg1"/>
                </a:solidFill>
              </a:rPr>
              <a:t> 2</a:t>
            </a:r>
          </a:p>
        </p:txBody>
      </p:sp>
      <p:sp>
        <p:nvSpPr>
          <p:cNvPr id="176" name="textruta 175">
            <a:extLst>
              <a:ext uri="{FF2B5EF4-FFF2-40B4-BE49-F238E27FC236}">
                <a16:creationId xmlns:a16="http://schemas.microsoft.com/office/drawing/2014/main" id="{98111CB1-6BE9-CA51-B6B2-7E1A144DCD52}"/>
              </a:ext>
            </a:extLst>
          </p:cNvPr>
          <p:cNvSpPr txBox="1"/>
          <p:nvPr/>
        </p:nvSpPr>
        <p:spPr>
          <a:xfrm>
            <a:off x="8812449" y="4240804"/>
            <a:ext cx="1832425" cy="593047"/>
          </a:xfrm>
          <a:prstGeom prst="rect">
            <a:avLst/>
          </a:prstGeom>
          <a:noFill/>
        </p:spPr>
        <p:txBody>
          <a:bodyPr wrap="none" rtlCol="0">
            <a:spAutoFit/>
          </a:bodyPr>
          <a:lstStyle/>
          <a:p>
            <a:pPr algn="ctr">
              <a:lnSpc>
                <a:spcPct val="150000"/>
              </a:lnSpc>
            </a:pPr>
            <a:r>
              <a:rPr lang="sv-SE" sz="2400" noProof="0" dirty="0">
                <a:solidFill>
                  <a:schemeClr val="bg1"/>
                </a:solidFill>
              </a:rPr>
              <a:t>Output </a:t>
            </a:r>
            <a:r>
              <a:rPr lang="sv-SE" sz="2400" noProof="0" dirty="0" err="1">
                <a:solidFill>
                  <a:schemeClr val="bg1"/>
                </a:solidFill>
              </a:rPr>
              <a:t>layer</a:t>
            </a:r>
            <a:endParaRPr lang="sv-SE" sz="2400" noProof="0" dirty="0">
              <a:solidFill>
                <a:schemeClr val="bg1"/>
              </a:solidFill>
            </a:endParaRPr>
          </a:p>
        </p:txBody>
      </p:sp>
    </p:spTree>
    <p:extLst>
      <p:ext uri="{BB962C8B-B14F-4D97-AF65-F5344CB8AC3E}">
        <p14:creationId xmlns:p14="http://schemas.microsoft.com/office/powerpoint/2010/main" val="35400875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38BEF-1588-F3C5-F702-8C49D83A57A3}"/>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94CC925E-56E4-BE0C-47F1-31371A0535DD}"/>
              </a:ext>
            </a:extLst>
          </p:cNvPr>
          <p:cNvSpPr txBox="1"/>
          <p:nvPr/>
        </p:nvSpPr>
        <p:spPr>
          <a:xfrm>
            <a:off x="3529526" y="122735"/>
            <a:ext cx="5133008" cy="830997"/>
          </a:xfrm>
          <a:prstGeom prst="rect">
            <a:avLst/>
          </a:prstGeom>
          <a:noFill/>
        </p:spPr>
        <p:txBody>
          <a:bodyPr wrap="none" rtlCol="0">
            <a:spAutoFit/>
          </a:bodyPr>
          <a:lstStyle/>
          <a:p>
            <a:pPr algn="ctr"/>
            <a:r>
              <a:rPr lang="sv-SE" sz="4800" noProof="0" dirty="0" err="1">
                <a:solidFill>
                  <a:schemeClr val="bg1"/>
                </a:solidFill>
              </a:rPr>
              <a:t>TensorFlow</a:t>
            </a:r>
            <a:r>
              <a:rPr lang="sv-SE" sz="4800" noProof="0" dirty="0">
                <a:solidFill>
                  <a:schemeClr val="bg1"/>
                </a:solidFill>
              </a:rPr>
              <a:t> / </a:t>
            </a:r>
            <a:r>
              <a:rPr lang="sv-SE" sz="4800" noProof="0" dirty="0" err="1">
                <a:solidFill>
                  <a:schemeClr val="bg1"/>
                </a:solidFill>
              </a:rPr>
              <a:t>Keras</a:t>
            </a:r>
            <a:endParaRPr lang="sv-SE" sz="4800" noProof="0" dirty="0">
              <a:solidFill>
                <a:schemeClr val="bg1"/>
              </a:solidFill>
            </a:endParaRPr>
          </a:p>
        </p:txBody>
      </p:sp>
      <p:sp>
        <p:nvSpPr>
          <p:cNvPr id="3" name="textruta 2">
            <a:extLst>
              <a:ext uri="{FF2B5EF4-FFF2-40B4-BE49-F238E27FC236}">
                <a16:creationId xmlns:a16="http://schemas.microsoft.com/office/drawing/2014/main" id="{4A5078F5-1D21-7791-CE06-C9EB5410BA0C}"/>
              </a:ext>
            </a:extLst>
          </p:cNvPr>
          <p:cNvSpPr txBox="1"/>
          <p:nvPr/>
        </p:nvSpPr>
        <p:spPr>
          <a:xfrm>
            <a:off x="1354032" y="2344650"/>
            <a:ext cx="4086503" cy="2615524"/>
          </a:xfrm>
          <a:prstGeom prst="rect">
            <a:avLst/>
          </a:prstGeom>
          <a:noFill/>
        </p:spPr>
        <p:txBody>
          <a:bodyPr wrap="none" rtlCol="0">
            <a:spAutoFit/>
          </a:bodyPr>
          <a:lstStyle/>
          <a:p>
            <a:pPr marL="571500" indent="-571500">
              <a:lnSpc>
                <a:spcPct val="150000"/>
              </a:lnSpc>
              <a:buFont typeface="Arial" panose="020B0604020202020204" pitchFamily="34" charset="0"/>
              <a:buChar char="•"/>
            </a:pPr>
            <a:r>
              <a:rPr lang="en-US" sz="2800" noProof="0" dirty="0" err="1">
                <a:solidFill>
                  <a:schemeClr val="bg1"/>
                </a:solidFill>
              </a:rPr>
              <a:t>Pedagogiskt</a:t>
            </a:r>
            <a:endParaRPr lang="en-US" sz="2800" dirty="0">
              <a:solidFill>
                <a:schemeClr val="bg1"/>
              </a:solidFill>
            </a:endParaRPr>
          </a:p>
          <a:p>
            <a:pPr marL="571500" indent="-571500">
              <a:lnSpc>
                <a:spcPct val="150000"/>
              </a:lnSpc>
              <a:buFont typeface="Arial" panose="020B0604020202020204" pitchFamily="34" charset="0"/>
              <a:buChar char="•"/>
            </a:pPr>
            <a:r>
              <a:rPr lang="en-US" sz="2800" noProof="0" dirty="0">
                <a:solidFill>
                  <a:schemeClr val="bg1"/>
                </a:solidFill>
              </a:rPr>
              <a:t>Praktiskt</a:t>
            </a:r>
          </a:p>
          <a:p>
            <a:pPr marL="571500" indent="-571500">
              <a:lnSpc>
                <a:spcPct val="150000"/>
              </a:lnSpc>
              <a:buFont typeface="Arial" panose="020B0604020202020204" pitchFamily="34" charset="0"/>
              <a:buChar char="•"/>
            </a:pPr>
            <a:r>
              <a:rPr lang="en-US" sz="2800" dirty="0" err="1">
                <a:solidFill>
                  <a:schemeClr val="bg1"/>
                </a:solidFill>
              </a:rPr>
              <a:t>Tydlig</a:t>
            </a:r>
            <a:r>
              <a:rPr lang="en-US" sz="2800" dirty="0">
                <a:solidFill>
                  <a:schemeClr val="bg1"/>
                </a:solidFill>
              </a:rPr>
              <a:t> </a:t>
            </a:r>
            <a:r>
              <a:rPr lang="en-US" sz="2800" dirty="0" err="1">
                <a:solidFill>
                  <a:schemeClr val="bg1"/>
                </a:solidFill>
              </a:rPr>
              <a:t>modellbyggnad</a:t>
            </a:r>
            <a:endParaRPr lang="en-US" sz="2800" dirty="0">
              <a:solidFill>
                <a:schemeClr val="bg1"/>
              </a:solidFill>
            </a:endParaRPr>
          </a:p>
          <a:p>
            <a:pPr marL="571500" indent="-571500">
              <a:lnSpc>
                <a:spcPct val="150000"/>
              </a:lnSpc>
              <a:buFont typeface="Arial" panose="020B0604020202020204" pitchFamily="34" charset="0"/>
              <a:buChar char="•"/>
            </a:pPr>
            <a:r>
              <a:rPr lang="en-US" sz="2800" noProof="0" dirty="0" err="1">
                <a:solidFill>
                  <a:schemeClr val="bg1"/>
                </a:solidFill>
              </a:rPr>
              <a:t>Fokus</a:t>
            </a:r>
            <a:r>
              <a:rPr lang="en-US" sz="2800" noProof="0" dirty="0">
                <a:solidFill>
                  <a:schemeClr val="bg1"/>
                </a:solidFill>
              </a:rPr>
              <a:t> </a:t>
            </a:r>
            <a:r>
              <a:rPr lang="en-US" sz="2800" noProof="0" dirty="0" err="1">
                <a:solidFill>
                  <a:schemeClr val="bg1"/>
                </a:solidFill>
              </a:rPr>
              <a:t>på</a:t>
            </a:r>
            <a:r>
              <a:rPr lang="en-US" sz="2800" noProof="0" dirty="0">
                <a:solidFill>
                  <a:schemeClr val="bg1"/>
                </a:solidFill>
              </a:rPr>
              <a:t> </a:t>
            </a:r>
            <a:r>
              <a:rPr lang="en-US" sz="2800" noProof="0" dirty="0" err="1">
                <a:solidFill>
                  <a:schemeClr val="bg1"/>
                </a:solidFill>
              </a:rPr>
              <a:t>förstå</a:t>
            </a:r>
            <a:r>
              <a:rPr lang="en-US" sz="2800" dirty="0">
                <a:solidFill>
                  <a:schemeClr val="bg1"/>
                </a:solidFill>
              </a:rPr>
              <a:t>else</a:t>
            </a:r>
            <a:endParaRPr lang="sv-SE" sz="2800" noProof="0" dirty="0">
              <a:solidFill>
                <a:schemeClr val="bg1"/>
              </a:solidFill>
            </a:endParaRPr>
          </a:p>
        </p:txBody>
      </p:sp>
    </p:spTree>
    <p:extLst>
      <p:ext uri="{BB962C8B-B14F-4D97-AF65-F5344CB8AC3E}">
        <p14:creationId xmlns:p14="http://schemas.microsoft.com/office/powerpoint/2010/main" val="21008356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3D225-0D65-BB4B-6451-8BE273BF0F68}"/>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3CED9583-3097-FCB8-BBF5-227ADE02AFBF}"/>
              </a:ext>
            </a:extLst>
          </p:cNvPr>
          <p:cNvSpPr txBox="1"/>
          <p:nvPr/>
        </p:nvSpPr>
        <p:spPr>
          <a:xfrm>
            <a:off x="1400585" y="122735"/>
            <a:ext cx="9390904" cy="830997"/>
          </a:xfrm>
          <a:prstGeom prst="rect">
            <a:avLst/>
          </a:prstGeom>
          <a:noFill/>
        </p:spPr>
        <p:txBody>
          <a:bodyPr wrap="none" rtlCol="0">
            <a:spAutoFit/>
          </a:bodyPr>
          <a:lstStyle/>
          <a:p>
            <a:pPr algn="ctr"/>
            <a:r>
              <a:rPr lang="sv-SE" sz="4800" noProof="0" dirty="0">
                <a:solidFill>
                  <a:schemeClr val="bg1"/>
                </a:solidFill>
              </a:rPr>
              <a:t>Vad kommer kännas svårt i början?</a:t>
            </a:r>
          </a:p>
        </p:txBody>
      </p:sp>
      <p:sp>
        <p:nvSpPr>
          <p:cNvPr id="3" name="textruta 2">
            <a:extLst>
              <a:ext uri="{FF2B5EF4-FFF2-40B4-BE49-F238E27FC236}">
                <a16:creationId xmlns:a16="http://schemas.microsoft.com/office/drawing/2014/main" id="{8DCCDE88-96B5-CB0E-2FF5-FE587864B916}"/>
              </a:ext>
            </a:extLst>
          </p:cNvPr>
          <p:cNvSpPr txBox="1"/>
          <p:nvPr/>
        </p:nvSpPr>
        <p:spPr>
          <a:xfrm>
            <a:off x="1354032" y="2344650"/>
            <a:ext cx="5678478" cy="2615524"/>
          </a:xfrm>
          <a:prstGeom prst="rect">
            <a:avLst/>
          </a:prstGeom>
          <a:noFill/>
        </p:spPr>
        <p:txBody>
          <a:bodyPr wrap="none" rtlCol="0">
            <a:spAutoFit/>
          </a:bodyPr>
          <a:lstStyle/>
          <a:p>
            <a:pPr marL="571500" indent="-571500">
              <a:lnSpc>
                <a:spcPct val="150000"/>
              </a:lnSpc>
              <a:buFont typeface="Arial" panose="020B0604020202020204" pitchFamily="34" charset="0"/>
              <a:buChar char="•"/>
            </a:pPr>
            <a:r>
              <a:rPr lang="en-US" sz="2800" noProof="0" dirty="0" err="1">
                <a:solidFill>
                  <a:schemeClr val="bg1"/>
                </a:solidFill>
              </a:rPr>
              <a:t>Många</a:t>
            </a:r>
            <a:r>
              <a:rPr lang="en-US" sz="2800" noProof="0" dirty="0">
                <a:solidFill>
                  <a:schemeClr val="bg1"/>
                </a:solidFill>
              </a:rPr>
              <a:t> </a:t>
            </a:r>
            <a:r>
              <a:rPr lang="en-US" sz="2800" noProof="0" dirty="0" err="1">
                <a:solidFill>
                  <a:schemeClr val="bg1"/>
                </a:solidFill>
              </a:rPr>
              <a:t>ny</a:t>
            </a:r>
            <a:r>
              <a:rPr lang="en-US" sz="2800" dirty="0">
                <a:solidFill>
                  <a:schemeClr val="bg1"/>
                </a:solidFill>
              </a:rPr>
              <a:t>a </a:t>
            </a:r>
            <a:r>
              <a:rPr lang="en-US" sz="2800" dirty="0" err="1">
                <a:solidFill>
                  <a:schemeClr val="bg1"/>
                </a:solidFill>
              </a:rPr>
              <a:t>ord</a:t>
            </a:r>
            <a:endParaRPr lang="en-US" sz="2800" dirty="0">
              <a:solidFill>
                <a:schemeClr val="bg1"/>
              </a:solidFill>
            </a:endParaRPr>
          </a:p>
          <a:p>
            <a:pPr marL="571500" indent="-571500">
              <a:lnSpc>
                <a:spcPct val="150000"/>
              </a:lnSpc>
              <a:buFont typeface="Arial" panose="020B0604020202020204" pitchFamily="34" charset="0"/>
              <a:buChar char="•"/>
            </a:pPr>
            <a:r>
              <a:rPr lang="en-US" sz="2800" noProof="0" dirty="0" err="1">
                <a:solidFill>
                  <a:schemeClr val="bg1"/>
                </a:solidFill>
              </a:rPr>
              <a:t>Flera</a:t>
            </a:r>
            <a:r>
              <a:rPr lang="en-US" sz="2800" noProof="0" dirty="0">
                <a:solidFill>
                  <a:schemeClr val="bg1"/>
                </a:solidFill>
              </a:rPr>
              <a:t> </a:t>
            </a:r>
            <a:r>
              <a:rPr lang="en-US" sz="2800" noProof="0" dirty="0" err="1">
                <a:solidFill>
                  <a:schemeClr val="bg1"/>
                </a:solidFill>
              </a:rPr>
              <a:t>nya</a:t>
            </a:r>
            <a:r>
              <a:rPr lang="en-US" sz="2800" noProof="0" dirty="0">
                <a:solidFill>
                  <a:schemeClr val="bg1"/>
                </a:solidFill>
              </a:rPr>
              <a:t> </a:t>
            </a:r>
            <a:r>
              <a:rPr lang="en-US" sz="2800" noProof="0" dirty="0" err="1">
                <a:solidFill>
                  <a:schemeClr val="bg1"/>
                </a:solidFill>
              </a:rPr>
              <a:t>idéer</a:t>
            </a:r>
            <a:r>
              <a:rPr lang="en-US" sz="2800" noProof="0" dirty="0">
                <a:solidFill>
                  <a:schemeClr val="bg1"/>
                </a:solidFill>
              </a:rPr>
              <a:t> </a:t>
            </a:r>
            <a:r>
              <a:rPr lang="en-US" sz="2800" noProof="0" dirty="0" err="1">
                <a:solidFill>
                  <a:schemeClr val="bg1"/>
                </a:solidFill>
              </a:rPr>
              <a:t>samtidigt</a:t>
            </a:r>
            <a:endParaRPr lang="en-US" sz="2800" noProof="0" dirty="0">
              <a:solidFill>
                <a:schemeClr val="bg1"/>
              </a:solidFill>
            </a:endParaRPr>
          </a:p>
          <a:p>
            <a:pPr marL="571500" indent="-571500">
              <a:lnSpc>
                <a:spcPct val="150000"/>
              </a:lnSpc>
              <a:buFont typeface="Arial" panose="020B0604020202020204" pitchFamily="34" charset="0"/>
              <a:buChar char="•"/>
            </a:pPr>
            <a:r>
              <a:rPr lang="en-US" sz="2800" dirty="0" err="1">
                <a:solidFill>
                  <a:schemeClr val="bg1"/>
                </a:solidFill>
              </a:rPr>
              <a:t>Normalt</a:t>
            </a:r>
            <a:r>
              <a:rPr lang="en-US" sz="2800" dirty="0">
                <a:solidFill>
                  <a:schemeClr val="bg1"/>
                </a:solidFill>
              </a:rPr>
              <a:t> </a:t>
            </a:r>
            <a:r>
              <a:rPr lang="en-US" sz="2800" dirty="0" err="1">
                <a:solidFill>
                  <a:schemeClr val="bg1"/>
                </a:solidFill>
              </a:rPr>
              <a:t>att</a:t>
            </a:r>
            <a:r>
              <a:rPr lang="en-US" sz="2800" dirty="0">
                <a:solidFill>
                  <a:schemeClr val="bg1"/>
                </a:solidFill>
              </a:rPr>
              <a:t> </a:t>
            </a:r>
            <a:r>
              <a:rPr lang="en-US" sz="2800" dirty="0" err="1">
                <a:solidFill>
                  <a:schemeClr val="bg1"/>
                </a:solidFill>
              </a:rPr>
              <a:t>inte</a:t>
            </a:r>
            <a:r>
              <a:rPr lang="en-US" sz="2800" dirty="0">
                <a:solidFill>
                  <a:schemeClr val="bg1"/>
                </a:solidFill>
              </a:rPr>
              <a:t> </a:t>
            </a:r>
            <a:r>
              <a:rPr lang="en-US" sz="2800" dirty="0" err="1">
                <a:solidFill>
                  <a:schemeClr val="bg1"/>
                </a:solidFill>
              </a:rPr>
              <a:t>förstå</a:t>
            </a:r>
            <a:r>
              <a:rPr lang="en-US" sz="2800" dirty="0">
                <a:solidFill>
                  <a:schemeClr val="bg1"/>
                </a:solidFill>
              </a:rPr>
              <a:t> </a:t>
            </a:r>
            <a:r>
              <a:rPr lang="en-US" sz="2800" dirty="0" err="1">
                <a:solidFill>
                  <a:schemeClr val="bg1"/>
                </a:solidFill>
              </a:rPr>
              <a:t>allt</a:t>
            </a:r>
            <a:r>
              <a:rPr lang="en-US" sz="2800" dirty="0">
                <a:solidFill>
                  <a:schemeClr val="bg1"/>
                </a:solidFill>
              </a:rPr>
              <a:t> </a:t>
            </a:r>
            <a:r>
              <a:rPr lang="en-US" sz="2800" dirty="0" err="1">
                <a:solidFill>
                  <a:schemeClr val="bg1"/>
                </a:solidFill>
              </a:rPr>
              <a:t>direkt</a:t>
            </a:r>
            <a:endParaRPr lang="en-US" sz="2800" dirty="0">
              <a:solidFill>
                <a:schemeClr val="bg1"/>
              </a:solidFill>
            </a:endParaRPr>
          </a:p>
          <a:p>
            <a:pPr marL="571500" indent="-571500">
              <a:lnSpc>
                <a:spcPct val="150000"/>
              </a:lnSpc>
              <a:buFont typeface="Arial" panose="020B0604020202020204" pitchFamily="34" charset="0"/>
              <a:buChar char="•"/>
            </a:pPr>
            <a:r>
              <a:rPr lang="en-US" sz="2800" noProof="0" dirty="0" err="1">
                <a:solidFill>
                  <a:schemeClr val="bg1"/>
                </a:solidFill>
              </a:rPr>
              <a:t>Förståelsen</a:t>
            </a:r>
            <a:r>
              <a:rPr lang="en-US" sz="2800" noProof="0" dirty="0">
                <a:solidFill>
                  <a:schemeClr val="bg1"/>
                </a:solidFill>
              </a:rPr>
              <a:t> </a:t>
            </a:r>
            <a:r>
              <a:rPr lang="en-US" sz="2800" noProof="0" dirty="0" err="1">
                <a:solidFill>
                  <a:schemeClr val="bg1"/>
                </a:solidFill>
              </a:rPr>
              <a:t>byggs</a:t>
            </a:r>
            <a:r>
              <a:rPr lang="en-US" sz="2800" noProof="0" dirty="0">
                <a:solidFill>
                  <a:schemeClr val="bg1"/>
                </a:solidFill>
              </a:rPr>
              <a:t> </a:t>
            </a:r>
            <a:r>
              <a:rPr lang="en-US" sz="2800" noProof="0" dirty="0" err="1">
                <a:solidFill>
                  <a:schemeClr val="bg1"/>
                </a:solidFill>
              </a:rPr>
              <a:t>steg</a:t>
            </a:r>
            <a:r>
              <a:rPr lang="en-US" sz="2800" noProof="0" dirty="0">
                <a:solidFill>
                  <a:schemeClr val="bg1"/>
                </a:solidFill>
              </a:rPr>
              <a:t> för </a:t>
            </a:r>
            <a:r>
              <a:rPr lang="en-US" sz="2800" noProof="0" dirty="0" err="1">
                <a:solidFill>
                  <a:schemeClr val="bg1"/>
                </a:solidFill>
              </a:rPr>
              <a:t>steg</a:t>
            </a:r>
            <a:endParaRPr lang="sv-SE" sz="2800" noProof="0" dirty="0">
              <a:solidFill>
                <a:schemeClr val="bg1"/>
              </a:solidFill>
            </a:endParaRPr>
          </a:p>
        </p:txBody>
      </p:sp>
    </p:spTree>
    <p:extLst>
      <p:ext uri="{BB962C8B-B14F-4D97-AF65-F5344CB8AC3E}">
        <p14:creationId xmlns:p14="http://schemas.microsoft.com/office/powerpoint/2010/main" val="26528014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F4739-1C9D-A695-C400-1754ADFC4A65}"/>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367E2FC7-4A27-4ADE-A541-01415AF36911}"/>
              </a:ext>
            </a:extLst>
          </p:cNvPr>
          <p:cNvSpPr txBox="1"/>
          <p:nvPr/>
        </p:nvSpPr>
        <p:spPr>
          <a:xfrm>
            <a:off x="2375505" y="122735"/>
            <a:ext cx="7441076" cy="830997"/>
          </a:xfrm>
          <a:prstGeom prst="rect">
            <a:avLst/>
          </a:prstGeom>
          <a:noFill/>
        </p:spPr>
        <p:txBody>
          <a:bodyPr wrap="none" rtlCol="0">
            <a:spAutoFit/>
          </a:bodyPr>
          <a:lstStyle/>
          <a:p>
            <a:pPr algn="ctr"/>
            <a:r>
              <a:rPr lang="sv-SE" sz="4800" noProof="0" dirty="0">
                <a:solidFill>
                  <a:schemeClr val="bg1"/>
                </a:solidFill>
              </a:rPr>
              <a:t>Det viktigaste att ta med sig</a:t>
            </a:r>
          </a:p>
        </p:txBody>
      </p:sp>
      <p:sp>
        <p:nvSpPr>
          <p:cNvPr id="3" name="textruta 2">
            <a:extLst>
              <a:ext uri="{FF2B5EF4-FFF2-40B4-BE49-F238E27FC236}">
                <a16:creationId xmlns:a16="http://schemas.microsoft.com/office/drawing/2014/main" id="{20E0A5DE-1336-7E5E-F8F7-D891E3F0019E}"/>
              </a:ext>
            </a:extLst>
          </p:cNvPr>
          <p:cNvSpPr txBox="1"/>
          <p:nvPr/>
        </p:nvSpPr>
        <p:spPr>
          <a:xfrm>
            <a:off x="1354032" y="2344650"/>
            <a:ext cx="8604984" cy="2615524"/>
          </a:xfrm>
          <a:prstGeom prst="rect">
            <a:avLst/>
          </a:prstGeom>
          <a:noFill/>
        </p:spPr>
        <p:txBody>
          <a:bodyPr wrap="none" rtlCol="0">
            <a:spAutoFit/>
          </a:bodyPr>
          <a:lstStyle/>
          <a:p>
            <a:pPr marL="571500" indent="-571500">
              <a:lnSpc>
                <a:spcPct val="150000"/>
              </a:lnSpc>
              <a:buFont typeface="Arial" panose="020B0604020202020204" pitchFamily="34" charset="0"/>
              <a:buChar char="•"/>
            </a:pPr>
            <a:r>
              <a:rPr lang="en-US" sz="2800" noProof="0" dirty="0">
                <a:solidFill>
                  <a:schemeClr val="bg1"/>
                </a:solidFill>
              </a:rPr>
              <a:t>Deep learning </a:t>
            </a:r>
            <a:r>
              <a:rPr lang="en-US" sz="2800" noProof="0" dirty="0" err="1">
                <a:solidFill>
                  <a:schemeClr val="bg1"/>
                </a:solidFill>
              </a:rPr>
              <a:t>är</a:t>
            </a:r>
            <a:r>
              <a:rPr lang="en-US" sz="2800" noProof="0" dirty="0">
                <a:solidFill>
                  <a:schemeClr val="bg1"/>
                </a:solidFill>
              </a:rPr>
              <a:t> </a:t>
            </a:r>
            <a:r>
              <a:rPr lang="en-US" sz="2800" noProof="0" dirty="0" err="1">
                <a:solidFill>
                  <a:schemeClr val="bg1"/>
                </a:solidFill>
              </a:rPr>
              <a:t>en</a:t>
            </a:r>
            <a:r>
              <a:rPr lang="en-US" sz="2800" noProof="0" dirty="0">
                <a:solidFill>
                  <a:schemeClr val="bg1"/>
                </a:solidFill>
              </a:rPr>
              <a:t> del av machine learning</a:t>
            </a:r>
          </a:p>
          <a:p>
            <a:pPr marL="571500" indent="-571500">
              <a:lnSpc>
                <a:spcPct val="150000"/>
              </a:lnSpc>
              <a:buFont typeface="Arial" panose="020B0604020202020204" pitchFamily="34" charset="0"/>
              <a:buChar char="•"/>
            </a:pPr>
            <a:r>
              <a:rPr lang="en-US" sz="2800" dirty="0" err="1">
                <a:solidFill>
                  <a:schemeClr val="bg1"/>
                </a:solidFill>
              </a:rPr>
              <a:t>Neurala</a:t>
            </a:r>
            <a:r>
              <a:rPr lang="en-US" sz="2800" dirty="0">
                <a:solidFill>
                  <a:schemeClr val="bg1"/>
                </a:solidFill>
              </a:rPr>
              <a:t> </a:t>
            </a:r>
            <a:r>
              <a:rPr lang="en-US" sz="2800" dirty="0" err="1">
                <a:solidFill>
                  <a:schemeClr val="bg1"/>
                </a:solidFill>
              </a:rPr>
              <a:t>nätverk</a:t>
            </a:r>
            <a:r>
              <a:rPr lang="en-US" sz="2800" dirty="0">
                <a:solidFill>
                  <a:schemeClr val="bg1"/>
                </a:solidFill>
              </a:rPr>
              <a:t> </a:t>
            </a:r>
            <a:r>
              <a:rPr lang="en-US" sz="2800" dirty="0" err="1">
                <a:solidFill>
                  <a:schemeClr val="bg1"/>
                </a:solidFill>
              </a:rPr>
              <a:t>lär</a:t>
            </a:r>
            <a:r>
              <a:rPr lang="en-US" sz="2800" dirty="0">
                <a:solidFill>
                  <a:schemeClr val="bg1"/>
                </a:solidFill>
              </a:rPr>
              <a:t> sig </a:t>
            </a:r>
            <a:r>
              <a:rPr lang="en-US" sz="2800" dirty="0" err="1">
                <a:solidFill>
                  <a:schemeClr val="bg1"/>
                </a:solidFill>
              </a:rPr>
              <a:t>representationer</a:t>
            </a:r>
            <a:r>
              <a:rPr lang="en-US" sz="2800" dirty="0">
                <a:solidFill>
                  <a:schemeClr val="bg1"/>
                </a:solidFill>
              </a:rPr>
              <a:t> </a:t>
            </a:r>
            <a:r>
              <a:rPr lang="en-US" sz="2800" dirty="0" err="1">
                <a:solidFill>
                  <a:schemeClr val="bg1"/>
                </a:solidFill>
              </a:rPr>
              <a:t>i</a:t>
            </a:r>
            <a:r>
              <a:rPr lang="en-US" sz="2800" dirty="0">
                <a:solidFill>
                  <a:schemeClr val="bg1"/>
                </a:solidFill>
              </a:rPr>
              <a:t> </a:t>
            </a:r>
            <a:r>
              <a:rPr lang="en-US" sz="2800" dirty="0" err="1">
                <a:solidFill>
                  <a:schemeClr val="bg1"/>
                </a:solidFill>
              </a:rPr>
              <a:t>flera</a:t>
            </a:r>
            <a:r>
              <a:rPr lang="en-US" sz="2800" dirty="0">
                <a:solidFill>
                  <a:schemeClr val="bg1"/>
                </a:solidFill>
              </a:rPr>
              <a:t> lager</a:t>
            </a:r>
          </a:p>
          <a:p>
            <a:pPr marL="571500" indent="-571500">
              <a:lnSpc>
                <a:spcPct val="150000"/>
              </a:lnSpc>
              <a:buFont typeface="Arial" panose="020B0604020202020204" pitchFamily="34" charset="0"/>
              <a:buChar char="•"/>
            </a:pPr>
            <a:r>
              <a:rPr lang="en-US" sz="2800" noProof="0" dirty="0" err="1">
                <a:solidFill>
                  <a:schemeClr val="bg1"/>
                </a:solidFill>
              </a:rPr>
              <a:t>Starkt</a:t>
            </a:r>
            <a:r>
              <a:rPr lang="en-US" sz="2800" noProof="0" dirty="0">
                <a:solidFill>
                  <a:schemeClr val="bg1"/>
                </a:solidFill>
              </a:rPr>
              <a:t> för </a:t>
            </a:r>
            <a:r>
              <a:rPr lang="en-US" sz="2800" noProof="0" dirty="0" err="1">
                <a:solidFill>
                  <a:schemeClr val="bg1"/>
                </a:solidFill>
              </a:rPr>
              <a:t>komplex</a:t>
            </a:r>
            <a:r>
              <a:rPr lang="en-US" sz="2800" noProof="0" dirty="0">
                <a:solidFill>
                  <a:schemeClr val="bg1"/>
                </a:solidFill>
              </a:rPr>
              <a:t> data</a:t>
            </a:r>
          </a:p>
          <a:p>
            <a:pPr marL="571500" indent="-571500">
              <a:lnSpc>
                <a:spcPct val="150000"/>
              </a:lnSpc>
              <a:buFont typeface="Arial" panose="020B0604020202020204" pitchFamily="34" charset="0"/>
              <a:buChar char="•"/>
            </a:pPr>
            <a:r>
              <a:rPr lang="en-US" sz="2800" dirty="0">
                <a:solidFill>
                  <a:schemeClr val="bg1"/>
                </a:solidFill>
              </a:rPr>
              <a:t>Inte </a:t>
            </a:r>
            <a:r>
              <a:rPr lang="en-US" sz="2800" dirty="0" err="1">
                <a:solidFill>
                  <a:schemeClr val="bg1"/>
                </a:solidFill>
              </a:rPr>
              <a:t>alltid</a:t>
            </a:r>
            <a:r>
              <a:rPr lang="en-US" sz="2800" dirty="0">
                <a:solidFill>
                  <a:schemeClr val="bg1"/>
                </a:solidFill>
              </a:rPr>
              <a:t> </a:t>
            </a:r>
            <a:r>
              <a:rPr lang="en-US" sz="2800" dirty="0" err="1">
                <a:solidFill>
                  <a:schemeClr val="bg1"/>
                </a:solidFill>
              </a:rPr>
              <a:t>bästa</a:t>
            </a:r>
            <a:r>
              <a:rPr lang="en-US" sz="2800" dirty="0">
                <a:solidFill>
                  <a:schemeClr val="bg1"/>
                </a:solidFill>
              </a:rPr>
              <a:t> valet</a:t>
            </a:r>
            <a:endParaRPr lang="sv-SE" sz="2800" noProof="0" dirty="0">
              <a:solidFill>
                <a:schemeClr val="bg1"/>
              </a:solidFill>
            </a:endParaRPr>
          </a:p>
        </p:txBody>
      </p:sp>
    </p:spTree>
    <p:extLst>
      <p:ext uri="{BB962C8B-B14F-4D97-AF65-F5344CB8AC3E}">
        <p14:creationId xmlns:p14="http://schemas.microsoft.com/office/powerpoint/2010/main" val="33296969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F430-388F-3166-538D-778440B23041}"/>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E924C65F-4294-5E15-AC57-1A020C4E0B4C}"/>
              </a:ext>
            </a:extLst>
          </p:cNvPr>
          <p:cNvSpPr txBox="1"/>
          <p:nvPr/>
        </p:nvSpPr>
        <p:spPr>
          <a:xfrm>
            <a:off x="947154" y="2367171"/>
            <a:ext cx="8433591" cy="2123658"/>
          </a:xfrm>
          <a:prstGeom prst="rect">
            <a:avLst/>
          </a:prstGeom>
          <a:noFill/>
        </p:spPr>
        <p:txBody>
          <a:bodyPr wrap="none" rtlCol="0">
            <a:spAutoFit/>
          </a:bodyPr>
          <a:lstStyle/>
          <a:p>
            <a:r>
              <a:rPr lang="en-US" sz="6600" dirty="0" err="1">
                <a:solidFill>
                  <a:schemeClr val="bg1"/>
                </a:solidFill>
              </a:rPr>
              <a:t>Från</a:t>
            </a:r>
            <a:r>
              <a:rPr lang="en-US" sz="6600" dirty="0">
                <a:solidFill>
                  <a:schemeClr val="bg1"/>
                </a:solidFill>
              </a:rPr>
              <a:t> Machine Learning</a:t>
            </a:r>
          </a:p>
          <a:p>
            <a:r>
              <a:rPr lang="en-US" sz="6600" dirty="0">
                <a:solidFill>
                  <a:schemeClr val="bg1"/>
                </a:solidFill>
              </a:rPr>
              <a:t>till Deep Learning</a:t>
            </a:r>
            <a:endParaRPr lang="en-SE" sz="6600" dirty="0">
              <a:solidFill>
                <a:schemeClr val="bg1"/>
              </a:solidFill>
            </a:endParaRPr>
          </a:p>
        </p:txBody>
      </p:sp>
      <p:sp>
        <p:nvSpPr>
          <p:cNvPr id="3" name="textruta 2">
            <a:extLst>
              <a:ext uri="{FF2B5EF4-FFF2-40B4-BE49-F238E27FC236}">
                <a16:creationId xmlns:a16="http://schemas.microsoft.com/office/drawing/2014/main" id="{C3A279E9-9DFB-5B60-401D-E48D3F059641}"/>
              </a:ext>
            </a:extLst>
          </p:cNvPr>
          <p:cNvSpPr txBox="1"/>
          <p:nvPr/>
        </p:nvSpPr>
        <p:spPr>
          <a:xfrm>
            <a:off x="947154" y="5461923"/>
            <a:ext cx="2193229" cy="676532"/>
          </a:xfrm>
          <a:prstGeom prst="rect">
            <a:avLst/>
          </a:prstGeom>
          <a:noFill/>
        </p:spPr>
        <p:txBody>
          <a:bodyPr wrap="none" rtlCol="0">
            <a:spAutoFit/>
          </a:bodyPr>
          <a:lstStyle/>
          <a:p>
            <a:pPr>
              <a:lnSpc>
                <a:spcPct val="150000"/>
              </a:lnSpc>
            </a:pPr>
            <a:r>
              <a:rPr lang="en-GB" sz="2800" dirty="0">
                <a:solidFill>
                  <a:schemeClr val="bg1"/>
                </a:solidFill>
              </a:rPr>
              <a:t>Joakim Lindh</a:t>
            </a:r>
          </a:p>
        </p:txBody>
      </p:sp>
    </p:spTree>
    <p:extLst>
      <p:ext uri="{BB962C8B-B14F-4D97-AF65-F5344CB8AC3E}">
        <p14:creationId xmlns:p14="http://schemas.microsoft.com/office/powerpoint/2010/main" val="19879297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2042</TotalTime>
  <Words>2234</Words>
  <Application>Microsoft Office PowerPoint</Application>
  <PresentationFormat>Bredbild</PresentationFormat>
  <Paragraphs>148</Paragraphs>
  <Slides>14</Slides>
  <Notes>14</Notes>
  <HiddenSlides>0</HiddenSlides>
  <MMClips>0</MMClips>
  <ScaleCrop>false</ScaleCrop>
  <HeadingPairs>
    <vt:vector size="6" baseType="variant">
      <vt:variant>
        <vt:lpstr>Använt teckensnitt</vt:lpstr>
      </vt:variant>
      <vt:variant>
        <vt:i4>3</vt:i4>
      </vt:variant>
      <vt:variant>
        <vt:lpstr>Tema</vt:lpstr>
      </vt:variant>
      <vt:variant>
        <vt:i4>1</vt:i4>
      </vt:variant>
      <vt:variant>
        <vt:lpstr>Bildrubriker</vt:lpstr>
      </vt:variant>
      <vt:variant>
        <vt:i4>14</vt:i4>
      </vt:variant>
    </vt:vector>
  </HeadingPairs>
  <TitlesOfParts>
    <vt:vector size="18" baseType="lpstr">
      <vt:lpstr>Aptos</vt:lpstr>
      <vt:lpstr>Aptos Display</vt:lpstr>
      <vt:lpstr>Arial</vt:lpstr>
      <vt:lpstr>Office-tema</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Joakim Lindh</dc:creator>
  <cp:lastModifiedBy>Joakim Lindh</cp:lastModifiedBy>
  <cp:revision>16</cp:revision>
  <dcterms:created xsi:type="dcterms:W3CDTF">2025-12-15T13:03:29Z</dcterms:created>
  <dcterms:modified xsi:type="dcterms:W3CDTF">2026-04-11T16:39:24Z</dcterms:modified>
</cp:coreProperties>
</file>